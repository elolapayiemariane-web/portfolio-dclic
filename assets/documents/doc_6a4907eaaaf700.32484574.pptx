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 presenter le sujet du projet TTS, le type de filtre impose au groupe (RII, approximation de Chebyshev type I), et l'application retenue : le filtrage de la bande vocale telephonique.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le cahier des charges general, le type de filtre impose (RII/Chebyshev I), et pourquoi le choix s'est porte sur un passe-bande applique a la voix telephonique. Le schema de droite illustre la bande conservee (300-3400 Hz) par rapport au spectre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Detailler chaque parametre du gabarit. Insister sur le role de la bande de garde (transition) entre bande passante et bande attenuee, necessaire car un filtre reel ne peut pas avoir une coupure parfaitement abrupte.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Derouler les 4 grandes etapes de la methode bilineaire pour un filtre Chebyshev I : pre-distorsion, transformation passe-bande/passe-bas, calcul de l'ordre, puis synthese et numerisation. Chaque etape sera detaillee avec les valeurs numeriques dans le compte rendu.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Synthese chiffree avant de montrer les courbes : ordre 5 pour le prototype, doublement a 10 pour le filtre passe-bande final, implementation recommandee en 5 cellules biquadratiques, stabilite confirmee par le module des poles inferieur 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que la courbe respecte bien le gabarit impose des deux cotes (passante et attenuee), puis commenter le plan des poles/zeros : poles proches du cercle unite dans la bande (caracteristique du Chebyshev), tous a l'interieur =&gt; stabilite garantie.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forme directe d'ordre 10 est numeriquement sensible (forte dynamique des coefficients). On prefere donc une cascade de 5 cellules du second ordre (structure SOS), chacune implementee independamment puis chainee.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que le filtrage zero-phase elimine le ronflement 60 Hz et le sifflement 4500 Hz tout en preservant la tonalite utile a 1000 Hz. Le SNR mesure par rapport a la composante utile passe de 1.48 dB a 10.61 dB, soit un gain de 9.1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Preciser que ce signal vocal est synthetique (pas d'enregistrement fourni), mais construit pour ressembler a un vrai signal de parole degrade par les parasites typiques d'une ligne telephonique. Le spectre apres filtrage confirme le rejet du ronflement 50 Hz et de la tonalite 4000 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en rappelant que le filtre respecte completement le gabarit et fonctionne sur des signaux bruites theoriques et un signal de type vocal. Ouvrir sur des perspectives : test sur un vrai enregistrement, comparaison avec Butterworth/Chebyshev II, implementation temps reel.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Cloturer la presentation et ouvrir la session de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5577840" y="640080"/>
            <a:ext cx="1005840" cy="1005840"/>
          </a:xfrm>
          <a:prstGeom prst="ellipse">
            <a:avLst/>
          </a:prstGeom>
          <a:solidFill>
            <a:srgbClr val="F2A541"/>
          </a:solidFill>
          <a:ln/>
        </p:spPr>
      </p:sp>
      <p:pic>
        <p:nvPicPr>
          <p:cNvPr id="3" name="Image 0" descr="preencoded.png">    </p:cNvPr>
          <p:cNvPicPr>
            <a:picLocks noChangeAspect="1"/>
          </p:cNvPicPr>
          <p:nvPr/>
        </p:nvPicPr>
        <p:blipFill>
          <a:blip r:embed="rId1"/>
          <a:stretch>
            <a:fillRect/>
          </a:stretch>
        </p:blipFill>
        <p:spPr>
          <a:xfrm>
            <a:off x="5849417" y="911657"/>
            <a:ext cx="462686" cy="462686"/>
          </a:xfrm>
          <a:prstGeom prst="rect">
            <a:avLst/>
          </a:prstGeom>
        </p:spPr>
      </p:pic>
      <p:sp>
        <p:nvSpPr>
          <p:cNvPr id="4" name="Text 1"/>
          <p:cNvSpPr/>
          <p:nvPr/>
        </p:nvSpPr>
        <p:spPr>
          <a:xfrm>
            <a:off x="0" y="1965960"/>
            <a:ext cx="12161520" cy="457200"/>
          </a:xfrm>
          <a:prstGeom prst="rect">
            <a:avLst/>
          </a:prstGeom>
          <a:noFill/>
          <a:ln/>
        </p:spPr>
        <p:txBody>
          <a:bodyPr wrap="square" rtlCol="0" anchor="ctr"/>
          <a:lstStyle/>
          <a:p>
            <a:pPr algn="ctr" indent="0" marL="0">
              <a:buNone/>
            </a:pPr>
            <a:r>
              <a:rPr lang="en-US" sz="1600" b="1" spc="400" kern="0" dirty="0">
                <a:solidFill>
                  <a:srgbClr val="F2A541"/>
                </a:solidFill>
                <a:latin typeface="Calibri" pitchFamily="34" charset="0"/>
                <a:ea typeface="Calibri" pitchFamily="34" charset="-122"/>
                <a:cs typeface="Calibri" pitchFamily="34" charset="-120"/>
              </a:rPr>
              <a:t>PROJET TTS</a:t>
            </a:r>
            <a:endParaRPr lang="en-US" sz="1600" dirty="0"/>
          </a:p>
        </p:txBody>
      </p:sp>
      <p:sp>
        <p:nvSpPr>
          <p:cNvPr id="5" name="Text 2"/>
          <p:cNvSpPr/>
          <p:nvPr/>
        </p:nvSpPr>
        <p:spPr>
          <a:xfrm>
            <a:off x="731520" y="2423160"/>
            <a:ext cx="10698480" cy="100584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Conception de filtre numerique</a:t>
            </a:r>
            <a:endParaRPr lang="en-US" sz="4000" dirty="0"/>
          </a:p>
        </p:txBody>
      </p:sp>
      <p:sp>
        <p:nvSpPr>
          <p:cNvPr id="6" name="Text 3"/>
          <p:cNvSpPr/>
          <p:nvPr/>
        </p:nvSpPr>
        <p:spPr>
          <a:xfrm>
            <a:off x="731520" y="3429000"/>
            <a:ext cx="10698480" cy="502920"/>
          </a:xfrm>
          <a:prstGeom prst="rect">
            <a:avLst/>
          </a:prstGeom>
          <a:noFill/>
          <a:ln/>
        </p:spPr>
        <p:txBody>
          <a:bodyPr wrap="square" rtlCol="0" anchor="ctr"/>
          <a:lstStyle/>
          <a:p>
            <a:pPr algn="ctr" indent="0" marL="0">
              <a:buNone/>
            </a:pPr>
            <a:r>
              <a:rPr lang="en-US" sz="1800" dirty="0">
                <a:solidFill>
                  <a:srgbClr val="C9DCE8"/>
                </a:solidFill>
                <a:latin typeface="Calibri" pitchFamily="34" charset="0"/>
                <a:ea typeface="Calibri" pitchFamily="34" charset="-122"/>
                <a:cs typeface="Calibri" pitchFamily="34" charset="-120"/>
              </a:rPr>
              <a:t>Filtre passe-bande RII (IIR)  -  Methode Chebyshev de type I</a:t>
            </a:r>
            <a:endParaRPr lang="en-US" sz="1800" dirty="0"/>
          </a:p>
        </p:txBody>
      </p:sp>
      <p:sp>
        <p:nvSpPr>
          <p:cNvPr id="7" name="Text 4"/>
          <p:cNvSpPr/>
          <p:nvPr/>
        </p:nvSpPr>
        <p:spPr>
          <a:xfrm>
            <a:off x="731520" y="3886200"/>
            <a:ext cx="10698480" cy="457200"/>
          </a:xfrm>
          <a:prstGeom prst="rect">
            <a:avLst/>
          </a:prstGeom>
          <a:noFill/>
          <a:ln/>
        </p:spPr>
        <p:txBody>
          <a:bodyPr wrap="square" rtlCol="0" anchor="ctr"/>
          <a:lstStyle/>
          <a:p>
            <a:pPr algn="ctr" indent="0" marL="0">
              <a:buNone/>
            </a:pPr>
            <a:r>
              <a:rPr lang="en-US" sz="1350" i="1" dirty="0">
                <a:solidFill>
                  <a:srgbClr val="8FAFC2"/>
                </a:solidFill>
                <a:latin typeface="Calibri" pitchFamily="34" charset="0"/>
                <a:ea typeface="Calibri" pitchFamily="34" charset="-122"/>
                <a:cs typeface="Calibri" pitchFamily="34" charset="-120"/>
              </a:rPr>
              <a:t>Application : bande vocale telephonique (300 - 3400 Hz, Fe = 8000 Hz)</a:t>
            </a:r>
            <a:endParaRPr lang="en-US" sz="1350" dirty="0"/>
          </a:p>
        </p:txBody>
      </p:sp>
      <p:sp>
        <p:nvSpPr>
          <p:cNvPr id="8" name="Shape 5"/>
          <p:cNvSpPr/>
          <p:nvPr/>
        </p:nvSpPr>
        <p:spPr>
          <a:xfrm>
            <a:off x="4983480" y="4709160"/>
            <a:ext cx="2194560" cy="0"/>
          </a:xfrm>
          <a:prstGeom prst="line">
            <a:avLst/>
          </a:prstGeom>
          <a:noFill/>
          <a:ln w="19050">
            <a:solidFill>
              <a:srgbClr val="1C7293"/>
            </a:solidFill>
            <a:prstDash val="solid"/>
          </a:ln>
        </p:spPr>
      </p:sp>
      <p:sp>
        <p:nvSpPr>
          <p:cNvPr id="9" name="Text 6"/>
          <p:cNvSpPr/>
          <p:nvPr/>
        </p:nvSpPr>
        <p:spPr>
          <a:xfrm>
            <a:off x="0" y="4983480"/>
            <a:ext cx="12161520" cy="36576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Mariane  |  INGC1 - Ingenierie de Conception des Telecommunications</a:t>
            </a:r>
            <a:endParaRPr lang="en-US" sz="1300" dirty="0"/>
          </a:p>
        </p:txBody>
      </p:sp>
      <p:sp>
        <p:nvSpPr>
          <p:cNvPr id="10" name="Text 7"/>
          <p:cNvSpPr/>
          <p:nvPr/>
        </p:nvSpPr>
        <p:spPr>
          <a:xfrm>
            <a:off x="0" y="5349240"/>
            <a:ext cx="12161520" cy="365760"/>
          </a:xfrm>
          <a:prstGeom prst="rect">
            <a:avLst/>
          </a:prstGeom>
          <a:noFill/>
          <a:ln/>
        </p:spPr>
        <p:txBody>
          <a:bodyPr wrap="square" rtlCol="0" anchor="ctr"/>
          <a:lstStyle/>
          <a:p>
            <a:pPr algn="ctr" indent="0" marL="0">
              <a:buNone/>
            </a:pPr>
            <a:r>
              <a:rPr lang="en-US" sz="1200" dirty="0">
                <a:solidFill>
                  <a:srgbClr val="8FAFC2"/>
                </a:solidFill>
                <a:latin typeface="Calibri" pitchFamily="34" charset="0"/>
                <a:ea typeface="Calibri" pitchFamily="34" charset="-122"/>
                <a:cs typeface="Calibri" pitchFamily="34" charset="-120"/>
              </a:rPr>
              <a:t>ESMT Dakar - Annee universitaire 2025-2026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C7293"/>
          </a:solidFill>
          <a:ln/>
        </p:spPr>
      </p:sp>
      <p:pic>
        <p:nvPicPr>
          <p:cNvPr id="3" name="Image 0" descr="preencoded.png">    </p:cNvPr>
          <p:cNvPicPr>
            <a:picLocks noChangeAspect="1"/>
          </p:cNvPicPr>
          <p:nvPr/>
        </p:nvPicPr>
        <p:blipFill>
          <a:blip r:embed="rId1"/>
          <a:stretch>
            <a:fillRect/>
          </a:stretch>
        </p:blipFill>
        <p:spPr>
          <a:xfrm>
            <a:off x="758495" y="712775"/>
            <a:ext cx="357530" cy="357530"/>
          </a:xfrm>
          <a:prstGeom prst="rect">
            <a:avLst/>
          </a:prstGeom>
        </p:spPr>
      </p:pic>
      <p:sp>
        <p:nvSpPr>
          <p:cNvPr id="4" name="Text 1"/>
          <p:cNvSpPr/>
          <p:nvPr/>
        </p:nvSpPr>
        <p:spPr>
          <a:xfrm>
            <a:off x="1554480" y="502920"/>
            <a:ext cx="8229600" cy="77724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Objectif du projet</a:t>
            </a:r>
            <a:endParaRPr lang="en-US" sz="3000" dirty="0"/>
          </a:p>
        </p:txBody>
      </p:sp>
      <p:sp>
        <p:nvSpPr>
          <p:cNvPr id="5" name="Shape 2"/>
          <p:cNvSpPr/>
          <p:nvPr/>
        </p:nvSpPr>
        <p:spPr>
          <a:xfrm>
            <a:off x="640080" y="1737360"/>
            <a:ext cx="146304" cy="146304"/>
          </a:xfrm>
          <a:prstGeom prst="ellipse">
            <a:avLst/>
          </a:prstGeom>
          <a:solidFill>
            <a:srgbClr val="F2A541"/>
          </a:solidFill>
          <a:ln/>
        </p:spPr>
      </p:sp>
      <p:sp>
        <p:nvSpPr>
          <p:cNvPr id="6" name="Text 3"/>
          <p:cNvSpPr/>
          <p:nvPr/>
        </p:nvSpPr>
        <p:spPr>
          <a:xfrm>
            <a:off x="960120" y="1618488"/>
            <a:ext cx="4297680" cy="365760"/>
          </a:xfrm>
          <a:prstGeom prst="rect">
            <a:avLst/>
          </a:prstGeom>
          <a:noFill/>
          <a:ln/>
        </p:spPr>
        <p:txBody>
          <a:bodyPr wrap="square"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Synthese determinee</a:t>
            </a:r>
            <a:endParaRPr lang="en-US" sz="1500" dirty="0"/>
          </a:p>
        </p:txBody>
      </p:sp>
      <p:sp>
        <p:nvSpPr>
          <p:cNvPr id="7" name="Text 4"/>
          <p:cNvSpPr/>
          <p:nvPr/>
        </p:nvSpPr>
        <p:spPr>
          <a:xfrm>
            <a:off x="960120" y="1984248"/>
            <a:ext cx="4297680" cy="914400"/>
          </a:xfrm>
          <a:prstGeom prst="rect">
            <a:avLst/>
          </a:prstGeom>
          <a:noFill/>
          <a:ln/>
        </p:spPr>
        <p:txBody>
          <a:bodyPr wrap="square" rtlCol="0" anchor="t"/>
          <a:lstStyle/>
          <a:p>
            <a:pPr indent="0" marL="0">
              <a:buNone/>
            </a:pPr>
            <a:r>
              <a:rPr lang="en-US" sz="1200" dirty="0">
                <a:solidFill>
                  <a:srgbClr val="1A2B3C"/>
                </a:solidFill>
                <a:latin typeface="Calibri" pitchFamily="34" charset="0"/>
                <a:ea typeface="Calibri" pitchFamily="34" charset="-122"/>
                <a:cs typeface="Calibri" pitchFamily="34" charset="-120"/>
              </a:rPr>
              <a:t>Realiser la synthese complete d'un filtre numerique RII a partir d'une methode imposee : Chebyshev de type I.</a:t>
            </a:r>
            <a:endParaRPr lang="en-US" sz="1200" dirty="0"/>
          </a:p>
        </p:txBody>
      </p:sp>
      <p:sp>
        <p:nvSpPr>
          <p:cNvPr id="8" name="Shape 5"/>
          <p:cNvSpPr/>
          <p:nvPr/>
        </p:nvSpPr>
        <p:spPr>
          <a:xfrm>
            <a:off x="640080" y="3154680"/>
            <a:ext cx="146304" cy="146304"/>
          </a:xfrm>
          <a:prstGeom prst="ellipse">
            <a:avLst/>
          </a:prstGeom>
          <a:solidFill>
            <a:srgbClr val="F2A541"/>
          </a:solidFill>
          <a:ln/>
        </p:spPr>
      </p:sp>
      <p:sp>
        <p:nvSpPr>
          <p:cNvPr id="9" name="Text 6"/>
          <p:cNvSpPr/>
          <p:nvPr/>
        </p:nvSpPr>
        <p:spPr>
          <a:xfrm>
            <a:off x="960120" y="3035808"/>
            <a:ext cx="4297680" cy="365760"/>
          </a:xfrm>
          <a:prstGeom prst="rect">
            <a:avLst/>
          </a:prstGeom>
          <a:noFill/>
          <a:ln/>
        </p:spPr>
        <p:txBody>
          <a:bodyPr wrap="square"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Type impose au groupe</a:t>
            </a:r>
            <a:endParaRPr lang="en-US" sz="1500" dirty="0"/>
          </a:p>
        </p:txBody>
      </p:sp>
      <p:sp>
        <p:nvSpPr>
          <p:cNvPr id="10" name="Text 7"/>
          <p:cNvSpPr/>
          <p:nvPr/>
        </p:nvSpPr>
        <p:spPr>
          <a:xfrm>
            <a:off x="960120" y="3401568"/>
            <a:ext cx="4297680" cy="914400"/>
          </a:xfrm>
          <a:prstGeom prst="rect">
            <a:avLst/>
          </a:prstGeom>
          <a:noFill/>
          <a:ln/>
        </p:spPr>
        <p:txBody>
          <a:bodyPr wrap="square" rtlCol="0" anchor="t"/>
          <a:lstStyle/>
          <a:p>
            <a:pPr indent="0" marL="0">
              <a:buNone/>
            </a:pPr>
            <a:r>
              <a:rPr lang="en-US" sz="1200" dirty="0">
                <a:solidFill>
                  <a:srgbClr val="1A2B3C"/>
                </a:solidFill>
                <a:latin typeface="Calibri" pitchFamily="34" charset="0"/>
                <a:ea typeface="Calibri" pitchFamily="34" charset="-122"/>
                <a:cs typeface="Calibri" pitchFamily="34" charset="-120"/>
              </a:rPr>
              <a:t>Filtre RII (IIR), approximation de Chebyshev type I — choix du type de reponse (passe-bande) laisse au groupe.</a:t>
            </a:r>
            <a:endParaRPr lang="en-US" sz="1200" dirty="0"/>
          </a:p>
        </p:txBody>
      </p:sp>
      <p:sp>
        <p:nvSpPr>
          <p:cNvPr id="11" name="Shape 8"/>
          <p:cNvSpPr/>
          <p:nvPr/>
        </p:nvSpPr>
        <p:spPr>
          <a:xfrm>
            <a:off x="640080" y="4572000"/>
            <a:ext cx="146304" cy="146304"/>
          </a:xfrm>
          <a:prstGeom prst="ellipse">
            <a:avLst/>
          </a:prstGeom>
          <a:solidFill>
            <a:srgbClr val="F2A541"/>
          </a:solidFill>
          <a:ln/>
        </p:spPr>
      </p:sp>
      <p:sp>
        <p:nvSpPr>
          <p:cNvPr id="12" name="Text 9"/>
          <p:cNvSpPr/>
          <p:nvPr/>
        </p:nvSpPr>
        <p:spPr>
          <a:xfrm>
            <a:off x="960120" y="4453128"/>
            <a:ext cx="4297680" cy="365760"/>
          </a:xfrm>
          <a:prstGeom prst="rect">
            <a:avLst/>
          </a:prstGeom>
          <a:noFill/>
          <a:ln/>
        </p:spPr>
        <p:txBody>
          <a:bodyPr wrap="square"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Application reelle</a:t>
            </a:r>
            <a:endParaRPr lang="en-US" sz="1500" dirty="0"/>
          </a:p>
        </p:txBody>
      </p:sp>
      <p:sp>
        <p:nvSpPr>
          <p:cNvPr id="13" name="Text 10"/>
          <p:cNvSpPr/>
          <p:nvPr/>
        </p:nvSpPr>
        <p:spPr>
          <a:xfrm>
            <a:off x="960120" y="4818888"/>
            <a:ext cx="4297680" cy="914400"/>
          </a:xfrm>
          <a:prstGeom prst="rect">
            <a:avLst/>
          </a:prstGeom>
          <a:noFill/>
          <a:ln/>
        </p:spPr>
        <p:txBody>
          <a:bodyPr wrap="square" rtlCol="0" anchor="t"/>
          <a:lstStyle/>
          <a:p>
            <a:pPr indent="0" marL="0">
              <a:buNone/>
            </a:pPr>
            <a:r>
              <a:rPr lang="en-US" sz="1200" dirty="0">
                <a:solidFill>
                  <a:srgbClr val="1A2B3C"/>
                </a:solidFill>
                <a:latin typeface="Calibri" pitchFamily="34" charset="0"/>
                <a:ea typeface="Calibri" pitchFamily="34" charset="-122"/>
                <a:cs typeface="Calibri" pitchFamily="34" charset="-120"/>
              </a:rPr>
              <a:t>Filtrer la bande vocale telephonique (300-3400 Hz) et valider sur des signaux bruites theoriques et reels.</a:t>
            </a:r>
            <a:endParaRPr lang="en-US" sz="1200" dirty="0"/>
          </a:p>
        </p:txBody>
      </p:sp>
      <p:sp>
        <p:nvSpPr>
          <p:cNvPr id="14" name="Shape 11"/>
          <p:cNvSpPr/>
          <p:nvPr/>
        </p:nvSpPr>
        <p:spPr>
          <a:xfrm>
            <a:off x="5760720" y="2103120"/>
            <a:ext cx="5577840" cy="914400"/>
          </a:xfrm>
          <a:prstGeom prst="rect">
            <a:avLst/>
          </a:prstGeom>
          <a:solidFill>
            <a:srgbClr val="F2F2F2"/>
          </a:solidFill>
          <a:ln w="9525">
            <a:solidFill>
              <a:srgbClr val="CCCCCC"/>
            </a:solidFill>
            <a:prstDash val="solid"/>
          </a:ln>
        </p:spPr>
      </p:sp>
      <p:sp>
        <p:nvSpPr>
          <p:cNvPr id="15" name="Shape 12"/>
          <p:cNvSpPr/>
          <p:nvPr/>
        </p:nvSpPr>
        <p:spPr>
          <a:xfrm>
            <a:off x="6179058" y="2103120"/>
            <a:ext cx="4322826" cy="914400"/>
          </a:xfrm>
          <a:prstGeom prst="rect">
            <a:avLst/>
          </a:prstGeom>
          <a:solidFill>
            <a:srgbClr val="1C7293"/>
          </a:solidFill>
          <a:ln/>
        </p:spPr>
      </p:sp>
      <p:sp>
        <p:nvSpPr>
          <p:cNvPr id="16" name="Shape 13"/>
          <p:cNvSpPr/>
          <p:nvPr/>
        </p:nvSpPr>
        <p:spPr>
          <a:xfrm>
            <a:off x="5760720" y="2103120"/>
            <a:ext cx="209169" cy="914400"/>
          </a:xfrm>
          <a:prstGeom prst="rect">
            <a:avLst/>
          </a:prstGeom>
          <a:solidFill>
            <a:srgbClr val="C9CFD3"/>
          </a:solidFill>
          <a:ln/>
        </p:spPr>
      </p:sp>
      <p:sp>
        <p:nvSpPr>
          <p:cNvPr id="17" name="Shape 14"/>
          <p:cNvSpPr/>
          <p:nvPr/>
        </p:nvSpPr>
        <p:spPr>
          <a:xfrm>
            <a:off x="10920222" y="2103120"/>
            <a:ext cx="418338" cy="914400"/>
          </a:xfrm>
          <a:prstGeom prst="rect">
            <a:avLst/>
          </a:prstGeom>
          <a:solidFill>
            <a:srgbClr val="C9CFD3"/>
          </a:solidFill>
          <a:ln/>
        </p:spPr>
      </p:sp>
      <p:sp>
        <p:nvSpPr>
          <p:cNvPr id="18" name="Text 15"/>
          <p:cNvSpPr/>
          <p:nvPr/>
        </p:nvSpPr>
        <p:spPr>
          <a:xfrm>
            <a:off x="5715000" y="3063240"/>
            <a:ext cx="731520" cy="274320"/>
          </a:xfrm>
          <a:prstGeom prst="rect">
            <a:avLst/>
          </a:prstGeom>
          <a:noFill/>
          <a:ln/>
        </p:spPr>
        <p:txBody>
          <a:bodyPr wrap="square" rtlCol="0" anchor="ctr"/>
          <a:lstStyle/>
          <a:p>
            <a:pPr indent="0" marL="0">
              <a:buNone/>
            </a:pPr>
            <a:r>
              <a:rPr lang="en-US" sz="900" dirty="0">
                <a:solidFill>
                  <a:srgbClr val="5B6B7A"/>
                </a:solidFill>
                <a:latin typeface="Calibri" pitchFamily="34" charset="0"/>
                <a:ea typeface="Calibri" pitchFamily="34" charset="-122"/>
                <a:cs typeface="Calibri" pitchFamily="34" charset="-120"/>
              </a:rPr>
              <a:t>0 Hz</a:t>
            </a:r>
            <a:endParaRPr lang="en-US" sz="900" dirty="0"/>
          </a:p>
        </p:txBody>
      </p:sp>
      <p:sp>
        <p:nvSpPr>
          <p:cNvPr id="19" name="Text 16"/>
          <p:cNvSpPr/>
          <p:nvPr/>
        </p:nvSpPr>
        <p:spPr>
          <a:xfrm>
            <a:off x="10698480" y="3063240"/>
            <a:ext cx="82296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4000 Hz</a:t>
            </a:r>
            <a:endParaRPr lang="en-US" sz="900" dirty="0"/>
          </a:p>
        </p:txBody>
      </p:sp>
      <p:sp>
        <p:nvSpPr>
          <p:cNvPr id="20" name="Text 17"/>
          <p:cNvSpPr/>
          <p:nvPr/>
        </p:nvSpPr>
        <p:spPr>
          <a:xfrm>
            <a:off x="5904738" y="3063240"/>
            <a:ext cx="548640" cy="274320"/>
          </a:xfrm>
          <a:prstGeom prst="rect">
            <a:avLst/>
          </a:prstGeom>
          <a:noFill/>
          <a:ln/>
        </p:spPr>
        <p:txBody>
          <a:bodyPr wrap="square" rtlCol="0" anchor="ctr"/>
          <a:lstStyle/>
          <a:p>
            <a:pPr algn="ctr" indent="0" marL="0">
              <a:buNone/>
            </a:pPr>
            <a:r>
              <a:rPr lang="en-US" sz="900" dirty="0">
                <a:solidFill>
                  <a:srgbClr val="5B6B7A"/>
                </a:solidFill>
                <a:latin typeface="Calibri" pitchFamily="34" charset="0"/>
                <a:ea typeface="Calibri" pitchFamily="34" charset="-122"/>
                <a:cs typeface="Calibri" pitchFamily="34" charset="-120"/>
              </a:rPr>
              <a:t>300</a:t>
            </a:r>
            <a:endParaRPr lang="en-US" sz="900" dirty="0"/>
          </a:p>
        </p:txBody>
      </p:sp>
      <p:sp>
        <p:nvSpPr>
          <p:cNvPr id="21" name="Text 18"/>
          <p:cNvSpPr/>
          <p:nvPr/>
        </p:nvSpPr>
        <p:spPr>
          <a:xfrm>
            <a:off x="10227564" y="3063240"/>
            <a:ext cx="548640" cy="274320"/>
          </a:xfrm>
          <a:prstGeom prst="rect">
            <a:avLst/>
          </a:prstGeom>
          <a:noFill/>
          <a:ln/>
        </p:spPr>
        <p:txBody>
          <a:bodyPr wrap="square" rtlCol="0" anchor="ctr"/>
          <a:lstStyle/>
          <a:p>
            <a:pPr algn="ctr" indent="0" marL="0">
              <a:buNone/>
            </a:pPr>
            <a:r>
              <a:rPr lang="en-US" sz="900" dirty="0">
                <a:solidFill>
                  <a:srgbClr val="5B6B7A"/>
                </a:solidFill>
                <a:latin typeface="Calibri" pitchFamily="34" charset="0"/>
                <a:ea typeface="Calibri" pitchFamily="34" charset="-122"/>
                <a:cs typeface="Calibri" pitchFamily="34" charset="-120"/>
              </a:rPr>
              <a:t>3400</a:t>
            </a:r>
            <a:endParaRPr lang="en-US" sz="900" dirty="0"/>
          </a:p>
        </p:txBody>
      </p:sp>
      <p:sp>
        <p:nvSpPr>
          <p:cNvPr id="22" name="Text 19"/>
          <p:cNvSpPr/>
          <p:nvPr/>
        </p:nvSpPr>
        <p:spPr>
          <a:xfrm>
            <a:off x="6179058" y="2423160"/>
            <a:ext cx="4322826"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Bande vocale conservee</a:t>
            </a:r>
            <a:endParaRPr lang="en-US" sz="1000" dirty="0"/>
          </a:p>
        </p:txBody>
      </p:sp>
      <p:sp>
        <p:nvSpPr>
          <p:cNvPr id="23" name="Text 20"/>
          <p:cNvSpPr/>
          <p:nvPr/>
        </p:nvSpPr>
        <p:spPr>
          <a:xfrm>
            <a:off x="5760720" y="1691640"/>
            <a:ext cx="5577840" cy="320040"/>
          </a:xfrm>
          <a:prstGeom prst="rect">
            <a:avLst/>
          </a:prstGeom>
          <a:noFill/>
          <a:ln/>
        </p:spPr>
        <p:txBody>
          <a:bodyPr wrap="square"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Canal telephonique numerique (Fe = 8000 Hz)</a:t>
            </a:r>
            <a:endParaRPr lang="en-US" sz="1250" dirty="0"/>
          </a:p>
        </p:txBody>
      </p:sp>
      <p:sp>
        <p:nvSpPr>
          <p:cNvPr id="24" name="Text 21"/>
          <p:cNvSpPr/>
          <p:nvPr/>
        </p:nvSpPr>
        <p:spPr>
          <a:xfrm>
            <a:off x="5760720" y="3474720"/>
            <a:ext cx="5577840" cy="1463040"/>
          </a:xfrm>
          <a:prstGeom prst="rect">
            <a:avLst/>
          </a:prstGeom>
          <a:noFill/>
          <a:ln/>
        </p:spPr>
        <p:txBody>
          <a:bodyPr wrap="square" rtlCol="0" anchor="t"/>
          <a:lstStyle/>
          <a:p>
            <a:pPr indent="0" marL="0">
              <a:buNone/>
            </a:pPr>
            <a:r>
              <a:rPr lang="en-US" sz="1150" dirty="0">
                <a:solidFill>
                  <a:srgbClr val="1A2B3C"/>
                </a:solidFill>
                <a:latin typeface="Calibri" pitchFamily="34" charset="0"/>
                <a:ea typeface="Calibri" pitchFamily="34" charset="-122"/>
                <a:cs typeface="Calibri" pitchFamily="34" charset="-120"/>
              </a:rPr>
              <a:t>Pourquoi un passe-bande ? La voix humaine intelligible se concentre entre 300 et 3400 Hz. En telephonie numerique, on echantillonne a 8000 Hz et on isole cette bande pour rejeter les parasites basse frequence (ronflement secteur) et haute frequence.</a:t>
            </a:r>
            <a:endParaRPr lang="en-US" sz="1150" dirty="0"/>
          </a:p>
        </p:txBody>
      </p:sp>
      <p:sp>
        <p:nvSpPr>
          <p:cNvPr id="25" name="Text 22"/>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A"/>
                </a:solidFill>
                <a:latin typeface="Calibri" pitchFamily="34" charset="0"/>
                <a:ea typeface="Calibri" pitchFamily="34" charset="-122"/>
                <a:cs typeface="Calibri" pitchFamily="34" charset="-120"/>
              </a:rPr>
              <a:t>Projet TTS - Filtre passe-bande RII - Chebyshev I</a:t>
            </a:r>
            <a:endParaRPr lang="en-US" sz="900" dirty="0"/>
          </a:p>
        </p:txBody>
      </p:sp>
      <p:sp>
        <p:nvSpPr>
          <p:cNvPr id="26" name="Text 23"/>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7F1F5"/>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C7293"/>
          </a:solidFill>
          <a:ln/>
        </p:spPr>
      </p:sp>
      <p:pic>
        <p:nvPicPr>
          <p:cNvPr id="3" name="Image 0" descr="preencoded.png">    </p:cNvPr>
          <p:cNvPicPr>
            <a:picLocks noChangeAspect="1"/>
          </p:cNvPicPr>
          <p:nvPr/>
        </p:nvPicPr>
        <p:blipFill>
          <a:blip r:embed="rId1"/>
          <a:stretch>
            <a:fillRect/>
          </a:stretch>
        </p:blipFill>
        <p:spPr>
          <a:xfrm>
            <a:off x="758495" y="712775"/>
            <a:ext cx="357530" cy="357530"/>
          </a:xfrm>
          <a:prstGeom prst="rect">
            <a:avLst/>
          </a:prstGeom>
        </p:spPr>
      </p:pic>
      <p:sp>
        <p:nvSpPr>
          <p:cNvPr id="4" name="Text 1"/>
          <p:cNvSpPr/>
          <p:nvPr/>
        </p:nvSpPr>
        <p:spPr>
          <a:xfrm>
            <a:off x="1554480" y="502920"/>
            <a:ext cx="8229600" cy="77724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Le gabarit du filtre</a:t>
            </a:r>
            <a:endParaRPr lang="en-US" sz="3000" dirty="0"/>
          </a:p>
        </p:txBody>
      </p:sp>
      <p:sp>
        <p:nvSpPr>
          <p:cNvPr id="5" name="Text 2"/>
          <p:cNvSpPr/>
          <p:nvPr/>
        </p:nvSpPr>
        <p:spPr>
          <a:xfrm>
            <a:off x="548640" y="1371600"/>
            <a:ext cx="11064240" cy="457200"/>
          </a:xfrm>
          <a:prstGeom prst="rect">
            <a:avLst/>
          </a:prstGeom>
          <a:noFill/>
          <a:ln/>
        </p:spPr>
        <p:txBody>
          <a:bodyPr wrap="square" rtlCol="0" anchor="ctr"/>
          <a:lstStyle/>
          <a:p>
            <a:pPr indent="0" marL="0">
              <a:buNone/>
            </a:pPr>
            <a:r>
              <a:rPr lang="en-US" sz="1300" dirty="0">
                <a:solidFill>
                  <a:srgbClr val="1A2B3C"/>
                </a:solidFill>
                <a:latin typeface="Calibri" pitchFamily="34" charset="0"/>
                <a:ea typeface="Calibri" pitchFamily="34" charset="-122"/>
                <a:cs typeface="Calibri" pitchFamily="34" charset="-120"/>
              </a:rPr>
              <a:t>Cahier des charges defini pour representer un canal telephonique realiste, avec bandes de garde.</a:t>
            </a:r>
            <a:endParaRPr lang="en-US" sz="1300" dirty="0"/>
          </a:p>
        </p:txBody>
      </p:sp>
      <p:sp>
        <p:nvSpPr>
          <p:cNvPr id="6" name="Shape 3"/>
          <p:cNvSpPr/>
          <p:nvPr/>
        </p:nvSpPr>
        <p:spPr>
          <a:xfrm>
            <a:off x="466344" y="2331720"/>
            <a:ext cx="2084832" cy="1828800"/>
          </a:xfrm>
          <a:prstGeom prst="roundRect">
            <a:avLst>
              <a:gd name="adj" fmla="val 4000"/>
            </a:avLst>
          </a:prstGeom>
          <a:solidFill>
            <a:srgbClr val="FFFFFF"/>
          </a:solidFill>
          <a:ln/>
          <a:effectLst>
            <a:outerShdw sx="100000" sy="100000" kx="0" ky="0" algn="bl" rotWithShape="0" blurRad="88900" dist="25400" dir="5400000">
              <a:srgbClr val="000000">
                <a:alpha val="12000"/>
              </a:srgbClr>
            </a:outerShdw>
          </a:effectLst>
        </p:spPr>
      </p:sp>
      <p:sp>
        <p:nvSpPr>
          <p:cNvPr id="7" name="Text 4"/>
          <p:cNvSpPr/>
          <p:nvPr/>
        </p:nvSpPr>
        <p:spPr>
          <a:xfrm>
            <a:off x="466344" y="2651760"/>
            <a:ext cx="2084832" cy="685800"/>
          </a:xfrm>
          <a:prstGeom prst="rect">
            <a:avLst/>
          </a:prstGeom>
          <a:noFill/>
          <a:ln/>
        </p:spPr>
        <p:txBody>
          <a:bodyPr wrap="square" rtlCol="0" anchor="ctr"/>
          <a:lstStyle/>
          <a:p>
            <a:pPr algn="ctr" indent="0" marL="0">
              <a:buNone/>
            </a:pPr>
            <a:r>
              <a:rPr lang="en-US" sz="1800" b="1" dirty="0">
                <a:solidFill>
                  <a:srgbClr val="0B2545"/>
                </a:solidFill>
                <a:latin typeface="Cambria" pitchFamily="34" charset="0"/>
                <a:ea typeface="Cambria" pitchFamily="34" charset="-122"/>
                <a:cs typeface="Cambria" pitchFamily="34" charset="-120"/>
              </a:rPr>
              <a:t>8000 Hz</a:t>
            </a:r>
            <a:endParaRPr lang="en-US" sz="1800" dirty="0"/>
          </a:p>
        </p:txBody>
      </p:sp>
      <p:sp>
        <p:nvSpPr>
          <p:cNvPr id="8" name="Text 5"/>
          <p:cNvSpPr/>
          <p:nvPr/>
        </p:nvSpPr>
        <p:spPr>
          <a:xfrm>
            <a:off x="603504" y="3429000"/>
            <a:ext cx="1810512" cy="594360"/>
          </a:xfrm>
          <a:prstGeom prst="rect">
            <a:avLst/>
          </a:prstGeom>
          <a:noFill/>
          <a:ln/>
        </p:spPr>
        <p:txBody>
          <a:bodyPr wrap="square" rtlCol="0" anchor="t"/>
          <a:lstStyle/>
          <a:p>
            <a:pPr algn="ctr" indent="0" marL="0">
              <a:buNone/>
            </a:pPr>
            <a:r>
              <a:rPr lang="en-US" sz="1050" dirty="0">
                <a:solidFill>
                  <a:srgbClr val="5B6B7A"/>
                </a:solidFill>
                <a:latin typeface="Calibri" pitchFamily="34" charset="0"/>
                <a:ea typeface="Calibri" pitchFamily="34" charset="-122"/>
                <a:cs typeface="Calibri" pitchFamily="34" charset="-120"/>
              </a:rPr>
              <a:t>Frequence d'echantillonnage (Fe)</a:t>
            </a:r>
            <a:endParaRPr lang="en-US" sz="1050" dirty="0"/>
          </a:p>
        </p:txBody>
      </p:sp>
      <p:sp>
        <p:nvSpPr>
          <p:cNvPr id="9" name="Shape 6"/>
          <p:cNvSpPr/>
          <p:nvPr/>
        </p:nvSpPr>
        <p:spPr>
          <a:xfrm>
            <a:off x="2752344" y="2331720"/>
            <a:ext cx="2084832" cy="1828800"/>
          </a:xfrm>
          <a:prstGeom prst="roundRect">
            <a:avLst>
              <a:gd name="adj" fmla="val 4000"/>
            </a:avLst>
          </a:prstGeom>
          <a:solidFill>
            <a:srgbClr val="FFFFFF"/>
          </a:solidFill>
          <a:ln/>
          <a:effectLst>
            <a:outerShdw sx="100000" sy="100000" kx="0" ky="0" algn="bl" rotWithShape="0" blurRad="88900" dist="25400" dir="5400000">
              <a:srgbClr val="000000">
                <a:alpha val="12000"/>
              </a:srgbClr>
            </a:outerShdw>
          </a:effectLst>
        </p:spPr>
      </p:sp>
      <p:sp>
        <p:nvSpPr>
          <p:cNvPr id="10" name="Text 7"/>
          <p:cNvSpPr/>
          <p:nvPr/>
        </p:nvSpPr>
        <p:spPr>
          <a:xfrm>
            <a:off x="2752344" y="2651760"/>
            <a:ext cx="2084832" cy="685800"/>
          </a:xfrm>
          <a:prstGeom prst="rect">
            <a:avLst/>
          </a:prstGeom>
          <a:noFill/>
          <a:ln/>
        </p:spPr>
        <p:txBody>
          <a:bodyPr wrap="square" rtlCol="0" anchor="ctr"/>
          <a:lstStyle/>
          <a:p>
            <a:pPr algn="ctr" indent="0" marL="0">
              <a:buNone/>
            </a:pPr>
            <a:r>
              <a:rPr lang="en-US" sz="2000" b="1" dirty="0">
                <a:solidFill>
                  <a:srgbClr val="F2A541"/>
                </a:solidFill>
                <a:latin typeface="Cambria" pitchFamily="34" charset="0"/>
                <a:ea typeface="Cambria" pitchFamily="34" charset="-122"/>
                <a:cs typeface="Cambria" pitchFamily="34" charset="-120"/>
              </a:rPr>
              <a:t>300 - 3400 Hz</a:t>
            </a:r>
            <a:endParaRPr lang="en-US" sz="2000" dirty="0"/>
          </a:p>
        </p:txBody>
      </p:sp>
      <p:sp>
        <p:nvSpPr>
          <p:cNvPr id="11" name="Text 8"/>
          <p:cNvSpPr/>
          <p:nvPr/>
        </p:nvSpPr>
        <p:spPr>
          <a:xfrm>
            <a:off x="2889504" y="3429000"/>
            <a:ext cx="1810512" cy="594360"/>
          </a:xfrm>
          <a:prstGeom prst="rect">
            <a:avLst/>
          </a:prstGeom>
          <a:noFill/>
          <a:ln/>
        </p:spPr>
        <p:txBody>
          <a:bodyPr wrap="square" rtlCol="0" anchor="t"/>
          <a:lstStyle/>
          <a:p>
            <a:pPr algn="ctr" indent="0" marL="0">
              <a:buNone/>
            </a:pPr>
            <a:r>
              <a:rPr lang="en-US" sz="1050" dirty="0">
                <a:solidFill>
                  <a:srgbClr val="5B6B7A"/>
                </a:solidFill>
                <a:latin typeface="Calibri" pitchFamily="34" charset="0"/>
                <a:ea typeface="Calibri" pitchFamily="34" charset="-122"/>
                <a:cs typeface="Calibri" pitchFamily="34" charset="-120"/>
              </a:rPr>
              <a:t>Bande passante (fp1 - fp2)</a:t>
            </a:r>
            <a:endParaRPr lang="en-US" sz="1050" dirty="0"/>
          </a:p>
        </p:txBody>
      </p:sp>
      <p:sp>
        <p:nvSpPr>
          <p:cNvPr id="12" name="Shape 9"/>
          <p:cNvSpPr/>
          <p:nvPr/>
        </p:nvSpPr>
        <p:spPr>
          <a:xfrm>
            <a:off x="5038344" y="2331720"/>
            <a:ext cx="2084832" cy="1828800"/>
          </a:xfrm>
          <a:prstGeom prst="roundRect">
            <a:avLst>
              <a:gd name="adj" fmla="val 4000"/>
            </a:avLst>
          </a:prstGeom>
          <a:solidFill>
            <a:srgbClr val="FFFFFF"/>
          </a:solidFill>
          <a:ln/>
          <a:effectLst>
            <a:outerShdw sx="100000" sy="100000" kx="0" ky="0" algn="bl" rotWithShape="0" blurRad="88900" dist="25400" dir="5400000">
              <a:srgbClr val="000000">
                <a:alpha val="12000"/>
              </a:srgbClr>
            </a:outerShdw>
          </a:effectLst>
        </p:spPr>
      </p:sp>
      <p:sp>
        <p:nvSpPr>
          <p:cNvPr id="13" name="Text 10"/>
          <p:cNvSpPr/>
          <p:nvPr/>
        </p:nvSpPr>
        <p:spPr>
          <a:xfrm>
            <a:off x="5038344" y="2651760"/>
            <a:ext cx="2084832" cy="685800"/>
          </a:xfrm>
          <a:prstGeom prst="rect">
            <a:avLst/>
          </a:prstGeom>
          <a:noFill/>
          <a:ln/>
        </p:spPr>
        <p:txBody>
          <a:bodyPr wrap="square" rtlCol="0" anchor="ctr"/>
          <a:lstStyle/>
          <a:p>
            <a:pPr algn="ctr" indent="0" marL="0">
              <a:buNone/>
            </a:pPr>
            <a:r>
              <a:rPr lang="en-US" sz="2000" b="1" dirty="0">
                <a:solidFill>
                  <a:srgbClr val="0B2545"/>
                </a:solidFill>
                <a:latin typeface="Cambria" pitchFamily="34" charset="0"/>
                <a:ea typeface="Cambria" pitchFamily="34" charset="-122"/>
                <a:cs typeface="Cambria" pitchFamily="34" charset="-120"/>
              </a:rPr>
              <a:t>150 / 3700 Hz</a:t>
            </a:r>
            <a:endParaRPr lang="en-US" sz="2000" dirty="0"/>
          </a:p>
        </p:txBody>
      </p:sp>
      <p:sp>
        <p:nvSpPr>
          <p:cNvPr id="14" name="Text 11"/>
          <p:cNvSpPr/>
          <p:nvPr/>
        </p:nvSpPr>
        <p:spPr>
          <a:xfrm>
            <a:off x="5175504" y="3429000"/>
            <a:ext cx="1810512" cy="594360"/>
          </a:xfrm>
          <a:prstGeom prst="rect">
            <a:avLst/>
          </a:prstGeom>
          <a:noFill/>
          <a:ln/>
        </p:spPr>
        <p:txBody>
          <a:bodyPr wrap="square" rtlCol="0" anchor="t"/>
          <a:lstStyle/>
          <a:p>
            <a:pPr algn="ctr" indent="0" marL="0">
              <a:buNone/>
            </a:pPr>
            <a:r>
              <a:rPr lang="en-US" sz="1050" dirty="0">
                <a:solidFill>
                  <a:srgbClr val="5B6B7A"/>
                </a:solidFill>
                <a:latin typeface="Calibri" pitchFamily="34" charset="0"/>
                <a:ea typeface="Calibri" pitchFamily="34" charset="-122"/>
                <a:cs typeface="Calibri" pitchFamily="34" charset="-120"/>
              </a:rPr>
              <a:t>Limites bande attenuee (fa1 / fa2)</a:t>
            </a:r>
            <a:endParaRPr lang="en-US" sz="1050" dirty="0"/>
          </a:p>
        </p:txBody>
      </p:sp>
      <p:sp>
        <p:nvSpPr>
          <p:cNvPr id="15" name="Shape 12"/>
          <p:cNvSpPr/>
          <p:nvPr/>
        </p:nvSpPr>
        <p:spPr>
          <a:xfrm>
            <a:off x="7324344" y="2331720"/>
            <a:ext cx="2084832" cy="1828800"/>
          </a:xfrm>
          <a:prstGeom prst="roundRect">
            <a:avLst>
              <a:gd name="adj" fmla="val 4000"/>
            </a:avLst>
          </a:prstGeom>
          <a:solidFill>
            <a:srgbClr val="FFFFFF"/>
          </a:solidFill>
          <a:ln/>
          <a:effectLst>
            <a:outerShdw sx="100000" sy="100000" kx="0" ky="0" algn="bl" rotWithShape="0" blurRad="88900" dist="25400" dir="5400000">
              <a:srgbClr val="000000">
                <a:alpha val="12000"/>
              </a:srgbClr>
            </a:outerShdw>
          </a:effectLst>
        </p:spPr>
      </p:sp>
      <p:sp>
        <p:nvSpPr>
          <p:cNvPr id="16" name="Text 13"/>
          <p:cNvSpPr/>
          <p:nvPr/>
        </p:nvSpPr>
        <p:spPr>
          <a:xfrm>
            <a:off x="7324344" y="2651760"/>
            <a:ext cx="2084832" cy="685800"/>
          </a:xfrm>
          <a:prstGeom prst="rect">
            <a:avLst/>
          </a:prstGeom>
          <a:noFill/>
          <a:ln/>
        </p:spPr>
        <p:txBody>
          <a:bodyPr wrap="square" rtlCol="0" anchor="ctr"/>
          <a:lstStyle/>
          <a:p>
            <a:pPr algn="ctr" indent="0" marL="0">
              <a:buNone/>
            </a:pPr>
            <a:r>
              <a:rPr lang="en-US" sz="2000" b="1" dirty="0">
                <a:solidFill>
                  <a:srgbClr val="0B2545"/>
                </a:solidFill>
                <a:latin typeface="Cambria" pitchFamily="34" charset="0"/>
                <a:ea typeface="Cambria" pitchFamily="34" charset="-122"/>
                <a:cs typeface="Cambria" pitchFamily="34" charset="-120"/>
              </a:rPr>
              <a:t>1 dB</a:t>
            </a:r>
            <a:endParaRPr lang="en-US" sz="2000" dirty="0"/>
          </a:p>
        </p:txBody>
      </p:sp>
      <p:sp>
        <p:nvSpPr>
          <p:cNvPr id="17" name="Text 14"/>
          <p:cNvSpPr/>
          <p:nvPr/>
        </p:nvSpPr>
        <p:spPr>
          <a:xfrm>
            <a:off x="7461504" y="3429000"/>
            <a:ext cx="1810512" cy="594360"/>
          </a:xfrm>
          <a:prstGeom prst="rect">
            <a:avLst/>
          </a:prstGeom>
          <a:noFill/>
          <a:ln/>
        </p:spPr>
        <p:txBody>
          <a:bodyPr wrap="square" rtlCol="0" anchor="t"/>
          <a:lstStyle/>
          <a:p>
            <a:pPr algn="ctr" indent="0" marL="0">
              <a:buNone/>
            </a:pPr>
            <a:r>
              <a:rPr lang="en-US" sz="1050" dirty="0">
                <a:solidFill>
                  <a:srgbClr val="5B6B7A"/>
                </a:solidFill>
                <a:latin typeface="Calibri" pitchFamily="34" charset="0"/>
                <a:ea typeface="Calibri" pitchFamily="34" charset="-122"/>
                <a:cs typeface="Calibri" pitchFamily="34" charset="-120"/>
              </a:rPr>
              <a:t>Ondulation max. (Ap)</a:t>
            </a:r>
            <a:endParaRPr lang="en-US" sz="1050" dirty="0"/>
          </a:p>
        </p:txBody>
      </p:sp>
      <p:sp>
        <p:nvSpPr>
          <p:cNvPr id="18" name="Shape 15"/>
          <p:cNvSpPr/>
          <p:nvPr/>
        </p:nvSpPr>
        <p:spPr>
          <a:xfrm>
            <a:off x="9610344" y="2331720"/>
            <a:ext cx="2084832" cy="1828800"/>
          </a:xfrm>
          <a:prstGeom prst="roundRect">
            <a:avLst>
              <a:gd name="adj" fmla="val 4000"/>
            </a:avLst>
          </a:prstGeom>
          <a:solidFill>
            <a:srgbClr val="FFFFFF"/>
          </a:solidFill>
          <a:ln/>
          <a:effectLst>
            <a:outerShdw sx="100000" sy="100000" kx="0" ky="0" algn="bl" rotWithShape="0" blurRad="88900" dist="25400" dir="5400000">
              <a:srgbClr val="000000">
                <a:alpha val="12000"/>
              </a:srgbClr>
            </a:outerShdw>
          </a:effectLst>
        </p:spPr>
      </p:sp>
      <p:sp>
        <p:nvSpPr>
          <p:cNvPr id="19" name="Text 16"/>
          <p:cNvSpPr/>
          <p:nvPr/>
        </p:nvSpPr>
        <p:spPr>
          <a:xfrm>
            <a:off x="9610344" y="2651760"/>
            <a:ext cx="2084832" cy="685800"/>
          </a:xfrm>
          <a:prstGeom prst="rect">
            <a:avLst/>
          </a:prstGeom>
          <a:noFill/>
          <a:ln/>
        </p:spPr>
        <p:txBody>
          <a:bodyPr wrap="square" rtlCol="0" anchor="ctr"/>
          <a:lstStyle/>
          <a:p>
            <a:pPr algn="ctr" indent="0" marL="0">
              <a:buNone/>
            </a:pPr>
            <a:r>
              <a:rPr lang="en-US" sz="2000" b="1" dirty="0">
                <a:solidFill>
                  <a:srgbClr val="0B2545"/>
                </a:solidFill>
                <a:latin typeface="Cambria" pitchFamily="34" charset="0"/>
                <a:ea typeface="Cambria" pitchFamily="34" charset="-122"/>
                <a:cs typeface="Cambria" pitchFamily="34" charset="-120"/>
              </a:rPr>
              <a:t>40 dB</a:t>
            </a:r>
            <a:endParaRPr lang="en-US" sz="2000" dirty="0"/>
          </a:p>
        </p:txBody>
      </p:sp>
      <p:sp>
        <p:nvSpPr>
          <p:cNvPr id="20" name="Text 17"/>
          <p:cNvSpPr/>
          <p:nvPr/>
        </p:nvSpPr>
        <p:spPr>
          <a:xfrm>
            <a:off x="9747504" y="3429000"/>
            <a:ext cx="1810512" cy="594360"/>
          </a:xfrm>
          <a:prstGeom prst="rect">
            <a:avLst/>
          </a:prstGeom>
          <a:noFill/>
          <a:ln/>
        </p:spPr>
        <p:txBody>
          <a:bodyPr wrap="square" rtlCol="0" anchor="t"/>
          <a:lstStyle/>
          <a:p>
            <a:pPr algn="ctr" indent="0" marL="0">
              <a:buNone/>
            </a:pPr>
            <a:r>
              <a:rPr lang="en-US" sz="1050" dirty="0">
                <a:solidFill>
                  <a:srgbClr val="5B6B7A"/>
                </a:solidFill>
                <a:latin typeface="Calibri" pitchFamily="34" charset="0"/>
                <a:ea typeface="Calibri" pitchFamily="34" charset="-122"/>
                <a:cs typeface="Calibri" pitchFamily="34" charset="-120"/>
              </a:rPr>
              <a:t>Attenuation min. (Aa)</a:t>
            </a:r>
            <a:endParaRPr lang="en-US" sz="1050" dirty="0"/>
          </a:p>
        </p:txBody>
      </p:sp>
      <p:sp>
        <p:nvSpPr>
          <p:cNvPr id="21" name="Text 18"/>
          <p:cNvSpPr/>
          <p:nvPr/>
        </p:nvSpPr>
        <p:spPr>
          <a:xfrm>
            <a:off x="914400" y="4572000"/>
            <a:ext cx="10332720" cy="822960"/>
          </a:xfrm>
          <a:prstGeom prst="rect">
            <a:avLst/>
          </a:prstGeom>
          <a:noFill/>
          <a:ln/>
        </p:spPr>
        <p:txBody>
          <a:bodyPr wrap="square" rtlCol="0" anchor="ctr"/>
          <a:lstStyle/>
          <a:p>
            <a:pPr algn="ctr" indent="0" marL="0">
              <a:buNone/>
            </a:pPr>
            <a:r>
              <a:rPr lang="en-US" sz="1250" i="1" dirty="0">
                <a:solidFill>
                  <a:srgbClr val="1A2B3C"/>
                </a:solidFill>
                <a:latin typeface="Calibri" pitchFamily="34" charset="0"/>
                <a:ea typeface="Calibri" pitchFamily="34" charset="-122"/>
                <a:cs typeface="Calibri" pitchFamily="34" charset="-120"/>
              </a:rPr>
              <a:t>La bande de garde (150-300 Hz et 3400-3700 Hz) laisse une marge de transition pour que le filtre passe progressivement de la bande passante a la bande attenuee, sans exiger une coupure infiniment raide (physiquement irrealisable).</a:t>
            </a:r>
            <a:endParaRPr lang="en-US" sz="1250" dirty="0"/>
          </a:p>
        </p:txBody>
      </p:sp>
      <p:sp>
        <p:nvSpPr>
          <p:cNvPr id="22" name="Text 19"/>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A"/>
                </a:solidFill>
                <a:latin typeface="Calibri" pitchFamily="34" charset="0"/>
                <a:ea typeface="Calibri" pitchFamily="34" charset="-122"/>
                <a:cs typeface="Calibri" pitchFamily="34" charset="-120"/>
              </a:rPr>
              <a:t>Projet TTS - Filtre passe-bande RII - Chebyshev I</a:t>
            </a:r>
            <a:endParaRPr lang="en-US" sz="900" dirty="0"/>
          </a:p>
        </p:txBody>
      </p:sp>
      <p:sp>
        <p:nvSpPr>
          <p:cNvPr id="23" name="Text 20"/>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C7293"/>
          </a:solidFill>
          <a:ln/>
        </p:spPr>
      </p:sp>
      <p:pic>
        <p:nvPicPr>
          <p:cNvPr id="3" name="Image 0" descr="preencoded.png">    </p:cNvPr>
          <p:cNvPicPr>
            <a:picLocks noChangeAspect="1"/>
          </p:cNvPicPr>
          <p:nvPr/>
        </p:nvPicPr>
        <p:blipFill>
          <a:blip r:embed="rId1"/>
          <a:stretch>
            <a:fillRect/>
          </a:stretch>
        </p:blipFill>
        <p:spPr>
          <a:xfrm>
            <a:off x="758495" y="712775"/>
            <a:ext cx="357530" cy="357530"/>
          </a:xfrm>
          <a:prstGeom prst="rect">
            <a:avLst/>
          </a:prstGeom>
        </p:spPr>
      </p:pic>
      <p:sp>
        <p:nvSpPr>
          <p:cNvPr id="4" name="Text 1"/>
          <p:cNvSpPr/>
          <p:nvPr/>
        </p:nvSpPr>
        <p:spPr>
          <a:xfrm>
            <a:off x="1554480" y="502920"/>
            <a:ext cx="8229600" cy="77724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Methodologie de synthese</a:t>
            </a:r>
            <a:endParaRPr lang="en-US" sz="3000" dirty="0"/>
          </a:p>
        </p:txBody>
      </p:sp>
      <p:sp>
        <p:nvSpPr>
          <p:cNvPr id="5" name="Shape 2"/>
          <p:cNvSpPr/>
          <p:nvPr/>
        </p:nvSpPr>
        <p:spPr>
          <a:xfrm>
            <a:off x="548640" y="1691640"/>
            <a:ext cx="2697480" cy="4206240"/>
          </a:xfrm>
          <a:prstGeom prst="roundRect">
            <a:avLst>
              <a:gd name="adj" fmla="val 2712"/>
            </a:avLst>
          </a:prstGeom>
          <a:solidFill>
            <a:srgbClr val="E7F1F5"/>
          </a:solidFill>
          <a:ln w="9525">
            <a:solidFill>
              <a:srgbClr val="DCE6EA"/>
            </a:solidFill>
            <a:prstDash val="solid"/>
          </a:ln>
        </p:spPr>
      </p:sp>
      <p:sp>
        <p:nvSpPr>
          <p:cNvPr id="6" name="Shape 3"/>
          <p:cNvSpPr/>
          <p:nvPr/>
        </p:nvSpPr>
        <p:spPr>
          <a:xfrm>
            <a:off x="1577340" y="1965960"/>
            <a:ext cx="640080" cy="640080"/>
          </a:xfrm>
          <a:prstGeom prst="ellipse">
            <a:avLst/>
          </a:prstGeom>
          <a:solidFill>
            <a:srgbClr val="0B2545"/>
          </a:solidFill>
          <a:ln/>
        </p:spPr>
      </p:sp>
      <p:sp>
        <p:nvSpPr>
          <p:cNvPr id="7" name="Text 4"/>
          <p:cNvSpPr/>
          <p:nvPr/>
        </p:nvSpPr>
        <p:spPr>
          <a:xfrm>
            <a:off x="1577340" y="1965960"/>
            <a:ext cx="640080" cy="640080"/>
          </a:xfrm>
          <a:prstGeom prst="rect">
            <a:avLst/>
          </a:prstGeom>
          <a:noFill/>
          <a:ln/>
        </p:spPr>
        <p:txBody>
          <a:bodyPr wrap="square" rtlCol="0" anchor="ctr"/>
          <a:lstStyle/>
          <a:p>
            <a:pPr algn="ctr" indent="0" marL="0">
              <a:buNone/>
            </a:pPr>
            <a:r>
              <a:rPr lang="en-US" sz="2200" b="1" dirty="0">
                <a:solidFill>
                  <a:srgbClr val="F2A541"/>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713232" y="2834640"/>
            <a:ext cx="2368296" cy="868680"/>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Pre-distorsion bilineaire</a:t>
            </a:r>
            <a:endParaRPr lang="en-US" sz="1300" dirty="0"/>
          </a:p>
        </p:txBody>
      </p:sp>
      <p:sp>
        <p:nvSpPr>
          <p:cNvPr id="9" name="Text 6"/>
          <p:cNvSpPr/>
          <p:nvPr/>
        </p:nvSpPr>
        <p:spPr>
          <a:xfrm>
            <a:off x="731520" y="3749040"/>
            <a:ext cx="2331720" cy="1920240"/>
          </a:xfrm>
          <a:prstGeom prst="rect">
            <a:avLst/>
          </a:prstGeom>
          <a:noFill/>
          <a:ln/>
        </p:spPr>
        <p:txBody>
          <a:bodyPr wrap="square" rtlCol="0" anchor="t"/>
          <a:lstStyle/>
          <a:p>
            <a:pPr algn="l" indent="0" marL="0">
              <a:buNone/>
            </a:pPr>
            <a:r>
              <a:rPr lang="en-US" sz="1050" dirty="0">
                <a:solidFill>
                  <a:srgbClr val="1A2B3C"/>
                </a:solidFill>
                <a:latin typeface="Calibri" pitchFamily="34" charset="0"/>
                <a:ea typeface="Calibri" pitchFamily="34" charset="-122"/>
                <a:cs typeface="Calibri" pitchFamily="34" charset="-120"/>
              </a:rPr>
              <a:t>Compenser la deformation de l'axe des frequences induite par la transformee bilineaire : Omega = 2.Fe.tan(pi.f/Fe).</a:t>
            </a:r>
            <a:endParaRPr lang="en-US" sz="1050" dirty="0"/>
          </a:p>
        </p:txBody>
      </p:sp>
      <p:sp>
        <p:nvSpPr>
          <p:cNvPr id="10" name="Text 7"/>
          <p:cNvSpPr/>
          <p:nvPr/>
        </p:nvSpPr>
        <p:spPr>
          <a:xfrm>
            <a:off x="3191256" y="3593592"/>
            <a:ext cx="274320" cy="402336"/>
          </a:xfrm>
          <a:prstGeom prst="rect">
            <a:avLst/>
          </a:prstGeom>
          <a:noFill/>
          <a:ln/>
        </p:spPr>
        <p:txBody>
          <a:bodyPr wrap="square"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&gt;</a:t>
            </a:r>
            <a:endParaRPr lang="en-US" sz="2000" dirty="0"/>
          </a:p>
        </p:txBody>
      </p:sp>
      <p:sp>
        <p:nvSpPr>
          <p:cNvPr id="11" name="Shape 8"/>
          <p:cNvSpPr/>
          <p:nvPr/>
        </p:nvSpPr>
        <p:spPr>
          <a:xfrm>
            <a:off x="3410712" y="1691640"/>
            <a:ext cx="2697480" cy="4206240"/>
          </a:xfrm>
          <a:prstGeom prst="roundRect">
            <a:avLst>
              <a:gd name="adj" fmla="val 2712"/>
            </a:avLst>
          </a:prstGeom>
          <a:solidFill>
            <a:srgbClr val="FFFFFF"/>
          </a:solidFill>
          <a:ln w="9525">
            <a:solidFill>
              <a:srgbClr val="DCE6EA"/>
            </a:solidFill>
            <a:prstDash val="solid"/>
          </a:ln>
        </p:spPr>
      </p:sp>
      <p:sp>
        <p:nvSpPr>
          <p:cNvPr id="12" name="Shape 9"/>
          <p:cNvSpPr/>
          <p:nvPr/>
        </p:nvSpPr>
        <p:spPr>
          <a:xfrm>
            <a:off x="4439412" y="1965960"/>
            <a:ext cx="640080" cy="640080"/>
          </a:xfrm>
          <a:prstGeom prst="ellipse">
            <a:avLst/>
          </a:prstGeom>
          <a:solidFill>
            <a:srgbClr val="0B2545"/>
          </a:solidFill>
          <a:ln/>
        </p:spPr>
      </p:sp>
      <p:sp>
        <p:nvSpPr>
          <p:cNvPr id="13" name="Text 10"/>
          <p:cNvSpPr/>
          <p:nvPr/>
        </p:nvSpPr>
        <p:spPr>
          <a:xfrm>
            <a:off x="4439412" y="1965960"/>
            <a:ext cx="640080" cy="640080"/>
          </a:xfrm>
          <a:prstGeom prst="rect">
            <a:avLst/>
          </a:prstGeom>
          <a:noFill/>
          <a:ln/>
        </p:spPr>
        <p:txBody>
          <a:bodyPr wrap="square" rtlCol="0" anchor="ctr"/>
          <a:lstStyle/>
          <a:p>
            <a:pPr algn="ctr" indent="0" marL="0">
              <a:buNone/>
            </a:pPr>
            <a:r>
              <a:rPr lang="en-US" sz="2200" b="1" dirty="0">
                <a:solidFill>
                  <a:srgbClr val="F2A541"/>
                </a:solidFill>
                <a:latin typeface="Cambria" pitchFamily="34" charset="0"/>
                <a:ea typeface="Cambria" pitchFamily="34" charset="-122"/>
                <a:cs typeface="Cambria" pitchFamily="34" charset="-120"/>
              </a:rPr>
              <a:t>2</a:t>
            </a:r>
            <a:endParaRPr lang="en-US" sz="2200" dirty="0"/>
          </a:p>
        </p:txBody>
      </p:sp>
      <p:sp>
        <p:nvSpPr>
          <p:cNvPr id="14" name="Text 11"/>
          <p:cNvSpPr/>
          <p:nvPr/>
        </p:nvSpPr>
        <p:spPr>
          <a:xfrm>
            <a:off x="3575304" y="2834640"/>
            <a:ext cx="2368296" cy="868680"/>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Transformation passe-bande -&gt; passe-bas</a:t>
            </a:r>
            <a:endParaRPr lang="en-US" sz="1300" dirty="0"/>
          </a:p>
        </p:txBody>
      </p:sp>
      <p:sp>
        <p:nvSpPr>
          <p:cNvPr id="15" name="Text 12"/>
          <p:cNvSpPr/>
          <p:nvPr/>
        </p:nvSpPr>
        <p:spPr>
          <a:xfrm>
            <a:off x="3593592" y="3749040"/>
            <a:ext cx="2331720" cy="1920240"/>
          </a:xfrm>
          <a:prstGeom prst="rect">
            <a:avLst/>
          </a:prstGeom>
          <a:noFill/>
          <a:ln/>
        </p:spPr>
        <p:txBody>
          <a:bodyPr wrap="square" rtlCol="0" anchor="t"/>
          <a:lstStyle/>
          <a:p>
            <a:pPr algn="l" indent="0" marL="0">
              <a:buNone/>
            </a:pPr>
            <a:r>
              <a:rPr lang="en-US" sz="1050" dirty="0">
                <a:solidFill>
                  <a:srgbClr val="1A2B3C"/>
                </a:solidFill>
                <a:latin typeface="Calibri" pitchFamily="34" charset="0"/>
                <a:ea typeface="Calibri" pitchFamily="34" charset="-122"/>
                <a:cs typeface="Calibri" pitchFamily="34" charset="-120"/>
              </a:rPr>
              <a:t>Ramener le gabarit a un prototype passe-bas normalise via la frequence centrale Omega0 et la largeur de bande B.</a:t>
            </a:r>
            <a:endParaRPr lang="en-US" sz="1050" dirty="0"/>
          </a:p>
        </p:txBody>
      </p:sp>
      <p:sp>
        <p:nvSpPr>
          <p:cNvPr id="16" name="Text 13"/>
          <p:cNvSpPr/>
          <p:nvPr/>
        </p:nvSpPr>
        <p:spPr>
          <a:xfrm>
            <a:off x="6053328" y="3593592"/>
            <a:ext cx="274320" cy="402336"/>
          </a:xfrm>
          <a:prstGeom prst="rect">
            <a:avLst/>
          </a:prstGeom>
          <a:noFill/>
          <a:ln/>
        </p:spPr>
        <p:txBody>
          <a:bodyPr wrap="square"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&gt;</a:t>
            </a:r>
            <a:endParaRPr lang="en-US" sz="2000" dirty="0"/>
          </a:p>
        </p:txBody>
      </p:sp>
      <p:sp>
        <p:nvSpPr>
          <p:cNvPr id="17" name="Shape 14"/>
          <p:cNvSpPr/>
          <p:nvPr/>
        </p:nvSpPr>
        <p:spPr>
          <a:xfrm>
            <a:off x="6272784" y="1691640"/>
            <a:ext cx="2697480" cy="4206240"/>
          </a:xfrm>
          <a:prstGeom prst="roundRect">
            <a:avLst>
              <a:gd name="adj" fmla="val 2712"/>
            </a:avLst>
          </a:prstGeom>
          <a:solidFill>
            <a:srgbClr val="E7F1F5"/>
          </a:solidFill>
          <a:ln w="9525">
            <a:solidFill>
              <a:srgbClr val="DCE6EA"/>
            </a:solidFill>
            <a:prstDash val="solid"/>
          </a:ln>
        </p:spPr>
      </p:sp>
      <p:sp>
        <p:nvSpPr>
          <p:cNvPr id="18" name="Shape 15"/>
          <p:cNvSpPr/>
          <p:nvPr/>
        </p:nvSpPr>
        <p:spPr>
          <a:xfrm>
            <a:off x="7301484" y="1965960"/>
            <a:ext cx="640080" cy="640080"/>
          </a:xfrm>
          <a:prstGeom prst="ellipse">
            <a:avLst/>
          </a:prstGeom>
          <a:solidFill>
            <a:srgbClr val="0B2545"/>
          </a:solidFill>
          <a:ln/>
        </p:spPr>
      </p:sp>
      <p:sp>
        <p:nvSpPr>
          <p:cNvPr id="19" name="Text 16"/>
          <p:cNvSpPr/>
          <p:nvPr/>
        </p:nvSpPr>
        <p:spPr>
          <a:xfrm>
            <a:off x="7301484" y="1965960"/>
            <a:ext cx="640080" cy="640080"/>
          </a:xfrm>
          <a:prstGeom prst="rect">
            <a:avLst/>
          </a:prstGeom>
          <a:noFill/>
          <a:ln/>
        </p:spPr>
        <p:txBody>
          <a:bodyPr wrap="square" rtlCol="0" anchor="ctr"/>
          <a:lstStyle/>
          <a:p>
            <a:pPr algn="ctr" indent="0" marL="0">
              <a:buNone/>
            </a:pPr>
            <a:r>
              <a:rPr lang="en-US" sz="2200" b="1" dirty="0">
                <a:solidFill>
                  <a:srgbClr val="F2A541"/>
                </a:solidFill>
                <a:latin typeface="Cambria" pitchFamily="34" charset="0"/>
                <a:ea typeface="Cambria" pitchFamily="34" charset="-122"/>
                <a:cs typeface="Cambria" pitchFamily="34" charset="-120"/>
              </a:rPr>
              <a:t>3</a:t>
            </a:r>
            <a:endParaRPr lang="en-US" sz="2200" dirty="0"/>
          </a:p>
        </p:txBody>
      </p:sp>
      <p:sp>
        <p:nvSpPr>
          <p:cNvPr id="20" name="Text 17"/>
          <p:cNvSpPr/>
          <p:nvPr/>
        </p:nvSpPr>
        <p:spPr>
          <a:xfrm>
            <a:off x="6437376" y="2834640"/>
            <a:ext cx="2368296" cy="868680"/>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Calcul de l'ordre N</a:t>
            </a:r>
            <a:endParaRPr lang="en-US" sz="1300" dirty="0"/>
          </a:p>
        </p:txBody>
      </p:sp>
      <p:sp>
        <p:nvSpPr>
          <p:cNvPr id="21" name="Text 18"/>
          <p:cNvSpPr/>
          <p:nvPr/>
        </p:nvSpPr>
        <p:spPr>
          <a:xfrm>
            <a:off x="6455664" y="3749040"/>
            <a:ext cx="2331720" cy="1920240"/>
          </a:xfrm>
          <a:prstGeom prst="rect">
            <a:avLst/>
          </a:prstGeom>
          <a:noFill/>
          <a:ln/>
        </p:spPr>
        <p:txBody>
          <a:bodyPr wrap="square" rtlCol="0" anchor="t"/>
          <a:lstStyle/>
          <a:p>
            <a:pPr algn="l" indent="0" marL="0">
              <a:buNone/>
            </a:pPr>
            <a:r>
              <a:rPr lang="en-US" sz="1050" dirty="0">
                <a:solidFill>
                  <a:srgbClr val="1A2B3C"/>
                </a:solidFill>
                <a:latin typeface="Calibri" pitchFamily="34" charset="0"/>
                <a:ea typeface="Calibri" pitchFamily="34" charset="-122"/>
                <a:cs typeface="Calibri" pitchFamily="34" charset="-120"/>
              </a:rPr>
              <a:t>Determiner l'ordre minimal du filtre Chebyshev I respectant Ap et Aa (formule en acosh).</a:t>
            </a:r>
            <a:endParaRPr lang="en-US" sz="1050" dirty="0"/>
          </a:p>
        </p:txBody>
      </p:sp>
      <p:sp>
        <p:nvSpPr>
          <p:cNvPr id="22" name="Text 19"/>
          <p:cNvSpPr/>
          <p:nvPr/>
        </p:nvSpPr>
        <p:spPr>
          <a:xfrm>
            <a:off x="8915400" y="3593592"/>
            <a:ext cx="274320" cy="402336"/>
          </a:xfrm>
          <a:prstGeom prst="rect">
            <a:avLst/>
          </a:prstGeom>
          <a:noFill/>
          <a:ln/>
        </p:spPr>
        <p:txBody>
          <a:bodyPr wrap="square"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&gt;</a:t>
            </a:r>
            <a:endParaRPr lang="en-US" sz="2000" dirty="0"/>
          </a:p>
        </p:txBody>
      </p:sp>
      <p:sp>
        <p:nvSpPr>
          <p:cNvPr id="23" name="Shape 20"/>
          <p:cNvSpPr/>
          <p:nvPr/>
        </p:nvSpPr>
        <p:spPr>
          <a:xfrm>
            <a:off x="9134856" y="1691640"/>
            <a:ext cx="2697480" cy="4206240"/>
          </a:xfrm>
          <a:prstGeom prst="roundRect">
            <a:avLst>
              <a:gd name="adj" fmla="val 2712"/>
            </a:avLst>
          </a:prstGeom>
          <a:solidFill>
            <a:srgbClr val="FFFFFF"/>
          </a:solidFill>
          <a:ln w="9525">
            <a:solidFill>
              <a:srgbClr val="DCE6EA"/>
            </a:solidFill>
            <a:prstDash val="solid"/>
          </a:ln>
        </p:spPr>
      </p:sp>
      <p:sp>
        <p:nvSpPr>
          <p:cNvPr id="24" name="Shape 21"/>
          <p:cNvSpPr/>
          <p:nvPr/>
        </p:nvSpPr>
        <p:spPr>
          <a:xfrm>
            <a:off x="10163556" y="1965960"/>
            <a:ext cx="640080" cy="640080"/>
          </a:xfrm>
          <a:prstGeom prst="ellipse">
            <a:avLst/>
          </a:prstGeom>
          <a:solidFill>
            <a:srgbClr val="0B2545"/>
          </a:solidFill>
          <a:ln/>
        </p:spPr>
      </p:sp>
      <p:sp>
        <p:nvSpPr>
          <p:cNvPr id="25" name="Text 22"/>
          <p:cNvSpPr/>
          <p:nvPr/>
        </p:nvSpPr>
        <p:spPr>
          <a:xfrm>
            <a:off x="10163556" y="1965960"/>
            <a:ext cx="640080" cy="640080"/>
          </a:xfrm>
          <a:prstGeom prst="rect">
            <a:avLst/>
          </a:prstGeom>
          <a:noFill/>
          <a:ln/>
        </p:spPr>
        <p:txBody>
          <a:bodyPr wrap="square" rtlCol="0" anchor="ctr"/>
          <a:lstStyle/>
          <a:p>
            <a:pPr algn="ctr" indent="0" marL="0">
              <a:buNone/>
            </a:pPr>
            <a:r>
              <a:rPr lang="en-US" sz="2200" b="1" dirty="0">
                <a:solidFill>
                  <a:srgbClr val="F2A541"/>
                </a:solidFill>
                <a:latin typeface="Cambria" pitchFamily="34" charset="0"/>
                <a:ea typeface="Cambria" pitchFamily="34" charset="-122"/>
                <a:cs typeface="Cambria" pitchFamily="34" charset="-120"/>
              </a:rPr>
              <a:t>4</a:t>
            </a:r>
            <a:endParaRPr lang="en-US" sz="2200" dirty="0"/>
          </a:p>
        </p:txBody>
      </p:sp>
      <p:sp>
        <p:nvSpPr>
          <p:cNvPr id="26" name="Text 23"/>
          <p:cNvSpPr/>
          <p:nvPr/>
        </p:nvSpPr>
        <p:spPr>
          <a:xfrm>
            <a:off x="9299448" y="2834640"/>
            <a:ext cx="2368296" cy="868680"/>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Synthese + transformee bilineaire</a:t>
            </a:r>
            <a:endParaRPr lang="en-US" sz="1300" dirty="0"/>
          </a:p>
        </p:txBody>
      </p:sp>
      <p:sp>
        <p:nvSpPr>
          <p:cNvPr id="27" name="Text 24"/>
          <p:cNvSpPr/>
          <p:nvPr/>
        </p:nvSpPr>
        <p:spPr>
          <a:xfrm>
            <a:off x="9317736" y="3749040"/>
            <a:ext cx="2331720" cy="1920240"/>
          </a:xfrm>
          <a:prstGeom prst="rect">
            <a:avLst/>
          </a:prstGeom>
          <a:noFill/>
          <a:ln/>
        </p:spPr>
        <p:txBody>
          <a:bodyPr wrap="square" rtlCol="0" anchor="t"/>
          <a:lstStyle/>
          <a:p>
            <a:pPr algn="l" indent="0" marL="0">
              <a:buNone/>
            </a:pPr>
            <a:r>
              <a:rPr lang="en-US" sz="1050" dirty="0">
                <a:solidFill>
                  <a:srgbClr val="1A2B3C"/>
                </a:solidFill>
                <a:latin typeface="Calibri" pitchFamily="34" charset="0"/>
                <a:ea typeface="Calibri" pitchFamily="34" charset="-122"/>
                <a:cs typeface="Calibri" pitchFamily="34" charset="-120"/>
              </a:rPr>
              <a:t>Calculer le prototype analogique, le transformer en passe-bande, puis numeriser -&gt; coefficients H(z).</a:t>
            </a:r>
            <a:endParaRPr lang="en-US" sz="1050" dirty="0"/>
          </a:p>
        </p:txBody>
      </p:sp>
      <p:sp>
        <p:nvSpPr>
          <p:cNvPr id="28" name="Text 25"/>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A"/>
                </a:solidFill>
                <a:latin typeface="Calibri" pitchFamily="34" charset="0"/>
                <a:ea typeface="Calibri" pitchFamily="34" charset="-122"/>
                <a:cs typeface="Calibri" pitchFamily="34" charset="-120"/>
              </a:rPr>
              <a:t>Projet TTS - Filtre passe-bande RII - Chebyshev I</a:t>
            </a:r>
            <a:endParaRPr lang="en-US" sz="900" dirty="0"/>
          </a:p>
        </p:txBody>
      </p:sp>
      <p:sp>
        <p:nvSpPr>
          <p:cNvPr id="29" name="Text 26"/>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502920"/>
            <a:ext cx="10058400" cy="7772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Resultats de la synthese</a:t>
            </a:r>
            <a:endParaRPr lang="en-US" sz="3000" dirty="0"/>
          </a:p>
        </p:txBody>
      </p:sp>
      <p:sp>
        <p:nvSpPr>
          <p:cNvPr id="3" name="Shape 1"/>
          <p:cNvSpPr/>
          <p:nvPr/>
        </p:nvSpPr>
        <p:spPr>
          <a:xfrm>
            <a:off x="525780" y="2011680"/>
            <a:ext cx="2606040" cy="2377440"/>
          </a:xfrm>
          <a:prstGeom prst="roundRect">
            <a:avLst>
              <a:gd name="adj" fmla="val 3846"/>
            </a:avLst>
          </a:prstGeom>
          <a:solidFill>
            <a:srgbClr val="13315C"/>
          </a:solidFill>
          <a:ln/>
        </p:spPr>
      </p:sp>
      <p:sp>
        <p:nvSpPr>
          <p:cNvPr id="4" name="Text 2"/>
          <p:cNvSpPr/>
          <p:nvPr/>
        </p:nvSpPr>
        <p:spPr>
          <a:xfrm>
            <a:off x="525780" y="2468880"/>
            <a:ext cx="2606040" cy="914400"/>
          </a:xfrm>
          <a:prstGeom prst="rect">
            <a:avLst/>
          </a:prstGeom>
          <a:noFill/>
          <a:ln/>
        </p:spPr>
        <p:txBody>
          <a:bodyPr wrap="square" rtlCol="0" anchor="ctr"/>
          <a:lstStyle/>
          <a:p>
            <a:pPr algn="ctr" indent="0" marL="0">
              <a:buNone/>
            </a:pPr>
            <a:r>
              <a:rPr lang="en-US" sz="3600" b="1" dirty="0">
                <a:solidFill>
                  <a:srgbClr val="F2A541"/>
                </a:solidFill>
                <a:latin typeface="Cambria" pitchFamily="34" charset="0"/>
                <a:ea typeface="Cambria" pitchFamily="34" charset="-122"/>
                <a:cs typeface="Cambria" pitchFamily="34" charset="-120"/>
              </a:rPr>
              <a:t>N = 5</a:t>
            </a:r>
            <a:endParaRPr lang="en-US" sz="3600" dirty="0"/>
          </a:p>
        </p:txBody>
      </p:sp>
      <p:sp>
        <p:nvSpPr>
          <p:cNvPr id="5" name="Text 3"/>
          <p:cNvSpPr/>
          <p:nvPr/>
        </p:nvSpPr>
        <p:spPr>
          <a:xfrm>
            <a:off x="708660" y="3429000"/>
            <a:ext cx="2240280" cy="868680"/>
          </a:xfrm>
          <a:prstGeom prst="rect">
            <a:avLst/>
          </a:prstGeom>
          <a:noFill/>
          <a:ln/>
        </p:spPr>
        <p:txBody>
          <a:bodyPr wrap="square" rtlCol="0" anchor="t"/>
          <a:lstStyle/>
          <a:p>
            <a:pPr algn="ctr" indent="0" marL="0">
              <a:buNone/>
            </a:pPr>
            <a:r>
              <a:rPr lang="en-US" sz="1150" dirty="0">
                <a:solidFill>
                  <a:srgbClr val="C9DCE8"/>
                </a:solidFill>
                <a:latin typeface="Calibri" pitchFamily="34" charset="0"/>
                <a:ea typeface="Calibri" pitchFamily="34" charset="-122"/>
                <a:cs typeface="Calibri" pitchFamily="34" charset="-120"/>
              </a:rPr>
              <a:t>Ordre du prototype passe-bas Chebyshev I</a:t>
            </a:r>
            <a:endParaRPr lang="en-US" sz="1150" dirty="0"/>
          </a:p>
        </p:txBody>
      </p:sp>
      <p:sp>
        <p:nvSpPr>
          <p:cNvPr id="6" name="Shape 4"/>
          <p:cNvSpPr/>
          <p:nvPr/>
        </p:nvSpPr>
        <p:spPr>
          <a:xfrm>
            <a:off x="3360420" y="2011680"/>
            <a:ext cx="2606040" cy="2377440"/>
          </a:xfrm>
          <a:prstGeom prst="roundRect">
            <a:avLst>
              <a:gd name="adj" fmla="val 3846"/>
            </a:avLst>
          </a:prstGeom>
          <a:solidFill>
            <a:srgbClr val="13315C"/>
          </a:solidFill>
          <a:ln/>
        </p:spPr>
      </p:sp>
      <p:sp>
        <p:nvSpPr>
          <p:cNvPr id="7" name="Text 5"/>
          <p:cNvSpPr/>
          <p:nvPr/>
        </p:nvSpPr>
        <p:spPr>
          <a:xfrm>
            <a:off x="3360420" y="2468880"/>
            <a:ext cx="2606040" cy="914400"/>
          </a:xfrm>
          <a:prstGeom prst="rect">
            <a:avLst/>
          </a:prstGeom>
          <a:noFill/>
          <a:ln/>
        </p:spPr>
        <p:txBody>
          <a:bodyPr wrap="square" rtlCol="0" anchor="ctr"/>
          <a:lstStyle/>
          <a:p>
            <a:pPr algn="ctr" indent="0" marL="0">
              <a:buNone/>
            </a:pPr>
            <a:r>
              <a:rPr lang="en-US" sz="3600" b="1" dirty="0">
                <a:solidFill>
                  <a:srgbClr val="F2A541"/>
                </a:solidFill>
                <a:latin typeface="Cambria" pitchFamily="34" charset="0"/>
                <a:ea typeface="Cambria" pitchFamily="34" charset="-122"/>
                <a:cs typeface="Cambria" pitchFamily="34" charset="-120"/>
              </a:rPr>
              <a:t>10</a:t>
            </a:r>
            <a:endParaRPr lang="en-US" sz="3600" dirty="0"/>
          </a:p>
        </p:txBody>
      </p:sp>
      <p:sp>
        <p:nvSpPr>
          <p:cNvPr id="8" name="Text 6"/>
          <p:cNvSpPr/>
          <p:nvPr/>
        </p:nvSpPr>
        <p:spPr>
          <a:xfrm>
            <a:off x="3543300" y="3429000"/>
            <a:ext cx="2240280" cy="868680"/>
          </a:xfrm>
          <a:prstGeom prst="rect">
            <a:avLst/>
          </a:prstGeom>
          <a:noFill/>
          <a:ln/>
        </p:spPr>
        <p:txBody>
          <a:bodyPr wrap="square" rtlCol="0" anchor="t"/>
          <a:lstStyle/>
          <a:p>
            <a:pPr algn="ctr" indent="0" marL="0">
              <a:buNone/>
            </a:pPr>
            <a:r>
              <a:rPr lang="en-US" sz="1150" dirty="0">
                <a:solidFill>
                  <a:srgbClr val="C9DCE8"/>
                </a:solidFill>
                <a:latin typeface="Calibri" pitchFamily="34" charset="0"/>
                <a:ea typeface="Calibri" pitchFamily="34" charset="-122"/>
                <a:cs typeface="Calibri" pitchFamily="34" charset="-120"/>
              </a:rPr>
              <a:t>Ordre du filtre numerique final (2N)</a:t>
            </a:r>
            <a:endParaRPr lang="en-US" sz="1150" dirty="0"/>
          </a:p>
        </p:txBody>
      </p:sp>
      <p:sp>
        <p:nvSpPr>
          <p:cNvPr id="9" name="Shape 7"/>
          <p:cNvSpPr/>
          <p:nvPr/>
        </p:nvSpPr>
        <p:spPr>
          <a:xfrm>
            <a:off x="6195060" y="2011680"/>
            <a:ext cx="2606040" cy="2377440"/>
          </a:xfrm>
          <a:prstGeom prst="roundRect">
            <a:avLst>
              <a:gd name="adj" fmla="val 3846"/>
            </a:avLst>
          </a:prstGeom>
          <a:solidFill>
            <a:srgbClr val="13315C"/>
          </a:solidFill>
          <a:ln/>
        </p:spPr>
      </p:sp>
      <p:sp>
        <p:nvSpPr>
          <p:cNvPr id="10" name="Text 8"/>
          <p:cNvSpPr/>
          <p:nvPr/>
        </p:nvSpPr>
        <p:spPr>
          <a:xfrm>
            <a:off x="6195060" y="2468880"/>
            <a:ext cx="2606040" cy="914400"/>
          </a:xfrm>
          <a:prstGeom prst="rect">
            <a:avLst/>
          </a:prstGeom>
          <a:noFill/>
          <a:ln/>
        </p:spPr>
        <p:txBody>
          <a:bodyPr wrap="square" rtlCol="0" anchor="ctr"/>
          <a:lstStyle/>
          <a:p>
            <a:pPr algn="ctr" indent="0" marL="0">
              <a:buNone/>
            </a:pPr>
            <a:r>
              <a:rPr lang="en-US" sz="3600" b="1" dirty="0">
                <a:solidFill>
                  <a:srgbClr val="F2A541"/>
                </a:solidFill>
                <a:latin typeface="Cambria" pitchFamily="34" charset="0"/>
                <a:ea typeface="Cambria" pitchFamily="34" charset="-122"/>
                <a:cs typeface="Cambria" pitchFamily="34" charset="-120"/>
              </a:rPr>
              <a:t>5</a:t>
            </a:r>
            <a:endParaRPr lang="en-US" sz="3600" dirty="0"/>
          </a:p>
        </p:txBody>
      </p:sp>
      <p:sp>
        <p:nvSpPr>
          <p:cNvPr id="11" name="Text 9"/>
          <p:cNvSpPr/>
          <p:nvPr/>
        </p:nvSpPr>
        <p:spPr>
          <a:xfrm>
            <a:off x="6377940" y="3429000"/>
            <a:ext cx="2240280" cy="868680"/>
          </a:xfrm>
          <a:prstGeom prst="rect">
            <a:avLst/>
          </a:prstGeom>
          <a:noFill/>
          <a:ln/>
        </p:spPr>
        <p:txBody>
          <a:bodyPr wrap="square" rtlCol="0" anchor="t"/>
          <a:lstStyle/>
          <a:p>
            <a:pPr algn="ctr" indent="0" marL="0">
              <a:buNone/>
            </a:pPr>
            <a:r>
              <a:rPr lang="en-US" sz="1150" dirty="0">
                <a:solidFill>
                  <a:srgbClr val="C9DCE8"/>
                </a:solidFill>
                <a:latin typeface="Calibri" pitchFamily="34" charset="0"/>
                <a:ea typeface="Calibri" pitchFamily="34" charset="-122"/>
                <a:cs typeface="Calibri" pitchFamily="34" charset="-120"/>
              </a:rPr>
              <a:t>Cellules biquadratiques en cascade</a:t>
            </a:r>
            <a:endParaRPr lang="en-US" sz="1150" dirty="0"/>
          </a:p>
        </p:txBody>
      </p:sp>
      <p:sp>
        <p:nvSpPr>
          <p:cNvPr id="12" name="Shape 10"/>
          <p:cNvSpPr/>
          <p:nvPr/>
        </p:nvSpPr>
        <p:spPr>
          <a:xfrm>
            <a:off x="9029700" y="2011680"/>
            <a:ext cx="2606040" cy="2377440"/>
          </a:xfrm>
          <a:prstGeom prst="roundRect">
            <a:avLst>
              <a:gd name="adj" fmla="val 3846"/>
            </a:avLst>
          </a:prstGeom>
          <a:solidFill>
            <a:srgbClr val="13315C"/>
          </a:solidFill>
          <a:ln/>
        </p:spPr>
      </p:sp>
      <p:sp>
        <p:nvSpPr>
          <p:cNvPr id="13" name="Text 11"/>
          <p:cNvSpPr/>
          <p:nvPr/>
        </p:nvSpPr>
        <p:spPr>
          <a:xfrm>
            <a:off x="9029700" y="2468880"/>
            <a:ext cx="2606040" cy="914400"/>
          </a:xfrm>
          <a:prstGeom prst="rect">
            <a:avLst/>
          </a:prstGeom>
          <a:noFill/>
          <a:ln/>
        </p:spPr>
        <p:txBody>
          <a:bodyPr wrap="square" rtlCol="0" anchor="ctr"/>
          <a:lstStyle/>
          <a:p>
            <a:pPr algn="ctr" indent="0" marL="0">
              <a:buNone/>
            </a:pPr>
            <a:r>
              <a:rPr lang="en-US" sz="3600" b="1" dirty="0">
                <a:solidFill>
                  <a:srgbClr val="F2A541"/>
                </a:solidFill>
                <a:latin typeface="Cambria" pitchFamily="34" charset="0"/>
                <a:ea typeface="Cambria" pitchFamily="34" charset="-122"/>
                <a:cs typeface="Cambria" pitchFamily="34" charset="-120"/>
              </a:rPr>
              <a:t>0.98</a:t>
            </a:r>
            <a:endParaRPr lang="en-US" sz="3600" dirty="0"/>
          </a:p>
        </p:txBody>
      </p:sp>
      <p:sp>
        <p:nvSpPr>
          <p:cNvPr id="14" name="Text 12"/>
          <p:cNvSpPr/>
          <p:nvPr/>
        </p:nvSpPr>
        <p:spPr>
          <a:xfrm>
            <a:off x="9212580" y="3429000"/>
            <a:ext cx="2240280" cy="868680"/>
          </a:xfrm>
          <a:prstGeom prst="rect">
            <a:avLst/>
          </a:prstGeom>
          <a:noFill/>
          <a:ln/>
        </p:spPr>
        <p:txBody>
          <a:bodyPr wrap="square" rtlCol="0" anchor="t"/>
          <a:lstStyle/>
          <a:p>
            <a:pPr algn="ctr" indent="0" marL="0">
              <a:buNone/>
            </a:pPr>
            <a:r>
              <a:rPr lang="en-US" sz="1150" dirty="0">
                <a:solidFill>
                  <a:srgbClr val="C9DCE8"/>
                </a:solidFill>
                <a:latin typeface="Calibri" pitchFamily="34" charset="0"/>
                <a:ea typeface="Calibri" pitchFamily="34" charset="-122"/>
                <a:cs typeface="Calibri" pitchFamily="34" charset="-120"/>
              </a:rPr>
              <a:t>Module max. des poles -&gt; filtre stable</a:t>
            </a:r>
            <a:endParaRPr lang="en-US" sz="1150" dirty="0"/>
          </a:p>
        </p:txBody>
      </p:sp>
      <p:sp>
        <p:nvSpPr>
          <p:cNvPr id="15" name="Text 13"/>
          <p:cNvSpPr/>
          <p:nvPr/>
        </p:nvSpPr>
        <p:spPr>
          <a:xfrm>
            <a:off x="548640" y="4937760"/>
            <a:ext cx="11064240" cy="457200"/>
          </a:xfrm>
          <a:prstGeom prst="rect">
            <a:avLst/>
          </a:prstGeom>
          <a:noFill/>
          <a:ln/>
        </p:spPr>
        <p:txBody>
          <a:bodyPr wrap="square" rtlCol="0" anchor="ctr"/>
          <a:lstStyle/>
          <a:p>
            <a:pPr algn="ctr" indent="0" marL="0">
              <a:buNone/>
            </a:pPr>
            <a:r>
              <a:rPr lang="en-US" sz="1300" i="1" dirty="0">
                <a:solidFill>
                  <a:srgbClr val="8FAFC2"/>
                </a:solidFill>
                <a:latin typeface="Calibri" pitchFamily="34" charset="0"/>
                <a:ea typeface="Calibri" pitchFamily="34" charset="-122"/>
                <a:cs typeface="Calibri" pitchFamily="34" charset="-120"/>
              </a:rPr>
              <a:t>H(z) = B(z) / A(z),  degre 10  -  coefficients calcules par transformee bilineaire a partir du prototype analogique Chebyshev I</a:t>
            </a:r>
            <a:endParaRPr lang="en-US" sz="1300" dirty="0"/>
          </a:p>
        </p:txBody>
      </p:sp>
      <p:sp>
        <p:nvSpPr>
          <p:cNvPr id="16" name="Text 14"/>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A"/>
                </a:solidFill>
                <a:latin typeface="Calibri" pitchFamily="34" charset="0"/>
                <a:ea typeface="Calibri" pitchFamily="34" charset="-122"/>
                <a:cs typeface="Calibri" pitchFamily="34" charset="-120"/>
              </a:rPr>
              <a:t>Projet TTS - Filtre passe-bande RII - Chebyshev I</a:t>
            </a:r>
            <a:endParaRPr lang="en-US" sz="900" dirty="0"/>
          </a:p>
        </p:txBody>
      </p:sp>
      <p:sp>
        <p:nvSpPr>
          <p:cNvPr id="17" name="Text 15"/>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31520" cy="731520"/>
          </a:xfrm>
          <a:prstGeom prst="ellipse">
            <a:avLst/>
          </a:prstGeom>
          <a:solidFill>
            <a:srgbClr val="1C7293"/>
          </a:solidFill>
          <a:ln/>
        </p:spPr>
      </p:sp>
      <p:pic>
        <p:nvPicPr>
          <p:cNvPr id="3" name="Image 0" descr="preencoded.png">    </p:cNvPr>
          <p:cNvPicPr>
            <a:picLocks noChangeAspect="1"/>
          </p:cNvPicPr>
          <p:nvPr/>
        </p:nvPicPr>
        <p:blipFill>
          <a:blip r:embed="rId1"/>
          <a:stretch>
            <a:fillRect/>
          </a:stretch>
        </p:blipFill>
        <p:spPr>
          <a:xfrm>
            <a:off x="746150" y="654710"/>
            <a:ext cx="336499" cy="336499"/>
          </a:xfrm>
          <a:prstGeom prst="rect">
            <a:avLst/>
          </a:prstGeom>
        </p:spPr>
      </p:pic>
      <p:sp>
        <p:nvSpPr>
          <p:cNvPr id="4" name="Text 1"/>
          <p:cNvSpPr/>
          <p:nvPr/>
        </p:nvSpPr>
        <p:spPr>
          <a:xfrm>
            <a:off x="1463040" y="457200"/>
            <a:ext cx="9601200" cy="731520"/>
          </a:xfrm>
          <a:prstGeom prst="rect">
            <a:avLst/>
          </a:prstGeom>
          <a:noFill/>
          <a:ln/>
        </p:spPr>
        <p:txBody>
          <a:bodyPr wrap="square"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Reponse en frequence et stabilite</a:t>
            </a:r>
            <a:endParaRPr lang="en-US" sz="2600" dirty="0"/>
          </a:p>
        </p:txBody>
      </p:sp>
      <p:pic>
        <p:nvPicPr>
          <p:cNvPr id="5" name="Image 1" descr="/mnt/user-data/outputs/fig1_reponse_frequence.png">    </p:cNvPr>
          <p:cNvPicPr>
            <a:picLocks noChangeAspect="1"/>
          </p:cNvPicPr>
          <p:nvPr/>
        </p:nvPicPr>
        <p:blipFill>
          <a:blip r:embed="rId2"/>
          <a:stretch>
            <a:fillRect/>
          </a:stretch>
        </p:blipFill>
        <p:spPr>
          <a:xfrm>
            <a:off x="777240" y="1371600"/>
            <a:ext cx="10607040" cy="4079631"/>
          </a:xfrm>
          <a:prstGeom prst="rect">
            <a:avLst/>
          </a:prstGeom>
        </p:spPr>
      </p:pic>
      <p:sp>
        <p:nvSpPr>
          <p:cNvPr id="6" name="Text 2"/>
          <p:cNvSpPr/>
          <p:nvPr/>
        </p:nvSpPr>
        <p:spPr>
          <a:xfrm>
            <a:off x="731520" y="5679831"/>
            <a:ext cx="10698480" cy="640080"/>
          </a:xfrm>
          <a:prstGeom prst="rect">
            <a:avLst/>
          </a:prstGeom>
          <a:noFill/>
          <a:ln/>
        </p:spPr>
        <p:txBody>
          <a:bodyPr wrap="square" rtlCol="0" anchor="ctr"/>
          <a:lstStyle/>
          <a:p>
            <a:pPr algn="ctr" indent="0" marL="0">
              <a:buNone/>
            </a:pPr>
            <a:r>
              <a:rPr lang="en-US" sz="1300" dirty="0">
                <a:solidFill>
                  <a:srgbClr val="1A2B3C"/>
                </a:solidFill>
                <a:latin typeface="Calibri" pitchFamily="34" charset="0"/>
                <a:ea typeface="Calibri" pitchFamily="34" charset="-122"/>
                <a:cs typeface="Calibri" pitchFamily="34" charset="-120"/>
              </a:rPr>
              <a:t>Ondulation &lt; 1 dB en bande passante, attenuation &gt; 40 dB en bande attenuee. Tous les poles sont dans le cercle unite (module max 0.98) : le filtre est stable.</a:t>
            </a:r>
            <a:endParaRPr lang="en-US" sz="1300" dirty="0"/>
          </a:p>
        </p:txBody>
      </p:sp>
      <p:sp>
        <p:nvSpPr>
          <p:cNvPr id="7" name="Text 3"/>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A"/>
                </a:solidFill>
                <a:latin typeface="Calibri" pitchFamily="34" charset="0"/>
                <a:ea typeface="Calibri" pitchFamily="34" charset="-122"/>
                <a:cs typeface="Calibri" pitchFamily="34" charset="-120"/>
              </a:rPr>
              <a:t>Projet TTS - Filtre passe-bande RII - Chebyshev I</a:t>
            </a:r>
            <a:endParaRPr lang="en-US" sz="900" dirty="0"/>
          </a:p>
        </p:txBody>
      </p:sp>
      <p:sp>
        <p:nvSpPr>
          <p:cNvPr id="8" name="Text 4"/>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7F1F5"/>
        </a:solidFill>
      </p:bgPr>
    </p:bg>
    <p:spTree>
      <p:nvGrpSpPr>
        <p:cNvPr id="1" name=""/>
        <p:cNvGrpSpPr/>
        <p:nvPr/>
      </p:nvGrpSpPr>
      <p:grpSpPr>
        <a:xfrm>
          <a:off x="0" y="0"/>
          <a:ext cx="0" cy="0"/>
          <a:chOff x="0" y="0"/>
          <a:chExt cx="0" cy="0"/>
        </a:xfrm>
      </p:grpSpPr>
      <p:sp>
        <p:nvSpPr>
          <p:cNvPr id="2" name="Shape 0"/>
          <p:cNvSpPr/>
          <p:nvPr/>
        </p:nvSpPr>
        <p:spPr>
          <a:xfrm>
            <a:off x="548640" y="457200"/>
            <a:ext cx="731520" cy="731520"/>
          </a:xfrm>
          <a:prstGeom prst="ellipse">
            <a:avLst/>
          </a:prstGeom>
          <a:solidFill>
            <a:srgbClr val="1C7293"/>
          </a:solidFill>
          <a:ln/>
        </p:spPr>
      </p:sp>
      <p:pic>
        <p:nvPicPr>
          <p:cNvPr id="3" name="Image 0" descr="preencoded.png">    </p:cNvPr>
          <p:cNvPicPr>
            <a:picLocks noChangeAspect="1"/>
          </p:cNvPicPr>
          <p:nvPr/>
        </p:nvPicPr>
        <p:blipFill>
          <a:blip r:embed="rId1"/>
          <a:stretch>
            <a:fillRect/>
          </a:stretch>
        </p:blipFill>
        <p:spPr>
          <a:xfrm>
            <a:off x="746150" y="654710"/>
            <a:ext cx="336499" cy="336499"/>
          </a:xfrm>
          <a:prstGeom prst="rect">
            <a:avLst/>
          </a:prstGeom>
        </p:spPr>
      </p:pic>
      <p:sp>
        <p:nvSpPr>
          <p:cNvPr id="4" name="Text 1"/>
          <p:cNvSpPr/>
          <p:nvPr/>
        </p:nvSpPr>
        <p:spPr>
          <a:xfrm>
            <a:off x="1463040" y="457200"/>
            <a:ext cx="8229600" cy="731520"/>
          </a:xfrm>
          <a:prstGeom prst="rect">
            <a:avLst/>
          </a:prstGeom>
          <a:noFill/>
          <a:ln/>
        </p:spPr>
        <p:txBody>
          <a:bodyPr wrap="square"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Implementation en cascade</a:t>
            </a:r>
            <a:endParaRPr lang="en-US" sz="2600" dirty="0"/>
          </a:p>
        </p:txBody>
      </p:sp>
      <p:sp>
        <p:nvSpPr>
          <p:cNvPr id="5" name="Text 2"/>
          <p:cNvSpPr/>
          <p:nvPr/>
        </p:nvSpPr>
        <p:spPr>
          <a:xfrm>
            <a:off x="548640" y="1234440"/>
            <a:ext cx="11064240" cy="411480"/>
          </a:xfrm>
          <a:prstGeom prst="rect">
            <a:avLst/>
          </a:prstGeom>
          <a:noFill/>
          <a:ln/>
        </p:spPr>
        <p:txBody>
          <a:bodyPr wrap="square" rtlCol="0" anchor="ctr"/>
          <a:lstStyle/>
          <a:p>
            <a:pPr indent="0" marL="0">
              <a:buNone/>
            </a:pPr>
            <a:r>
              <a:rPr lang="en-US" sz="1300" dirty="0">
                <a:solidFill>
                  <a:srgbClr val="1A2B3C"/>
                </a:solidFill>
                <a:latin typeface="Calibri" pitchFamily="34" charset="0"/>
                <a:ea typeface="Calibri" pitchFamily="34" charset="-122"/>
                <a:cs typeface="Calibri" pitchFamily="34" charset="-120"/>
              </a:rPr>
              <a:t>5 cellules du second ordre en cascade - plus stable numeriquement qu'une forme directe d'ordre 10</a:t>
            </a:r>
            <a:endParaRPr lang="en-US" sz="1300" dirty="0"/>
          </a:p>
        </p:txBody>
      </p:sp>
      <p:sp>
        <p:nvSpPr>
          <p:cNvPr id="6" name="Shape 3"/>
          <p:cNvSpPr/>
          <p:nvPr/>
        </p:nvSpPr>
        <p:spPr>
          <a:xfrm>
            <a:off x="1339596" y="1874520"/>
            <a:ext cx="1691640" cy="777240"/>
          </a:xfrm>
          <a:prstGeom prst="roundRect">
            <a:avLst>
              <a:gd name="adj" fmla="val 9412"/>
            </a:avLst>
          </a:prstGeom>
          <a:solidFill>
            <a:srgbClr val="0B2545"/>
          </a:solidFill>
          <a:ln/>
        </p:spPr>
      </p:sp>
      <p:sp>
        <p:nvSpPr>
          <p:cNvPr id="7" name="Text 4"/>
          <p:cNvSpPr/>
          <p:nvPr/>
        </p:nvSpPr>
        <p:spPr>
          <a:xfrm>
            <a:off x="1339596" y="1874520"/>
            <a:ext cx="1691640" cy="777240"/>
          </a:xfrm>
          <a:prstGeom prst="rect">
            <a:avLst/>
          </a:prstGeom>
          <a:noFill/>
          <a:ln/>
        </p:spPr>
        <p:txBody>
          <a:bodyPr wrap="square" rtlCol="0" anchor="ctr"/>
          <a:lstStyle/>
          <a:p>
            <a:pPr algn="ctr" indent="0" marL="0">
              <a:buNone/>
            </a:pPr>
            <a:r>
              <a:rPr lang="en-US" sz="1600" b="1" dirty="0">
                <a:solidFill>
                  <a:srgbClr val="F2A541"/>
                </a:solidFill>
                <a:latin typeface="Cambria" pitchFamily="34" charset="0"/>
                <a:ea typeface="Cambria" pitchFamily="34" charset="-122"/>
                <a:cs typeface="Cambria" pitchFamily="34" charset="-120"/>
              </a:rPr>
              <a:t>H1(z)</a:t>
            </a:r>
            <a:endParaRPr lang="en-US" sz="1600" dirty="0"/>
          </a:p>
        </p:txBody>
      </p:sp>
      <p:sp>
        <p:nvSpPr>
          <p:cNvPr id="8" name="Text 5"/>
          <p:cNvSpPr/>
          <p:nvPr/>
        </p:nvSpPr>
        <p:spPr>
          <a:xfrm>
            <a:off x="2985516" y="1874520"/>
            <a:ext cx="347472" cy="777240"/>
          </a:xfrm>
          <a:prstGeom prst="rect">
            <a:avLst/>
          </a:prstGeom>
          <a:noFill/>
          <a:ln/>
        </p:spPr>
        <p:txBody>
          <a:bodyPr wrap="square"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&gt;</a:t>
            </a:r>
            <a:endParaRPr lang="en-US" sz="1600" dirty="0"/>
          </a:p>
        </p:txBody>
      </p:sp>
      <p:sp>
        <p:nvSpPr>
          <p:cNvPr id="9" name="Shape 6"/>
          <p:cNvSpPr/>
          <p:nvPr/>
        </p:nvSpPr>
        <p:spPr>
          <a:xfrm>
            <a:off x="3287268" y="1874520"/>
            <a:ext cx="1691640" cy="777240"/>
          </a:xfrm>
          <a:prstGeom prst="roundRect">
            <a:avLst>
              <a:gd name="adj" fmla="val 9412"/>
            </a:avLst>
          </a:prstGeom>
          <a:solidFill>
            <a:srgbClr val="0B2545"/>
          </a:solidFill>
          <a:ln/>
        </p:spPr>
      </p:sp>
      <p:sp>
        <p:nvSpPr>
          <p:cNvPr id="10" name="Text 7"/>
          <p:cNvSpPr/>
          <p:nvPr/>
        </p:nvSpPr>
        <p:spPr>
          <a:xfrm>
            <a:off x="3287268" y="1874520"/>
            <a:ext cx="1691640" cy="777240"/>
          </a:xfrm>
          <a:prstGeom prst="rect">
            <a:avLst/>
          </a:prstGeom>
          <a:noFill/>
          <a:ln/>
        </p:spPr>
        <p:txBody>
          <a:bodyPr wrap="square" rtlCol="0" anchor="ctr"/>
          <a:lstStyle/>
          <a:p>
            <a:pPr algn="ctr" indent="0" marL="0">
              <a:buNone/>
            </a:pPr>
            <a:r>
              <a:rPr lang="en-US" sz="1600" b="1" dirty="0">
                <a:solidFill>
                  <a:srgbClr val="F2A541"/>
                </a:solidFill>
                <a:latin typeface="Cambria" pitchFamily="34" charset="0"/>
                <a:ea typeface="Cambria" pitchFamily="34" charset="-122"/>
                <a:cs typeface="Cambria" pitchFamily="34" charset="-120"/>
              </a:rPr>
              <a:t>H2(z)</a:t>
            </a:r>
            <a:endParaRPr lang="en-US" sz="1600" dirty="0"/>
          </a:p>
        </p:txBody>
      </p:sp>
      <p:sp>
        <p:nvSpPr>
          <p:cNvPr id="11" name="Text 8"/>
          <p:cNvSpPr/>
          <p:nvPr/>
        </p:nvSpPr>
        <p:spPr>
          <a:xfrm>
            <a:off x="4933188" y="1874520"/>
            <a:ext cx="347472" cy="777240"/>
          </a:xfrm>
          <a:prstGeom prst="rect">
            <a:avLst/>
          </a:prstGeom>
          <a:noFill/>
          <a:ln/>
        </p:spPr>
        <p:txBody>
          <a:bodyPr wrap="square"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&gt;</a:t>
            </a:r>
            <a:endParaRPr lang="en-US" sz="1600" dirty="0"/>
          </a:p>
        </p:txBody>
      </p:sp>
      <p:sp>
        <p:nvSpPr>
          <p:cNvPr id="12" name="Shape 9"/>
          <p:cNvSpPr/>
          <p:nvPr/>
        </p:nvSpPr>
        <p:spPr>
          <a:xfrm>
            <a:off x="5234940" y="1874520"/>
            <a:ext cx="1691640" cy="777240"/>
          </a:xfrm>
          <a:prstGeom prst="roundRect">
            <a:avLst>
              <a:gd name="adj" fmla="val 9412"/>
            </a:avLst>
          </a:prstGeom>
          <a:solidFill>
            <a:srgbClr val="0B2545"/>
          </a:solidFill>
          <a:ln/>
        </p:spPr>
      </p:sp>
      <p:sp>
        <p:nvSpPr>
          <p:cNvPr id="13" name="Text 10"/>
          <p:cNvSpPr/>
          <p:nvPr/>
        </p:nvSpPr>
        <p:spPr>
          <a:xfrm>
            <a:off x="5234940" y="1874520"/>
            <a:ext cx="1691640" cy="777240"/>
          </a:xfrm>
          <a:prstGeom prst="rect">
            <a:avLst/>
          </a:prstGeom>
          <a:noFill/>
          <a:ln/>
        </p:spPr>
        <p:txBody>
          <a:bodyPr wrap="square" rtlCol="0" anchor="ctr"/>
          <a:lstStyle/>
          <a:p>
            <a:pPr algn="ctr" indent="0" marL="0">
              <a:buNone/>
            </a:pPr>
            <a:r>
              <a:rPr lang="en-US" sz="1600" b="1" dirty="0">
                <a:solidFill>
                  <a:srgbClr val="F2A541"/>
                </a:solidFill>
                <a:latin typeface="Cambria" pitchFamily="34" charset="0"/>
                <a:ea typeface="Cambria" pitchFamily="34" charset="-122"/>
                <a:cs typeface="Cambria" pitchFamily="34" charset="-120"/>
              </a:rPr>
              <a:t>H3(z)</a:t>
            </a:r>
            <a:endParaRPr lang="en-US" sz="1600" dirty="0"/>
          </a:p>
        </p:txBody>
      </p:sp>
      <p:sp>
        <p:nvSpPr>
          <p:cNvPr id="14" name="Text 11"/>
          <p:cNvSpPr/>
          <p:nvPr/>
        </p:nvSpPr>
        <p:spPr>
          <a:xfrm>
            <a:off x="6880860" y="1874520"/>
            <a:ext cx="347472" cy="777240"/>
          </a:xfrm>
          <a:prstGeom prst="rect">
            <a:avLst/>
          </a:prstGeom>
          <a:noFill/>
          <a:ln/>
        </p:spPr>
        <p:txBody>
          <a:bodyPr wrap="square"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&gt;</a:t>
            </a:r>
            <a:endParaRPr lang="en-US" sz="1600" dirty="0"/>
          </a:p>
        </p:txBody>
      </p:sp>
      <p:sp>
        <p:nvSpPr>
          <p:cNvPr id="15" name="Shape 12"/>
          <p:cNvSpPr/>
          <p:nvPr/>
        </p:nvSpPr>
        <p:spPr>
          <a:xfrm>
            <a:off x="7182612" y="1874520"/>
            <a:ext cx="1691640" cy="777240"/>
          </a:xfrm>
          <a:prstGeom prst="roundRect">
            <a:avLst>
              <a:gd name="adj" fmla="val 9412"/>
            </a:avLst>
          </a:prstGeom>
          <a:solidFill>
            <a:srgbClr val="0B2545"/>
          </a:solidFill>
          <a:ln/>
        </p:spPr>
      </p:sp>
      <p:sp>
        <p:nvSpPr>
          <p:cNvPr id="16" name="Text 13"/>
          <p:cNvSpPr/>
          <p:nvPr/>
        </p:nvSpPr>
        <p:spPr>
          <a:xfrm>
            <a:off x="7182612" y="1874520"/>
            <a:ext cx="1691640" cy="777240"/>
          </a:xfrm>
          <a:prstGeom prst="rect">
            <a:avLst/>
          </a:prstGeom>
          <a:noFill/>
          <a:ln/>
        </p:spPr>
        <p:txBody>
          <a:bodyPr wrap="square" rtlCol="0" anchor="ctr"/>
          <a:lstStyle/>
          <a:p>
            <a:pPr algn="ctr" indent="0" marL="0">
              <a:buNone/>
            </a:pPr>
            <a:r>
              <a:rPr lang="en-US" sz="1600" b="1" dirty="0">
                <a:solidFill>
                  <a:srgbClr val="F2A541"/>
                </a:solidFill>
                <a:latin typeface="Cambria" pitchFamily="34" charset="0"/>
                <a:ea typeface="Cambria" pitchFamily="34" charset="-122"/>
                <a:cs typeface="Cambria" pitchFamily="34" charset="-120"/>
              </a:rPr>
              <a:t>H4(z)</a:t>
            </a:r>
            <a:endParaRPr lang="en-US" sz="1600" dirty="0"/>
          </a:p>
        </p:txBody>
      </p:sp>
      <p:sp>
        <p:nvSpPr>
          <p:cNvPr id="17" name="Text 14"/>
          <p:cNvSpPr/>
          <p:nvPr/>
        </p:nvSpPr>
        <p:spPr>
          <a:xfrm>
            <a:off x="8828532" y="1874520"/>
            <a:ext cx="347472" cy="777240"/>
          </a:xfrm>
          <a:prstGeom prst="rect">
            <a:avLst/>
          </a:prstGeom>
          <a:noFill/>
          <a:ln/>
        </p:spPr>
        <p:txBody>
          <a:bodyPr wrap="square"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&gt;</a:t>
            </a:r>
            <a:endParaRPr lang="en-US" sz="1600" dirty="0"/>
          </a:p>
        </p:txBody>
      </p:sp>
      <p:sp>
        <p:nvSpPr>
          <p:cNvPr id="18" name="Shape 15"/>
          <p:cNvSpPr/>
          <p:nvPr/>
        </p:nvSpPr>
        <p:spPr>
          <a:xfrm>
            <a:off x="9130284" y="1874520"/>
            <a:ext cx="1691640" cy="777240"/>
          </a:xfrm>
          <a:prstGeom prst="roundRect">
            <a:avLst>
              <a:gd name="adj" fmla="val 9412"/>
            </a:avLst>
          </a:prstGeom>
          <a:solidFill>
            <a:srgbClr val="0B2545"/>
          </a:solidFill>
          <a:ln/>
        </p:spPr>
      </p:sp>
      <p:sp>
        <p:nvSpPr>
          <p:cNvPr id="19" name="Text 16"/>
          <p:cNvSpPr/>
          <p:nvPr/>
        </p:nvSpPr>
        <p:spPr>
          <a:xfrm>
            <a:off x="9130284" y="1874520"/>
            <a:ext cx="1691640" cy="777240"/>
          </a:xfrm>
          <a:prstGeom prst="rect">
            <a:avLst/>
          </a:prstGeom>
          <a:noFill/>
          <a:ln/>
        </p:spPr>
        <p:txBody>
          <a:bodyPr wrap="square" rtlCol="0" anchor="ctr"/>
          <a:lstStyle/>
          <a:p>
            <a:pPr algn="ctr" indent="0" marL="0">
              <a:buNone/>
            </a:pPr>
            <a:r>
              <a:rPr lang="en-US" sz="1600" b="1" dirty="0">
                <a:solidFill>
                  <a:srgbClr val="F2A541"/>
                </a:solidFill>
                <a:latin typeface="Cambria" pitchFamily="34" charset="0"/>
                <a:ea typeface="Cambria" pitchFamily="34" charset="-122"/>
                <a:cs typeface="Cambria" pitchFamily="34" charset="-120"/>
              </a:rPr>
              <a:t>H5(z)</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9235440" cy="3017520"/>
        </p:xfrm>
        <a:graphic>
          <a:graphicData uri="http://schemas.openxmlformats.org/drawingml/2006/table">
            <a:tbl>
              <a:tblPr/>
              <a:tblGrid>
                <a:gridCol w="1280160"/>
                <a:gridCol w="1591056"/>
                <a:gridCol w="1591056"/>
                <a:gridCol w="1591056"/>
                <a:gridCol w="1591056"/>
                <a:gridCol w="1591056"/>
              </a:tblGrid>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Cellule</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b0</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b1</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b2</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a1</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a2</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2545"/>
                    </a:solidFill>
                  </a:tcPr>
                </a:tc>
              </a:tr>
              <a:tr h="502920">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0.2123</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0.0000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-0.2123</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-0.3806</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0.1206</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502920">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2.0000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1.2841</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0.6626</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502920">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-2.0000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-1.6935</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0.8026</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502920">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2.0000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1.7131</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0.9253</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502920">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-2.0000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-1.9060</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B3C"/>
                          </a:solidFill>
                          <a:latin typeface="Calibri" pitchFamily="34" charset="0"/>
                          <a:ea typeface="Calibri" pitchFamily="34" charset="-122"/>
                          <a:cs typeface="Calibri" pitchFamily="34" charset="-120"/>
                        </a:rPr>
                        <a:t>0.9609</a:t>
                      </a:r>
                      <a:endParaRPr lang="en-US" sz="11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21" name="Text 17"/>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A"/>
                </a:solidFill>
                <a:latin typeface="Calibri" pitchFamily="34" charset="0"/>
                <a:ea typeface="Calibri" pitchFamily="34" charset="-122"/>
                <a:cs typeface="Calibri" pitchFamily="34" charset="-120"/>
              </a:rPr>
              <a:t>Projet TTS - Filtre passe-bande RII - Chebyshev I</a:t>
            </a:r>
            <a:endParaRPr lang="en-US" sz="900" dirty="0"/>
          </a:p>
        </p:txBody>
      </p:sp>
      <p:sp>
        <p:nvSpPr>
          <p:cNvPr id="22" name="Text 18"/>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685800" cy="685800"/>
          </a:xfrm>
          <a:prstGeom prst="ellipse">
            <a:avLst/>
          </a:prstGeom>
          <a:solidFill>
            <a:srgbClr val="1C7293"/>
          </a:solidFill>
          <a:ln/>
        </p:spPr>
      </p:sp>
      <p:pic>
        <p:nvPicPr>
          <p:cNvPr id="3" name="Image 0" descr="preencoded.png">    </p:cNvPr>
          <p:cNvPicPr>
            <a:picLocks noChangeAspect="1"/>
          </p:cNvPicPr>
          <p:nvPr/>
        </p:nvPicPr>
        <p:blipFill>
          <a:blip r:embed="rId1"/>
          <a:stretch>
            <a:fillRect/>
          </a:stretch>
        </p:blipFill>
        <p:spPr>
          <a:xfrm>
            <a:off x="688086" y="596646"/>
            <a:ext cx="315468" cy="315468"/>
          </a:xfrm>
          <a:prstGeom prst="rect">
            <a:avLst/>
          </a:prstGeom>
        </p:spPr>
      </p:pic>
      <p:sp>
        <p:nvSpPr>
          <p:cNvPr id="4" name="Text 1"/>
          <p:cNvSpPr/>
          <p:nvPr/>
        </p:nvSpPr>
        <p:spPr>
          <a:xfrm>
            <a:off x="1371600" y="411480"/>
            <a:ext cx="8229600" cy="685800"/>
          </a:xfrm>
          <a:prstGeom prst="rect">
            <a:avLst/>
          </a:prstGeom>
          <a:noFill/>
          <a:ln/>
        </p:spPr>
        <p:txBody>
          <a:bodyPr wrap="square" rtlCol="0" anchor="ctr"/>
          <a:lstStyle/>
          <a:p>
            <a:pPr indent="0" marL="0">
              <a:buNone/>
            </a:pPr>
            <a:r>
              <a:rPr lang="en-US" sz="2400" b="1" dirty="0">
                <a:solidFill>
                  <a:srgbClr val="0B2545"/>
                </a:solidFill>
                <a:latin typeface="Cambria" pitchFamily="34" charset="0"/>
                <a:ea typeface="Cambria" pitchFamily="34" charset="-122"/>
                <a:cs typeface="Cambria" pitchFamily="34" charset="-120"/>
              </a:rPr>
              <a:t>Simulation - signal theorique bruite</a:t>
            </a:r>
            <a:endParaRPr lang="en-US" sz="2400" dirty="0"/>
          </a:p>
        </p:txBody>
      </p:sp>
      <p:pic>
        <p:nvPicPr>
          <p:cNvPr id="5" name="Image 1" descr="/mnt/user-data/outputs/fig2_simulation_theorique.png">    </p:cNvPr>
          <p:cNvPicPr>
            <a:picLocks noChangeAspect="1"/>
          </p:cNvPicPr>
          <p:nvPr/>
        </p:nvPicPr>
        <p:blipFill>
          <a:blip r:embed="rId2"/>
          <a:stretch>
            <a:fillRect/>
          </a:stretch>
        </p:blipFill>
        <p:spPr>
          <a:xfrm>
            <a:off x="457200" y="1234440"/>
            <a:ext cx="6949440" cy="4276578"/>
          </a:xfrm>
          <a:prstGeom prst="rect">
            <a:avLst/>
          </a:prstGeom>
        </p:spPr>
      </p:pic>
      <p:sp>
        <p:nvSpPr>
          <p:cNvPr id="6" name="Text 2"/>
          <p:cNvSpPr/>
          <p:nvPr/>
        </p:nvSpPr>
        <p:spPr>
          <a:xfrm>
            <a:off x="7680960" y="1325880"/>
            <a:ext cx="4023360" cy="365760"/>
          </a:xfrm>
          <a:prstGeom prst="rect">
            <a:avLst/>
          </a:prstGeom>
          <a:noFill/>
          <a:ln/>
        </p:spPr>
        <p:txBody>
          <a:bodyPr wrap="square"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Composition du signal</a:t>
            </a:r>
            <a:endParaRPr lang="en-US" sz="1400" dirty="0"/>
          </a:p>
        </p:txBody>
      </p:sp>
      <p:sp>
        <p:nvSpPr>
          <p:cNvPr id="7" name="Shape 3"/>
          <p:cNvSpPr/>
          <p:nvPr/>
        </p:nvSpPr>
        <p:spPr>
          <a:xfrm>
            <a:off x="7680960" y="1792224"/>
            <a:ext cx="91440" cy="91440"/>
          </a:xfrm>
          <a:prstGeom prst="ellipse">
            <a:avLst/>
          </a:prstGeom>
          <a:solidFill>
            <a:srgbClr val="1C7293"/>
          </a:solidFill>
          <a:ln/>
        </p:spPr>
      </p:sp>
      <p:sp>
        <p:nvSpPr>
          <p:cNvPr id="8" name="Text 4"/>
          <p:cNvSpPr/>
          <p:nvPr/>
        </p:nvSpPr>
        <p:spPr>
          <a:xfrm>
            <a:off x="7909560" y="1682496"/>
            <a:ext cx="3794760" cy="32004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Tonalite utile : 1000 Hz (dans la bande)</a:t>
            </a:r>
            <a:endParaRPr lang="en-US" sz="1100" dirty="0"/>
          </a:p>
        </p:txBody>
      </p:sp>
      <p:sp>
        <p:nvSpPr>
          <p:cNvPr id="9" name="Shape 5"/>
          <p:cNvSpPr/>
          <p:nvPr/>
        </p:nvSpPr>
        <p:spPr>
          <a:xfrm>
            <a:off x="7680960" y="2176272"/>
            <a:ext cx="91440" cy="91440"/>
          </a:xfrm>
          <a:prstGeom prst="ellipse">
            <a:avLst/>
          </a:prstGeom>
          <a:solidFill>
            <a:srgbClr val="1C7293"/>
          </a:solidFill>
          <a:ln/>
        </p:spPr>
      </p:sp>
      <p:sp>
        <p:nvSpPr>
          <p:cNvPr id="10" name="Text 6"/>
          <p:cNvSpPr/>
          <p:nvPr/>
        </p:nvSpPr>
        <p:spPr>
          <a:xfrm>
            <a:off x="7909560" y="2066544"/>
            <a:ext cx="3794760" cy="32004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Parasite 60 Hz (ronflement secteur)</a:t>
            </a:r>
            <a:endParaRPr lang="en-US" sz="1100" dirty="0"/>
          </a:p>
        </p:txBody>
      </p:sp>
      <p:sp>
        <p:nvSpPr>
          <p:cNvPr id="11" name="Shape 7"/>
          <p:cNvSpPr/>
          <p:nvPr/>
        </p:nvSpPr>
        <p:spPr>
          <a:xfrm>
            <a:off x="7680960" y="2560320"/>
            <a:ext cx="91440" cy="91440"/>
          </a:xfrm>
          <a:prstGeom prst="ellipse">
            <a:avLst/>
          </a:prstGeom>
          <a:solidFill>
            <a:srgbClr val="1C7293"/>
          </a:solidFill>
          <a:ln/>
        </p:spPr>
      </p:sp>
      <p:sp>
        <p:nvSpPr>
          <p:cNvPr id="12" name="Text 8"/>
          <p:cNvSpPr/>
          <p:nvPr/>
        </p:nvSpPr>
        <p:spPr>
          <a:xfrm>
            <a:off x="7909560" y="2450592"/>
            <a:ext cx="3794760" cy="32004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Sifflement 4500 Hz (hors bande)</a:t>
            </a:r>
            <a:endParaRPr lang="en-US" sz="1100" dirty="0"/>
          </a:p>
        </p:txBody>
      </p:sp>
      <p:sp>
        <p:nvSpPr>
          <p:cNvPr id="13" name="Shape 9"/>
          <p:cNvSpPr/>
          <p:nvPr/>
        </p:nvSpPr>
        <p:spPr>
          <a:xfrm>
            <a:off x="7680960" y="2944368"/>
            <a:ext cx="91440" cy="91440"/>
          </a:xfrm>
          <a:prstGeom prst="ellipse">
            <a:avLst/>
          </a:prstGeom>
          <a:solidFill>
            <a:srgbClr val="1C7293"/>
          </a:solidFill>
          <a:ln/>
        </p:spPr>
      </p:sp>
      <p:sp>
        <p:nvSpPr>
          <p:cNvPr id="14" name="Text 10"/>
          <p:cNvSpPr/>
          <p:nvPr/>
        </p:nvSpPr>
        <p:spPr>
          <a:xfrm>
            <a:off x="7909560" y="2834640"/>
            <a:ext cx="3794760" cy="32004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Bruit blanc gaussien</a:t>
            </a:r>
            <a:endParaRPr lang="en-US" sz="1100" dirty="0"/>
          </a:p>
        </p:txBody>
      </p:sp>
      <p:sp>
        <p:nvSpPr>
          <p:cNvPr id="15" name="Shape 11"/>
          <p:cNvSpPr/>
          <p:nvPr/>
        </p:nvSpPr>
        <p:spPr>
          <a:xfrm>
            <a:off x="7680960" y="3502152"/>
            <a:ext cx="4023360" cy="1554480"/>
          </a:xfrm>
          <a:prstGeom prst="roundRect">
            <a:avLst>
              <a:gd name="adj" fmla="val 4706"/>
            </a:avLst>
          </a:prstGeom>
          <a:solidFill>
            <a:srgbClr val="0B2545"/>
          </a:solidFill>
          <a:ln/>
        </p:spPr>
      </p:sp>
      <p:sp>
        <p:nvSpPr>
          <p:cNvPr id="16" name="Text 12"/>
          <p:cNvSpPr/>
          <p:nvPr/>
        </p:nvSpPr>
        <p:spPr>
          <a:xfrm>
            <a:off x="7909560" y="3639312"/>
            <a:ext cx="3566160" cy="320040"/>
          </a:xfrm>
          <a:prstGeom prst="rect">
            <a:avLst/>
          </a:prstGeom>
          <a:noFill/>
          <a:ln/>
        </p:spPr>
        <p:txBody>
          <a:bodyPr wrap="square" rtlCol="0" anchor="ctr"/>
          <a:lstStyle/>
          <a:p>
            <a:pPr indent="0" marL="0">
              <a:buNone/>
            </a:pPr>
            <a:r>
              <a:rPr lang="en-US" sz="1200" dirty="0">
                <a:solidFill>
                  <a:srgbClr val="8FAFC2"/>
                </a:solidFill>
                <a:latin typeface="Calibri" pitchFamily="34" charset="0"/>
                <a:ea typeface="Calibri" pitchFamily="34" charset="-122"/>
                <a:cs typeface="Calibri" pitchFamily="34" charset="-120"/>
              </a:rPr>
              <a:t>Gain SNR</a:t>
            </a:r>
            <a:endParaRPr lang="en-US" sz="1200" dirty="0"/>
          </a:p>
        </p:txBody>
      </p:sp>
      <p:sp>
        <p:nvSpPr>
          <p:cNvPr id="17" name="Text 13"/>
          <p:cNvSpPr/>
          <p:nvPr/>
        </p:nvSpPr>
        <p:spPr>
          <a:xfrm>
            <a:off x="7909560" y="3913632"/>
            <a:ext cx="3566160" cy="502920"/>
          </a:xfrm>
          <a:prstGeom prst="rect">
            <a:avLst/>
          </a:prstGeom>
          <a:noFill/>
          <a:ln/>
        </p:spPr>
        <p:txBody>
          <a:bodyPr wrap="square" rtlCol="0" anchor="ctr"/>
          <a:lstStyle/>
          <a:p>
            <a:pPr indent="0" marL="0">
              <a:buNone/>
            </a:pPr>
            <a:r>
              <a:rPr lang="en-US" sz="2000" b="1" dirty="0">
                <a:solidFill>
                  <a:srgbClr val="F2A541"/>
                </a:solidFill>
                <a:latin typeface="Cambria" pitchFamily="34" charset="0"/>
                <a:ea typeface="Cambria" pitchFamily="34" charset="-122"/>
                <a:cs typeface="Cambria" pitchFamily="34" charset="-120"/>
              </a:rPr>
              <a:t>1.48 dB  →  10.61 dB</a:t>
            </a:r>
            <a:endParaRPr lang="en-US" sz="2000" dirty="0"/>
          </a:p>
        </p:txBody>
      </p:sp>
      <p:sp>
        <p:nvSpPr>
          <p:cNvPr id="18" name="Text 14"/>
          <p:cNvSpPr/>
          <p:nvPr/>
        </p:nvSpPr>
        <p:spPr>
          <a:xfrm>
            <a:off x="7909560" y="4462272"/>
            <a:ext cx="3566160" cy="365760"/>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+9.1 dB apres filtrage</a:t>
            </a:r>
            <a:endParaRPr lang="en-US" sz="1150" dirty="0"/>
          </a:p>
        </p:txBody>
      </p:sp>
      <p:sp>
        <p:nvSpPr>
          <p:cNvPr id="19" name="Text 15"/>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A"/>
                </a:solidFill>
                <a:latin typeface="Calibri" pitchFamily="34" charset="0"/>
                <a:ea typeface="Calibri" pitchFamily="34" charset="-122"/>
                <a:cs typeface="Calibri" pitchFamily="34" charset="-120"/>
              </a:rPr>
              <a:t>Projet TTS - Filtre passe-bande RII - Chebyshev I</a:t>
            </a:r>
            <a:endParaRPr lang="en-US" sz="900" dirty="0"/>
          </a:p>
        </p:txBody>
      </p:sp>
      <p:sp>
        <p:nvSpPr>
          <p:cNvPr id="20" name="Text 16"/>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7F1F5"/>
        </a:solidFill>
      </p:bgPr>
    </p:bg>
    <p:spTree>
      <p:nvGrpSpPr>
        <p:cNvPr id="1" name=""/>
        <p:cNvGrpSpPr/>
        <p:nvPr/>
      </p:nvGrpSpPr>
      <p:grpSpPr>
        <a:xfrm>
          <a:off x="0" y="0"/>
          <a:ext cx="0" cy="0"/>
          <a:chOff x="0" y="0"/>
          <a:chExt cx="0" cy="0"/>
        </a:xfrm>
      </p:grpSpPr>
      <p:sp>
        <p:nvSpPr>
          <p:cNvPr id="2" name="Shape 0"/>
          <p:cNvSpPr/>
          <p:nvPr/>
        </p:nvSpPr>
        <p:spPr>
          <a:xfrm>
            <a:off x="502920" y="411480"/>
            <a:ext cx="685800" cy="685800"/>
          </a:xfrm>
          <a:prstGeom prst="ellipse">
            <a:avLst/>
          </a:prstGeom>
          <a:solidFill>
            <a:srgbClr val="1C7293"/>
          </a:solidFill>
          <a:ln/>
        </p:spPr>
      </p:sp>
      <p:pic>
        <p:nvPicPr>
          <p:cNvPr id="3" name="Image 0" descr="preencoded.png">    </p:cNvPr>
          <p:cNvPicPr>
            <a:picLocks noChangeAspect="1"/>
          </p:cNvPicPr>
          <p:nvPr/>
        </p:nvPicPr>
        <p:blipFill>
          <a:blip r:embed="rId1"/>
          <a:stretch>
            <a:fillRect/>
          </a:stretch>
        </p:blipFill>
        <p:spPr>
          <a:xfrm>
            <a:off x="688086" y="596646"/>
            <a:ext cx="315468" cy="315468"/>
          </a:xfrm>
          <a:prstGeom prst="rect">
            <a:avLst/>
          </a:prstGeom>
        </p:spPr>
      </p:pic>
      <p:sp>
        <p:nvSpPr>
          <p:cNvPr id="4" name="Text 1"/>
          <p:cNvSpPr/>
          <p:nvPr/>
        </p:nvSpPr>
        <p:spPr>
          <a:xfrm>
            <a:off x="1371600" y="411480"/>
            <a:ext cx="8229600" cy="685800"/>
          </a:xfrm>
          <a:prstGeom prst="rect">
            <a:avLst/>
          </a:prstGeom>
          <a:noFill/>
          <a:ln/>
        </p:spPr>
        <p:txBody>
          <a:bodyPr wrap="square" rtlCol="0" anchor="ctr"/>
          <a:lstStyle/>
          <a:p>
            <a:pPr indent="0" marL="0">
              <a:buNone/>
            </a:pPr>
            <a:r>
              <a:rPr lang="en-US" sz="2400" b="1" dirty="0">
                <a:solidFill>
                  <a:srgbClr val="0B2545"/>
                </a:solidFill>
                <a:latin typeface="Cambria" pitchFamily="34" charset="0"/>
                <a:ea typeface="Cambria" pitchFamily="34" charset="-122"/>
                <a:cs typeface="Cambria" pitchFamily="34" charset="-120"/>
              </a:rPr>
              <a:t>Application a un signal reel</a:t>
            </a:r>
            <a:endParaRPr lang="en-US" sz="2400" dirty="0"/>
          </a:p>
        </p:txBody>
      </p:sp>
      <p:pic>
        <p:nvPicPr>
          <p:cNvPr id="5" name="Image 1" descr="/mnt/user-data/outputs/fig3_simulation_reelle.png">    </p:cNvPr>
          <p:cNvPicPr>
            <a:picLocks noChangeAspect="1"/>
          </p:cNvPicPr>
          <p:nvPr/>
        </p:nvPicPr>
        <p:blipFill>
          <a:blip r:embed="rId2"/>
          <a:stretch>
            <a:fillRect/>
          </a:stretch>
        </p:blipFill>
        <p:spPr>
          <a:xfrm>
            <a:off x="457200" y="1188720"/>
            <a:ext cx="6766560" cy="4306071"/>
          </a:xfrm>
          <a:prstGeom prst="rect">
            <a:avLst/>
          </a:prstGeom>
        </p:spPr>
      </p:pic>
      <p:sp>
        <p:nvSpPr>
          <p:cNvPr id="6" name="Shape 2"/>
          <p:cNvSpPr/>
          <p:nvPr/>
        </p:nvSpPr>
        <p:spPr>
          <a:xfrm>
            <a:off x="7589520" y="1280160"/>
            <a:ext cx="4114800" cy="4206240"/>
          </a:xfrm>
          <a:prstGeom prst="roundRect">
            <a:avLst>
              <a:gd name="adj" fmla="val 1778"/>
            </a:avLst>
          </a:prstGeom>
          <a:solidFill>
            <a:srgbClr val="FFFFFF"/>
          </a:solidFill>
          <a:ln/>
        </p:spPr>
      </p:sp>
      <p:sp>
        <p:nvSpPr>
          <p:cNvPr id="7" name="Text 3"/>
          <p:cNvSpPr/>
          <p:nvPr/>
        </p:nvSpPr>
        <p:spPr>
          <a:xfrm>
            <a:off x="7863840" y="1508760"/>
            <a:ext cx="3566160" cy="640080"/>
          </a:xfrm>
          <a:prstGeom prst="rect">
            <a:avLst/>
          </a:prstGeom>
          <a:noFill/>
          <a:ln/>
        </p:spPr>
        <p:txBody>
          <a:bodyPr wrap="square"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Signal de type vocal synthetique</a:t>
            </a:r>
            <a:endParaRPr lang="en-US" sz="1400" dirty="0"/>
          </a:p>
        </p:txBody>
      </p:sp>
      <p:sp>
        <p:nvSpPr>
          <p:cNvPr id="8" name="Text 4"/>
          <p:cNvSpPr/>
          <p:nvPr/>
        </p:nvSpPr>
        <p:spPr>
          <a:xfrm>
            <a:off x="7863840" y="2148840"/>
            <a:ext cx="3566160" cy="1554480"/>
          </a:xfrm>
          <a:prstGeom prst="rect">
            <a:avLst/>
          </a:prstGeom>
          <a:noFill/>
          <a:ln/>
        </p:spPr>
        <p:txBody>
          <a:bodyPr wrap="square" rtlCol="0" anchor="t"/>
          <a:lstStyle/>
          <a:p>
            <a:pPr indent="0" marL="0">
              <a:buNone/>
            </a:pPr>
            <a:r>
              <a:rPr lang="en-US" sz="1150" dirty="0">
                <a:solidFill>
                  <a:srgbClr val="1A2B3C"/>
                </a:solidFill>
                <a:latin typeface="Calibri" pitchFamily="34" charset="0"/>
                <a:ea typeface="Calibri" pitchFamily="34" charset="-122"/>
                <a:cs typeface="Calibri" pitchFamily="34" charset="-120"/>
              </a:rPr>
              <a:t>En l'absence d'un enregistrement reel fourni, un signal vocal synthetique a ete cree : fondamentale 120 Hz + 3 formants vocaliques (500, 1500, 2500 Hz), degrade par un ronflement 50 Hz, une tonalite 4000 Hz et un bruit de ligne.</a:t>
            </a:r>
            <a:endParaRPr lang="en-US" sz="1150" dirty="0"/>
          </a:p>
        </p:txBody>
      </p:sp>
      <p:sp>
        <p:nvSpPr>
          <p:cNvPr id="9" name="Text 5"/>
          <p:cNvSpPr/>
          <p:nvPr/>
        </p:nvSpPr>
        <p:spPr>
          <a:xfrm>
            <a:off x="7863840" y="3703320"/>
            <a:ext cx="3566160" cy="914400"/>
          </a:xfrm>
          <a:prstGeom prst="rect">
            <a:avLst/>
          </a:prstGeom>
          <a:noFill/>
          <a:ln/>
        </p:spPr>
        <p:txBody>
          <a:bodyPr wrap="square" rtlCol="0" anchor="t"/>
          <a:lstStyle/>
          <a:p>
            <a:pPr indent="0" marL="0">
              <a:buNone/>
            </a:pPr>
            <a:r>
              <a:rPr lang="en-US" sz="1150" i="1" dirty="0">
                <a:solidFill>
                  <a:srgbClr val="1C7293"/>
                </a:solidFill>
                <a:latin typeface="Calibri" pitchFamily="34" charset="0"/>
                <a:ea typeface="Calibri" pitchFamily="34" charset="-122"/>
                <a:cs typeface="Calibri" pitchFamily="34" charset="-120"/>
              </a:rPr>
              <a:t>Le programme Python accepte aussi un fichier audio reel (.wav) en remplacement, pour une validation sur donnees authentiques.</a:t>
            </a:r>
            <a:endParaRPr lang="en-US" sz="1150" dirty="0"/>
          </a:p>
        </p:txBody>
      </p:sp>
      <p:sp>
        <p:nvSpPr>
          <p:cNvPr id="10" name="Text 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A"/>
                </a:solidFill>
                <a:latin typeface="Calibri" pitchFamily="34" charset="0"/>
                <a:ea typeface="Calibri" pitchFamily="34" charset="-122"/>
                <a:cs typeface="Calibri" pitchFamily="34" charset="-120"/>
              </a:rPr>
              <a:t>Projet TTS - Filtre passe-bande RII - Chebyshev I</a:t>
            </a:r>
            <a:endParaRPr lang="en-US" sz="900" dirty="0"/>
          </a:p>
        </p:txBody>
      </p:sp>
      <p:sp>
        <p:nvSpPr>
          <p:cNvPr id="11" name="Text 7"/>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F2A541"/>
          </a:solidFill>
          <a:ln/>
        </p:spPr>
      </p:sp>
      <p:pic>
        <p:nvPicPr>
          <p:cNvPr id="3" name="Image 0" descr="preencoded.png">    </p:cNvPr>
          <p:cNvPicPr>
            <a:picLocks noChangeAspect="1"/>
          </p:cNvPicPr>
          <p:nvPr/>
        </p:nvPicPr>
        <p:blipFill>
          <a:blip r:embed="rId1"/>
          <a:stretch>
            <a:fillRect/>
          </a:stretch>
        </p:blipFill>
        <p:spPr>
          <a:xfrm>
            <a:off x="758495" y="712775"/>
            <a:ext cx="357530" cy="357530"/>
          </a:xfrm>
          <a:prstGeom prst="rect">
            <a:avLst/>
          </a:prstGeom>
        </p:spPr>
      </p:pic>
      <p:sp>
        <p:nvSpPr>
          <p:cNvPr id="4" name="Text 1"/>
          <p:cNvSpPr/>
          <p:nvPr/>
        </p:nvSpPr>
        <p:spPr>
          <a:xfrm>
            <a:off x="1554480" y="502920"/>
            <a:ext cx="9144000" cy="7772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et perspectives</a:t>
            </a:r>
            <a:endParaRPr lang="en-US" sz="3000" dirty="0"/>
          </a:p>
        </p:txBody>
      </p:sp>
      <p:sp>
        <p:nvSpPr>
          <p:cNvPr id="5" name="Shape 2"/>
          <p:cNvSpPr/>
          <p:nvPr/>
        </p:nvSpPr>
        <p:spPr>
          <a:xfrm>
            <a:off x="640080" y="1892808"/>
            <a:ext cx="128016" cy="128016"/>
          </a:xfrm>
          <a:prstGeom prst="ellipse">
            <a:avLst/>
          </a:prstGeom>
          <a:solidFill>
            <a:srgbClr val="F2A541"/>
          </a:solidFill>
          <a:ln/>
        </p:spPr>
      </p:sp>
      <p:sp>
        <p:nvSpPr>
          <p:cNvPr id="6" name="Text 3"/>
          <p:cNvSpPr/>
          <p:nvPr/>
        </p:nvSpPr>
        <p:spPr>
          <a:xfrm>
            <a:off x="914400" y="1783080"/>
            <a:ext cx="5303520" cy="822960"/>
          </a:xfrm>
          <a:prstGeom prst="rect">
            <a:avLst/>
          </a:prstGeom>
          <a:noFill/>
          <a:ln/>
        </p:spPr>
        <p:txBody>
          <a:bodyPr wrap="square" rtlCol="0" anchor="t"/>
          <a:lstStyle/>
          <a:p>
            <a:pPr indent="0" marL="0">
              <a:buNone/>
            </a:pPr>
            <a:r>
              <a:rPr lang="en-US" sz="1300" dirty="0">
                <a:solidFill>
                  <a:srgbClr val="DCE8EF"/>
                </a:solidFill>
                <a:latin typeface="Calibri" pitchFamily="34" charset="0"/>
                <a:ea typeface="Calibri" pitchFamily="34" charset="-122"/>
                <a:cs typeface="Calibri" pitchFamily="34" charset="-120"/>
              </a:rPr>
              <a:t>Synthese complete d'un filtre RII passe-bande par approximation de Chebyshev I</a:t>
            </a:r>
            <a:endParaRPr lang="en-US" sz="1300" dirty="0"/>
          </a:p>
        </p:txBody>
      </p:sp>
      <p:sp>
        <p:nvSpPr>
          <p:cNvPr id="7" name="Shape 4"/>
          <p:cNvSpPr/>
          <p:nvPr/>
        </p:nvSpPr>
        <p:spPr>
          <a:xfrm>
            <a:off x="640080" y="2852928"/>
            <a:ext cx="128016" cy="128016"/>
          </a:xfrm>
          <a:prstGeom prst="ellipse">
            <a:avLst/>
          </a:prstGeom>
          <a:solidFill>
            <a:srgbClr val="F2A541"/>
          </a:solidFill>
          <a:ln/>
        </p:spPr>
      </p:sp>
      <p:sp>
        <p:nvSpPr>
          <p:cNvPr id="8" name="Text 5"/>
          <p:cNvSpPr/>
          <p:nvPr/>
        </p:nvSpPr>
        <p:spPr>
          <a:xfrm>
            <a:off x="914400" y="2743200"/>
            <a:ext cx="5303520" cy="822960"/>
          </a:xfrm>
          <a:prstGeom prst="rect">
            <a:avLst/>
          </a:prstGeom>
          <a:noFill/>
          <a:ln/>
        </p:spPr>
        <p:txBody>
          <a:bodyPr wrap="square" rtlCol="0" anchor="t"/>
          <a:lstStyle/>
          <a:p>
            <a:pPr indent="0" marL="0">
              <a:buNone/>
            </a:pPr>
            <a:r>
              <a:rPr lang="en-US" sz="1300" dirty="0">
                <a:solidFill>
                  <a:srgbClr val="DCE8EF"/>
                </a:solidFill>
                <a:latin typeface="Calibri" pitchFamily="34" charset="0"/>
                <a:ea typeface="Calibri" pitchFamily="34" charset="-122"/>
                <a:cs typeface="Calibri" pitchFamily="34" charset="-120"/>
              </a:rPr>
              <a:t>Gabarit realiste (canal vocal telephonique, Fe = 8000 Hz) entierement respecte</a:t>
            </a:r>
            <a:endParaRPr lang="en-US" sz="1300" dirty="0"/>
          </a:p>
        </p:txBody>
      </p:sp>
      <p:sp>
        <p:nvSpPr>
          <p:cNvPr id="9" name="Shape 6"/>
          <p:cNvSpPr/>
          <p:nvPr/>
        </p:nvSpPr>
        <p:spPr>
          <a:xfrm>
            <a:off x="640080" y="3813048"/>
            <a:ext cx="128016" cy="128016"/>
          </a:xfrm>
          <a:prstGeom prst="ellipse">
            <a:avLst/>
          </a:prstGeom>
          <a:solidFill>
            <a:srgbClr val="F2A541"/>
          </a:solidFill>
          <a:ln/>
        </p:spPr>
      </p:sp>
      <p:sp>
        <p:nvSpPr>
          <p:cNvPr id="10" name="Text 7"/>
          <p:cNvSpPr/>
          <p:nvPr/>
        </p:nvSpPr>
        <p:spPr>
          <a:xfrm>
            <a:off x="914400" y="3703320"/>
            <a:ext cx="5303520" cy="822960"/>
          </a:xfrm>
          <a:prstGeom prst="rect">
            <a:avLst/>
          </a:prstGeom>
          <a:noFill/>
          <a:ln/>
        </p:spPr>
        <p:txBody>
          <a:bodyPr wrap="square" rtlCol="0" anchor="t"/>
          <a:lstStyle/>
          <a:p>
            <a:pPr indent="0" marL="0">
              <a:buNone/>
            </a:pPr>
            <a:r>
              <a:rPr lang="en-US" sz="1300" dirty="0">
                <a:solidFill>
                  <a:srgbClr val="DCE8EF"/>
                </a:solidFill>
                <a:latin typeface="Calibri" pitchFamily="34" charset="0"/>
                <a:ea typeface="Calibri" pitchFamily="34" charset="-122"/>
                <a:cs typeface="Calibri" pitchFamily="34" charset="-120"/>
              </a:rPr>
              <a:t>Filtre stable, ordre 10, implemente en cascade de 5 cellules biquadratiques</a:t>
            </a:r>
            <a:endParaRPr lang="en-US" sz="1300" dirty="0"/>
          </a:p>
        </p:txBody>
      </p:sp>
      <p:sp>
        <p:nvSpPr>
          <p:cNvPr id="11" name="Shape 8"/>
          <p:cNvSpPr/>
          <p:nvPr/>
        </p:nvSpPr>
        <p:spPr>
          <a:xfrm>
            <a:off x="6492240" y="1783080"/>
            <a:ext cx="5120640" cy="3383280"/>
          </a:xfrm>
          <a:prstGeom prst="roundRect">
            <a:avLst>
              <a:gd name="adj" fmla="val 2703"/>
            </a:avLst>
          </a:prstGeom>
          <a:solidFill>
            <a:srgbClr val="13315C"/>
          </a:solidFill>
          <a:ln/>
        </p:spPr>
      </p:sp>
      <p:sp>
        <p:nvSpPr>
          <p:cNvPr id="12" name="Text 9"/>
          <p:cNvSpPr/>
          <p:nvPr/>
        </p:nvSpPr>
        <p:spPr>
          <a:xfrm>
            <a:off x="6766560" y="1965960"/>
            <a:ext cx="4572000" cy="411480"/>
          </a:xfrm>
          <a:prstGeom prst="rect">
            <a:avLst/>
          </a:prstGeom>
          <a:noFill/>
          <a:ln/>
        </p:spPr>
        <p:txBody>
          <a:bodyPr wrap="square" rtlCol="0" anchor="ctr"/>
          <a:lstStyle/>
          <a:p>
            <a:pPr indent="0" marL="0">
              <a:buNone/>
            </a:pPr>
            <a:r>
              <a:rPr lang="en-US" sz="1500" b="1" dirty="0">
                <a:solidFill>
                  <a:srgbClr val="F2A541"/>
                </a:solidFill>
                <a:latin typeface="Calibri" pitchFamily="34" charset="0"/>
                <a:ea typeface="Calibri" pitchFamily="34" charset="-122"/>
                <a:cs typeface="Calibri" pitchFamily="34" charset="-120"/>
              </a:rPr>
              <a:t>Perspectives</a:t>
            </a:r>
            <a:endParaRPr lang="en-US" sz="1500" dirty="0"/>
          </a:p>
        </p:txBody>
      </p:sp>
      <p:sp>
        <p:nvSpPr>
          <p:cNvPr id="13" name="Text 10"/>
          <p:cNvSpPr/>
          <p:nvPr/>
        </p:nvSpPr>
        <p:spPr>
          <a:xfrm>
            <a:off x="6766560" y="2468880"/>
            <a:ext cx="4572000" cy="2468880"/>
          </a:xfrm>
          <a:prstGeom prst="rect">
            <a:avLst/>
          </a:prstGeom>
          <a:noFill/>
          <a:ln/>
        </p:spPr>
        <p:txBody>
          <a:bodyPr wrap="square" rtlCol="0" anchor="t"/>
          <a:lstStyle/>
          <a:p>
            <a:pPr marL="342900" indent="-342900">
              <a:spcAft>
                <a:spcPts val="1800"/>
              </a:spcAft>
              <a:buSzPct val="100000"/>
              <a:buChar char="•"/>
            </a:pPr>
            <a:r>
              <a:rPr lang="en-US" sz="1250" dirty="0">
                <a:solidFill>
                  <a:srgbClr val="DCE8EF"/>
                </a:solidFill>
                <a:latin typeface="Calibri" pitchFamily="34" charset="0"/>
                <a:ea typeface="Calibri" pitchFamily="34" charset="-122"/>
                <a:cs typeface="Calibri" pitchFamily="34" charset="-120"/>
              </a:rPr>
              <a:t>Tester le filtre sur un enregistrement audio reellement capture</a:t>
            </a:r>
            <a:endParaRPr lang="en-US" sz="1250" dirty="0"/>
          </a:p>
          <a:p>
            <a:pPr marL="342900" indent="-342900">
              <a:spcAft>
                <a:spcPts val="1800"/>
              </a:spcAft>
              <a:buSzPct val="100000"/>
              <a:buChar char="•"/>
            </a:pPr>
            <a:r>
              <a:rPr lang="en-US" sz="1250" dirty="0">
                <a:solidFill>
                  <a:srgbClr val="DCE8EF"/>
                </a:solidFill>
                <a:latin typeface="Calibri" pitchFamily="34" charset="0"/>
                <a:ea typeface="Calibri" pitchFamily="34" charset="-122"/>
                <a:cs typeface="Calibri" pitchFamily="34" charset="-120"/>
              </a:rPr>
              <a:t>Comparer avec une approximation de Butterworth ou Chebyshev type II</a:t>
            </a:r>
            <a:endParaRPr lang="en-US" sz="1250" dirty="0"/>
          </a:p>
          <a:p>
            <a:pPr marL="342900" indent="-342900">
              <a:spcAft>
                <a:spcPts val="1800"/>
              </a:spcAft>
              <a:buSzPct val="100000"/>
              <a:buChar char="•"/>
            </a:pPr>
            <a:r>
              <a:rPr lang="en-US" sz="1250" dirty="0">
                <a:solidFill>
                  <a:srgbClr val="DCE8EF"/>
                </a:solidFill>
                <a:latin typeface="Calibri" pitchFamily="34" charset="0"/>
                <a:ea typeface="Calibri" pitchFamily="34" charset="-122"/>
                <a:cs typeface="Calibri" pitchFamily="34" charset="-120"/>
              </a:rPr>
              <a:t>Implementer la cascade en temps reel (DSP / microcontroleur)</a:t>
            </a:r>
            <a:endParaRPr lang="en-US" sz="1250" dirty="0"/>
          </a:p>
        </p:txBody>
      </p:sp>
      <p:sp>
        <p:nvSpPr>
          <p:cNvPr id="14" name="Text 11"/>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A"/>
                </a:solidFill>
                <a:latin typeface="Calibri" pitchFamily="34" charset="0"/>
                <a:ea typeface="Calibri" pitchFamily="34" charset="-122"/>
                <a:cs typeface="Calibri" pitchFamily="34" charset="-120"/>
              </a:rPr>
              <a:t>Projet TTS - Filtre passe-bande RII - Chebyshev I</a:t>
            </a:r>
            <a:endParaRPr lang="en-US" sz="900" dirty="0"/>
          </a:p>
        </p:txBody>
      </p:sp>
      <p:sp>
        <p:nvSpPr>
          <p:cNvPr id="15" name="Text 12"/>
          <p:cNvSpPr/>
          <p:nvPr/>
        </p:nvSpPr>
        <p:spPr>
          <a:xfrm>
            <a:off x="11247120" y="6473952"/>
            <a:ext cx="457200" cy="274320"/>
          </a:xfrm>
          <a:prstGeom prst="rect">
            <a:avLst/>
          </a:prstGeom>
          <a:noFill/>
          <a:ln/>
        </p:spPr>
        <p:txBody>
          <a:bodyPr wrap="square" rtlCol="0" anchor="ctr"/>
          <a:lstStyle/>
          <a:p>
            <a:pPr algn="r" indent="0" marL="0">
              <a:buNone/>
            </a:pPr>
            <a:r>
              <a:rPr lang="en-US" sz="900" dirty="0">
                <a:solidFill>
                  <a:srgbClr val="5B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5623560" y="1554480"/>
            <a:ext cx="914400" cy="914400"/>
          </a:xfrm>
          <a:prstGeom prst="ellipse">
            <a:avLst/>
          </a:prstGeom>
          <a:solidFill>
            <a:srgbClr val="F2A541"/>
          </a:solidFill>
          <a:ln/>
        </p:spPr>
      </p:sp>
      <p:pic>
        <p:nvPicPr>
          <p:cNvPr id="3" name="Image 0" descr="preencoded.png">    </p:cNvPr>
          <p:cNvPicPr>
            <a:picLocks noChangeAspect="1"/>
          </p:cNvPicPr>
          <p:nvPr/>
        </p:nvPicPr>
        <p:blipFill>
          <a:blip r:embed="rId1"/>
          <a:stretch>
            <a:fillRect/>
          </a:stretch>
        </p:blipFill>
        <p:spPr>
          <a:xfrm>
            <a:off x="5870448" y="1801368"/>
            <a:ext cx="420624" cy="420624"/>
          </a:xfrm>
          <a:prstGeom prst="rect">
            <a:avLst/>
          </a:prstGeom>
        </p:spPr>
      </p:pic>
      <p:sp>
        <p:nvSpPr>
          <p:cNvPr id="4" name="Text 1"/>
          <p:cNvSpPr/>
          <p:nvPr/>
        </p:nvSpPr>
        <p:spPr>
          <a:xfrm>
            <a:off x="0" y="2834640"/>
            <a:ext cx="12161520" cy="73152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Merci de votre attention</a:t>
            </a:r>
            <a:endParaRPr lang="en-US" sz="3200" dirty="0"/>
          </a:p>
        </p:txBody>
      </p:sp>
      <p:sp>
        <p:nvSpPr>
          <p:cNvPr id="5" name="Text 2"/>
          <p:cNvSpPr/>
          <p:nvPr/>
        </p:nvSpPr>
        <p:spPr>
          <a:xfrm>
            <a:off x="0" y="3520440"/>
            <a:ext cx="12161520" cy="457200"/>
          </a:xfrm>
          <a:prstGeom prst="rect">
            <a:avLst/>
          </a:prstGeom>
          <a:noFill/>
          <a:ln/>
        </p:spPr>
        <p:txBody>
          <a:bodyPr wrap="square" rtlCol="0" anchor="ctr"/>
          <a:lstStyle/>
          <a:p>
            <a:pPr algn="ctr" indent="0" marL="0">
              <a:buNone/>
            </a:pPr>
            <a:r>
              <a:rPr lang="en-US" sz="1600" dirty="0">
                <a:solidFill>
                  <a:srgbClr val="8FAFC2"/>
                </a:solidFill>
                <a:latin typeface="Calibri" pitchFamily="34" charset="0"/>
                <a:ea typeface="Calibri" pitchFamily="34" charset="-122"/>
                <a:cs typeface="Calibri" pitchFamily="34" charset="-120"/>
              </a:rPr>
              <a:t>Questions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TTS - Conception de filtre numerique</dc:title>
  <dc:subject>PptxGenJS Presentation</dc:subject>
  <dc:creator>Mariane</dc:creator>
  <cp:lastModifiedBy>Mariane</cp:lastModifiedBy>
  <cp:revision>1</cp:revision>
  <dcterms:created xsi:type="dcterms:W3CDTF">2026-06-17T21:03:54Z</dcterms:created>
  <dcterms:modified xsi:type="dcterms:W3CDTF">2026-06-17T21:03:54Z</dcterms:modified>
</cp:coreProperties>
</file>