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039" autoAdjust="0"/>
  </p:normalViewPr>
  <p:slideViewPr>
    <p:cSldViewPr snapToGrid="0" snapToObjects="1">
      <p:cViewPr varScale="1">
        <p:scale>
          <a:sx n="64" d="100"/>
          <a:sy n="64" d="100"/>
        </p:scale>
        <p:origin x="139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22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bilan de puissance consiste à vérifier que la puissance reçue reste toujours supérieure à la sensibilité minimale du récepteur. C'est un inventaire complet de toutes les pertes entre l'émetteur et le récepteur. La condition de viabilité s'écrit : la puissance émise, moins l'atténuation effective fois la longueur, moins les pertes de connecteurs, moins la marge système, doit rester supérieure ou égale à la sensibilité minimale du récepteur. Reformulé en termes de budget de liaison, c'est cette inégalité qui fixe la portée maximale que peut atteindre notre liaison sans dégradation du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Concrètement, pour notre scénario : nous utilisons un laser DFB émettant à 3 dBm, avec un récepteur de sensibilité moins 28 dBm, ce qui donne un budget de liaison de 31 dB. Les pertes fixes — connecteurs et marge système — représentent 4,2 dB, laissant 26,8 dB disponibles pour la propagation dans la fibre. Avec une atténuation effective de 0,2125 dB par kilomètre, la portée maximale limitée par l'atténuation est de 26,8 divisé par 0,2125, soit environ 126 kilomètres. Cela signifie que l'on peut transmettre à 10 gigabits par seconde sans amplificateur ni régénérateur jusqu'à cette distance.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Budget propagation = Budget – Pertes fixes = 31 – 4,2 = 26,8 dB</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source laser n'est jamais parfaitement monochromatique : elle a une certaine largeur spectrale, </a:t>
            </a:r>
            <a:r>
              <a:rPr lang="fr-FR" dirty="0" err="1"/>
              <a:t>Δλ</a:t>
            </a:r>
            <a:r>
              <a:rPr lang="fr-FR" dirty="0"/>
              <a:t>. Les différentes composantes de cette lumière voyagent à des vitesses légèrement différentes, ce qui élargit l'impulsion au cours de la propagation et peut créer des interférences entre symboles voisins. À 10 gigabits par seconde, avec une modulation NRZ, la durée d'un bit est de 100 picosecondes. On admet généralement que l'élargissement ne doit pas dépasser un quart de cette durée, soit 25 picosecondes. L'élargissement réel s'obtient par </a:t>
            </a:r>
            <a:r>
              <a:rPr lang="fr-FR" dirty="0" err="1"/>
              <a:t>Δt</a:t>
            </a:r>
            <a:r>
              <a:rPr lang="fr-FR" dirty="0"/>
              <a:t> égale D fois L fois </a:t>
            </a:r>
            <a:r>
              <a:rPr lang="fr-FR" dirty="0" err="1"/>
              <a:t>Δλ</a:t>
            </a:r>
            <a:r>
              <a:rPr lang="fr-FR" dirty="0"/>
              <a:t>. En isolant la longueur, on trouve une portée maximale limitée par la dispersion chromatique de 25 divisé par 0,17, soit environ 147 kilomètres. Cela nous laisse une marge de 21 kilomètres par rapport à la limite imposée par l'atténuation : la dispersion chromatique n'est donc pas la contrainte dominante ici, grâce à la faible largeur spectrale de notre source DFB.</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B</a:t>
            </a:r>
            <a:r>
              <a:rPr lang="fr-FR" sz="1200" kern="1200" dirty="0">
                <a:solidFill>
                  <a:schemeClr val="tx1"/>
                </a:solidFill>
                <a:effectLst/>
                <a:latin typeface="+mn-lt"/>
                <a:ea typeface="+mn-ea"/>
                <a:cs typeface="+mn-cs"/>
              </a:rPr>
              <a:t> = 10 Gbit/s : débit binaire cible de la liaison</a:t>
            </a:r>
          </a:p>
          <a:p>
            <a:endParaRPr lang="fr-FR" dirty="0"/>
          </a:p>
          <a:p>
            <a:pPr lvl="0"/>
            <a:r>
              <a:rPr lang="en-US" sz="1200" b="1" kern="1200" dirty="0">
                <a:solidFill>
                  <a:schemeClr val="tx1"/>
                </a:solidFill>
                <a:effectLst/>
                <a:latin typeface="+mn-lt"/>
                <a:ea typeface="+mn-ea"/>
                <a:cs typeface="+mn-cs"/>
              </a:rPr>
              <a:t>Δ</a:t>
            </a:r>
            <a:r>
              <a:rPr lang="fr-FR" sz="1200" b="1" kern="1200" dirty="0">
                <a:solidFill>
                  <a:schemeClr val="tx1"/>
                </a:solidFill>
                <a:effectLst/>
                <a:latin typeface="+mn-lt"/>
                <a:ea typeface="+mn-ea"/>
                <a:cs typeface="+mn-cs"/>
              </a:rPr>
              <a:t>T_CD</a:t>
            </a:r>
            <a:r>
              <a:rPr lang="fr-FR" sz="1200" kern="1200" dirty="0">
                <a:solidFill>
                  <a:schemeClr val="tx1"/>
                </a:solidFill>
                <a:effectLst/>
                <a:latin typeface="+mn-lt"/>
                <a:ea typeface="+mn-ea"/>
                <a:cs typeface="+mn-cs"/>
              </a:rPr>
              <a:t> : élargissement temporel de l'impulsion (</a:t>
            </a:r>
            <a:r>
              <a:rPr lang="fr-FR" sz="1200" kern="1200" dirty="0" err="1">
                <a:solidFill>
                  <a:schemeClr val="tx1"/>
                </a:solidFill>
                <a:effectLst/>
                <a:latin typeface="+mn-lt"/>
                <a:ea typeface="+mn-ea"/>
                <a:cs typeface="+mn-cs"/>
              </a:rPr>
              <a:t>ps</a:t>
            </a:r>
            <a:r>
              <a:rPr lang="fr-FR" sz="1200" kern="1200" dirty="0">
                <a:solidFill>
                  <a:schemeClr val="tx1"/>
                </a:solidFill>
                <a:effectLst/>
                <a:latin typeface="+mn-lt"/>
                <a:ea typeface="+mn-ea"/>
                <a:cs typeface="+mn-cs"/>
              </a:rPr>
              <a:t>)</a:t>
            </a:r>
          </a:p>
          <a:p>
            <a:pPr lvl="0"/>
            <a:r>
              <a:rPr lang="fr-FR" sz="1200" b="1" kern="1200" dirty="0">
                <a:solidFill>
                  <a:schemeClr val="tx1"/>
                </a:solidFill>
                <a:effectLst/>
                <a:latin typeface="+mn-lt"/>
                <a:ea typeface="+mn-ea"/>
                <a:cs typeface="+mn-cs"/>
              </a:rPr>
              <a:t>D</a:t>
            </a:r>
            <a:r>
              <a:rPr lang="fr-FR" sz="1200" kern="1200" dirty="0">
                <a:solidFill>
                  <a:schemeClr val="tx1"/>
                </a:solidFill>
                <a:effectLst/>
                <a:latin typeface="+mn-lt"/>
                <a:ea typeface="+mn-ea"/>
                <a:cs typeface="+mn-cs"/>
              </a:rPr>
              <a:t> = 17 </a:t>
            </a:r>
            <a:r>
              <a:rPr lang="fr-FR" sz="1200" kern="1200" dirty="0" err="1">
                <a:solidFill>
                  <a:schemeClr val="tx1"/>
                </a:solidFill>
                <a:effectLst/>
                <a:latin typeface="+mn-lt"/>
                <a:ea typeface="+mn-ea"/>
                <a:cs typeface="+mn-cs"/>
              </a:rPr>
              <a:t>ps</a:t>
            </a:r>
            <a:r>
              <a:rPr lang="fr-FR" sz="1200" kern="1200" dirty="0">
                <a:solidFill>
                  <a:schemeClr val="tx1"/>
                </a:solidFill>
                <a:effectLst/>
                <a:latin typeface="+mn-lt"/>
                <a:ea typeface="+mn-ea"/>
                <a:cs typeface="+mn-cs"/>
              </a:rPr>
              <a:t>/(</a:t>
            </a:r>
            <a:r>
              <a:rPr lang="fr-FR" sz="1200" kern="1200" dirty="0" err="1">
                <a:solidFill>
                  <a:schemeClr val="tx1"/>
                </a:solidFill>
                <a:effectLst/>
                <a:latin typeface="+mn-lt"/>
                <a:ea typeface="+mn-ea"/>
                <a:cs typeface="+mn-cs"/>
              </a:rPr>
              <a:t>nm·km</a:t>
            </a:r>
            <a:r>
              <a:rPr lang="fr-FR" sz="1200" kern="1200" dirty="0">
                <a:solidFill>
                  <a:schemeClr val="tx1"/>
                </a:solidFill>
                <a:effectLst/>
                <a:latin typeface="+mn-lt"/>
                <a:ea typeface="+mn-ea"/>
                <a:cs typeface="+mn-cs"/>
              </a:rPr>
              <a:t>) : coefficient de dispersion chromatique de la fibre </a:t>
            </a:r>
            <a:r>
              <a:rPr lang="fr-FR" sz="1200" kern="1200" dirty="0" err="1">
                <a:solidFill>
                  <a:schemeClr val="tx1"/>
                </a:solidFill>
                <a:effectLst/>
                <a:latin typeface="+mn-lt"/>
                <a:ea typeface="+mn-ea"/>
                <a:cs typeface="+mn-cs"/>
              </a:rPr>
              <a:t>G.652</a:t>
            </a:r>
            <a:r>
              <a:rPr lang="fr-FR" sz="1200" kern="1200" dirty="0">
                <a:solidFill>
                  <a:schemeClr val="tx1"/>
                </a:solidFill>
                <a:effectLst/>
                <a:latin typeface="+mn-lt"/>
                <a:ea typeface="+mn-ea"/>
                <a:cs typeface="+mn-cs"/>
              </a:rPr>
              <a:t> à 1550 nm, qui quantifie le retard accumulé par unité de longueur d'onde et par kilomètre de fibre</a:t>
            </a:r>
          </a:p>
          <a:p>
            <a:pPr lvl="0"/>
            <a:r>
              <a:rPr lang="fr-FR" sz="1200" b="1" kern="1200" dirty="0">
                <a:solidFill>
                  <a:schemeClr val="tx1"/>
                </a:solidFill>
                <a:effectLst/>
                <a:latin typeface="+mn-lt"/>
                <a:ea typeface="+mn-ea"/>
                <a:cs typeface="+mn-cs"/>
              </a:rPr>
              <a:t>L</a:t>
            </a:r>
            <a:r>
              <a:rPr lang="fr-FR" sz="1200" kern="1200" dirty="0">
                <a:solidFill>
                  <a:schemeClr val="tx1"/>
                </a:solidFill>
                <a:effectLst/>
                <a:latin typeface="+mn-lt"/>
                <a:ea typeface="+mn-ea"/>
                <a:cs typeface="+mn-cs"/>
              </a:rPr>
              <a:t> : longueur de la liaison (km)</a:t>
            </a:r>
          </a:p>
          <a:p>
            <a:pPr lvl="0"/>
            <a:r>
              <a:rPr lang="en-US" sz="1200" b="1" kern="1200" dirty="0" err="1">
                <a:solidFill>
                  <a:schemeClr val="tx1"/>
                </a:solidFill>
                <a:effectLst/>
                <a:latin typeface="+mn-lt"/>
                <a:ea typeface="+mn-ea"/>
                <a:cs typeface="+mn-cs"/>
              </a:rPr>
              <a:t>Δλ</a:t>
            </a:r>
            <a:r>
              <a:rPr lang="fr-FR" sz="1200" kern="1200" dirty="0">
                <a:solidFill>
                  <a:schemeClr val="tx1"/>
                </a:solidFill>
                <a:effectLst/>
                <a:latin typeface="+mn-lt"/>
                <a:ea typeface="+mn-ea"/>
                <a:cs typeface="+mn-cs"/>
              </a:rPr>
              <a:t> = 0,01 nm : largeur spectrale de la source laser DFB, qui représente l'étalement en longueur d'onde du signal émis.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u="sng" kern="1200" dirty="0">
                <a:solidFill>
                  <a:schemeClr val="tx1"/>
                </a:solidFill>
                <a:effectLst/>
                <a:latin typeface="+mn-lt"/>
                <a:ea typeface="+mn-ea"/>
                <a:cs typeface="+mn-cs"/>
              </a:rPr>
              <a:t>Dispersion modale de polarisation (PMD)</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Les imperfections géométriques du cœur de la fibre — une légère ellipticité, des contraintes mécaniques — décomposent le signal en deux polarisations qui se propagent à des vitesses différentes. Ce retard différentiel de groupe, ou DGD, est un phénomène statistique qui s'accumule en racine carrée de la longueur, et non proportionnellement à L. Le critère ici est plus sévère : l'élargissement ne doit pas dépasser un dixième de la durée d'un bit, soit 10 picosecondes. Avec un coefficient PMD de 0,05 picoseconde par racine de kilomètre pour notre fibre G.652.D, on obtient une portée maximale théorique de 40 000 kilomètres. C'est totalement non contraignant pour notre liaison à 10 gigabits par seconde — ce phénomène ne devient critique qu'au-delà de 40 à 100 gigabits par seconde.</a:t>
            </a:r>
            <a:endParaRPr lang="fr-FR" sz="1200" u="sng"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portée réelle d'une liaison est toujours fixée par la contrainte la plus restrictive parmi les trois calculées. On prend donc le minimum entre la portée limitée par l'atténuation, 126 kilomètres, celle limitée par la dispersion chromatique, 147 kilomètres, et celle limitée par la PMD, 40 000 kilomètres. Le minimum des trois est 126 kilomètres, imposé par l'atténuation. C'est cette valeur qui définit la limite réelle de notre liaison sans aucun équipement d'amplification ou de régénération.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avons comparé quatre types de fibres normalisées par l'UIT-T. La </a:t>
            </a:r>
            <a:r>
              <a:rPr lang="fr-FR" dirty="0" err="1"/>
              <a:t>G.652</a:t>
            </a:r>
            <a:r>
              <a:rPr lang="fr-FR" dirty="0"/>
              <a:t>, fibre monomode standard, offre 0,20 dB par kilomètre d'atténuation et une dispersion de 17 picosecondes par nanomètre-kilomètre, pour une portée de 126 kilomètres limitée par l'atténuation. La </a:t>
            </a:r>
            <a:r>
              <a:rPr lang="fr-FR" dirty="0" err="1"/>
              <a:t>G.655</a:t>
            </a:r>
            <a:r>
              <a:rPr lang="fr-FR" dirty="0"/>
              <a:t>, ou NZDSF, a la même atténuation mais une dispersion bien plus faible, environ 4, ce qui repousse sa limite par dispersion à 625 kilomètres — elle est optimisée pour le WDM et les liaisons sous-marines. La </a:t>
            </a:r>
            <a:r>
              <a:rPr lang="fr-FR" dirty="0" err="1"/>
              <a:t>G.657</a:t>
            </a:r>
            <a:r>
              <a:rPr lang="fr-FR" dirty="0"/>
              <a:t> a des caractéristiques proches de la </a:t>
            </a:r>
            <a:r>
              <a:rPr lang="fr-FR" dirty="0" err="1"/>
              <a:t>G.652</a:t>
            </a:r>
            <a:r>
              <a:rPr lang="fr-FR" dirty="0"/>
              <a:t> mais avec un rayon de courbure minimal beaucoup plus faible, 5 millimètres contre 30, ce qui la destine aux réseaux d'accès FTTH. Enfin, la </a:t>
            </a:r>
            <a:r>
              <a:rPr lang="fr-FR" dirty="0" err="1"/>
              <a:t>G.957</a:t>
            </a:r>
            <a:r>
              <a:rPr lang="fr-FR" dirty="0"/>
              <a:t>, utilisée en SDH métropolitain, a une atténuation plus élevée, 0,25 dB par kilomètre, ce qui pénalise sa portée à 100 kilomètres.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avons retenu la fibre G.652.D pour quatre raisons. Premièrement, l'adéquation aux performances : elle satisfait à la fois le bilan de puissance, 126 kilomètres, et le bilan de dispersion, 147 kilomètres, à 10 gigabits par seconde, sans nécessiter de compensation. Deuxièmement, sa maturité et sa disponibilité : c'est la fibre la plus répandue au monde, disponible chez de nombreux fournisseurs, à coût maîtrisé — un critère déterminant en Afrique de l'Ouest. Troisièmement, la compatibilité avec l'infrastructure existante : les réseaux déjà déployés au Sénégal reposent sur de la </a:t>
            </a:r>
            <a:r>
              <a:rPr lang="fr-FR" dirty="0" err="1"/>
              <a:t>G.652</a:t>
            </a:r>
            <a:r>
              <a:rPr lang="fr-FR" dirty="0"/>
              <a:t>, garantissant continuité et interopérabilité sans surcoût. Quatrièmement, son potentiel d'évolution : avec une PMD inférieure à 0,1 picoseconde par racine de kilomètre, elle conserve une marge pour évoluer vers 40 gigabits par seconde et le multiplexage en longueur d'onde.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 de souci, je t'explique ce que ce tableau montre, ligne par ligne.</a:t>
            </a:r>
          </a:p>
          <a:p>
            <a:r>
              <a:rPr lang="fr-FR" b="1" dirty="0"/>
              <a:t>L'idée générale</a:t>
            </a:r>
            <a:r>
              <a:rPr lang="fr-FR" dirty="0"/>
              <a:t> : on part d'un cas de référence (la fibre </a:t>
            </a:r>
            <a:r>
              <a:rPr lang="fr-FR" dirty="0" err="1"/>
              <a:t>G.652</a:t>
            </a:r>
            <a:r>
              <a:rPr lang="fr-FR" dirty="0"/>
              <a:t>, débit 10 Gbit/s, etc. — ce qu'on a utilisé partout dans le rapport), puis on change </a:t>
            </a:r>
            <a:r>
              <a:rPr lang="fr-FR" b="1" dirty="0"/>
              <a:t>une seule chose à la fois</a:t>
            </a:r>
            <a:r>
              <a:rPr lang="fr-FR" dirty="0"/>
              <a:t> pour voir ce qui se passe sur la portée. C'est ça, une "analyse de sensibilité" : tester "et si on changeait ce paramètre, qu'est-ce que ça donnerait ?"</a:t>
            </a:r>
          </a:p>
          <a:p>
            <a:r>
              <a:rPr lang="fr-FR" b="1" dirty="0"/>
              <a:t>Les deux dernières colonnes sont les résultats qui nous intéressent :</a:t>
            </a:r>
            <a:endParaRPr lang="fr-FR" dirty="0"/>
          </a:p>
          <a:p>
            <a:r>
              <a:rPr lang="fr-FR" b="1" dirty="0" err="1"/>
              <a:t>L_att</a:t>
            </a:r>
            <a:r>
              <a:rPr lang="fr-FR" dirty="0"/>
              <a:t> = jusqu'où on peut aller avant que le signal devienne trop faible (limite par l'atténuation)</a:t>
            </a:r>
          </a:p>
          <a:p>
            <a:r>
              <a:rPr lang="fr-FR" b="1" dirty="0"/>
              <a:t>L_CD</a:t>
            </a:r>
            <a:r>
              <a:rPr lang="fr-FR" dirty="0"/>
              <a:t> = jusqu'où on peut aller avant que le signal devienne trop "flou" dans le temps (limite par la dispersion)</a:t>
            </a:r>
          </a:p>
          <a:p>
            <a:r>
              <a:rPr lang="fr-FR" b="1" dirty="0"/>
              <a:t>Ligne par ligne, ce que ça veut dire :</a:t>
            </a:r>
            <a:endParaRPr lang="fr-FR" dirty="0"/>
          </a:p>
          <a:p>
            <a:r>
              <a:rPr lang="fr-FR" dirty="0"/>
              <a:t>Les 3 premières lignes (</a:t>
            </a:r>
            <a:r>
              <a:rPr lang="fr-FR" dirty="0" err="1"/>
              <a:t>G.652</a:t>
            </a:r>
            <a:r>
              <a:rPr lang="fr-FR" dirty="0"/>
              <a:t>, </a:t>
            </a:r>
            <a:r>
              <a:rPr lang="fr-FR" dirty="0" err="1"/>
              <a:t>G.655</a:t>
            </a:r>
            <a:r>
              <a:rPr lang="fr-FR" dirty="0"/>
              <a:t>, </a:t>
            </a:r>
            <a:r>
              <a:rPr lang="fr-FR" dirty="0" err="1"/>
              <a:t>G.957</a:t>
            </a:r>
            <a:r>
              <a:rPr lang="fr-FR" dirty="0"/>
              <a:t>) : on change le </a:t>
            </a:r>
            <a:r>
              <a:rPr lang="fr-FR" b="1" dirty="0"/>
              <a:t>type de fibre</a:t>
            </a:r>
            <a:r>
              <a:rPr lang="fr-FR" dirty="0"/>
              <a:t>. On voit que </a:t>
            </a:r>
            <a:r>
              <a:rPr lang="fr-FR" dirty="0" err="1"/>
              <a:t>G.957</a:t>
            </a:r>
            <a:r>
              <a:rPr lang="fr-FR" dirty="0"/>
              <a:t> a une atténuation plus forte (0,25 au lieu de 0,20), donc sa portée par atténuation tombe à 102 km au lieu de 126 km — la fibre est moins bonne.</a:t>
            </a:r>
          </a:p>
          <a:p>
            <a:r>
              <a:rPr lang="fr-FR" dirty="0"/>
              <a:t>Les 2 lignes suivantes (Marge 1 dB, Marge 5 dB) : on change la </a:t>
            </a:r>
            <a:r>
              <a:rPr lang="fr-FR" b="1" dirty="0"/>
              <a:t>marge de sécurité</a:t>
            </a:r>
            <a:r>
              <a:rPr lang="fr-FR" dirty="0"/>
              <a:t>. Avec moins de marge (1 dB), on peut aller plus loin (135 km) ; avec plus de marge (5 dB, plus prudent), on va moins loin (116 km). Logique : plus on se réserve de la sécurité, moins on a de portée disponible.</a:t>
            </a:r>
          </a:p>
          <a:p>
            <a:r>
              <a:rPr lang="fr-FR" dirty="0"/>
              <a:t>Les 3 lignes sur les </a:t>
            </a:r>
            <a:r>
              <a:rPr lang="fr-FR" b="1" dirty="0"/>
              <a:t>sources optiques</a:t>
            </a:r>
            <a:r>
              <a:rPr lang="fr-FR" dirty="0"/>
              <a:t> (DFB, FP, DEL) : on change la qualité du laser. Plus le spectre de la source est large (DEL = 2 nm, très large), plus L_CD s'écroule (0,7 km seulement !). Ça montre que sans un bon laser DFB, la liaison ne marcherait même pas sur 1 km à cause de la dispersion.</a:t>
            </a:r>
          </a:p>
          <a:p>
            <a:r>
              <a:rPr lang="fr-FR" dirty="0"/>
              <a:t>Les 3 lignes sur le </a:t>
            </a:r>
            <a:r>
              <a:rPr lang="fr-FR" b="1" dirty="0"/>
              <a:t>débit</a:t>
            </a:r>
            <a:r>
              <a:rPr lang="fr-FR" dirty="0"/>
              <a:t> (2,5 / 10 / 40 Gbit/s) : plus on veut transmettre vite, moins on peut aller loin avant que la dispersion devienne un problème (588 km à 2,5 Gbit/s, mais seulement 37 km à 40 Gbit/s).</a:t>
            </a:r>
          </a:p>
          <a:p>
            <a:r>
              <a:rPr lang="fr-FR" b="1" dirty="0"/>
              <a:t>Ce qu'il faut retenir pour la soutenance</a:t>
            </a:r>
            <a:r>
              <a:rPr lang="fr-FR" dirty="0"/>
              <a:t> : ce tableau montre que tu as testé "et si" sur plusieurs paramètres, pas juste un seul scénario figé — ça donne plus de crédibilité au mot "simulation".</a:t>
            </a:r>
          </a:p>
          <a:p>
            <a:r>
              <a:rPr lang="fr-FR" dirty="0"/>
              <a:t>Qu'est-ce qui reste flou — une ligne en particulier, ou le principe général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3.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8.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02775" y="502920"/>
            <a:ext cx="2103120" cy="1251149"/>
          </a:xfrm>
          <a:prstGeom prst="roundRect">
            <a:avLst>
              <a:gd name="adj" fmla="val 5847"/>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pic>
        <p:nvPicPr>
          <p:cNvPr id="3" name="anim__1__afterprev__fade__whole" descr="C:\Users\Cedric S. DJIGUIMDE\Desktop\Projet\presentation_fibre\assets_shared\figures\logo_esmt.jpg"/>
          <p:cNvPicPr>
            <a:picLocks noChangeAspect="1"/>
          </p:cNvPicPr>
          <p:nvPr/>
        </p:nvPicPr>
        <p:blipFill>
          <a:blip r:embed="rId4"/>
          <a:stretch>
            <a:fillRect/>
          </a:stretch>
        </p:blipFill>
        <p:spPr>
          <a:xfrm>
            <a:off x="9539935" y="640080"/>
            <a:ext cx="1828800" cy="976829"/>
          </a:xfrm>
          <a:prstGeom prst="rect">
            <a:avLst/>
          </a:prstGeom>
        </p:spPr>
      </p:pic>
      <p:sp>
        <p:nvSpPr>
          <p:cNvPr id="4" name="anim__2__afterprev__fade__whole"/>
          <p:cNvSpPr/>
          <p:nvPr/>
        </p:nvSpPr>
        <p:spPr>
          <a:xfrm>
            <a:off x="685800" y="1554480"/>
            <a:ext cx="7772400" cy="365760"/>
          </a:xfrm>
          <a:prstGeom prst="rect">
            <a:avLst/>
          </a:prstGeom>
          <a:noFill/>
          <a:ln/>
        </p:spPr>
        <p:txBody>
          <a:bodyPr wrap="square" lIns="0" tIns="0" rIns="0" bIns="0" rtlCol="0" anchor="ctr"/>
          <a:lstStyle/>
          <a:p>
            <a:pPr marL="0" indent="0">
              <a:buNone/>
            </a:pPr>
            <a:r>
              <a:rPr lang="en-US" sz="1450" b="1" kern="0" spc="300" dirty="0">
                <a:solidFill>
                  <a:srgbClr val="6D28D9"/>
                </a:solidFill>
                <a:latin typeface="Segoe UI Semibold" pitchFamily="34" charset="0"/>
                <a:ea typeface="Segoe UI Semibold" pitchFamily="34" charset="-122"/>
                <a:cs typeface="Segoe UI Semibold" pitchFamily="34" charset="-120"/>
              </a:rPr>
              <a:t>PROJET DE TÉLÉCOMMUNICATIONS · 2025–2026</a:t>
            </a:r>
            <a:endParaRPr lang="en-US" sz="1450" dirty="0"/>
          </a:p>
        </p:txBody>
      </p:sp>
      <p:sp>
        <p:nvSpPr>
          <p:cNvPr id="5" name="anim__3__afterprev__fade__whole"/>
          <p:cNvSpPr/>
          <p:nvPr/>
        </p:nvSpPr>
        <p:spPr>
          <a:xfrm>
            <a:off x="685800" y="2121408"/>
            <a:ext cx="9601200" cy="868680"/>
          </a:xfrm>
          <a:prstGeom prst="rect">
            <a:avLst/>
          </a:prstGeom>
          <a:noFill/>
          <a:ln/>
        </p:spPr>
        <p:txBody>
          <a:bodyPr wrap="square" lIns="0" tIns="0" rIns="0" bIns="0" rtlCol="0" anchor="ctr"/>
          <a:lstStyle/>
          <a:p>
            <a:pPr marL="0" indent="0">
              <a:buNone/>
            </a:pPr>
            <a:r>
              <a:rPr lang="en-US" sz="4800" b="1" dirty="0">
                <a:solidFill>
                  <a:srgbClr val="20183F"/>
                </a:solidFill>
                <a:latin typeface="Segoe UI Black" pitchFamily="34" charset="0"/>
                <a:ea typeface="Segoe UI Black" pitchFamily="34" charset="-122"/>
                <a:cs typeface="Segoe UI Black" pitchFamily="34" charset="-120"/>
              </a:rPr>
              <a:t>Dimensionnement d'une</a:t>
            </a:r>
            <a:endParaRPr lang="en-US" sz="4800" dirty="0"/>
          </a:p>
        </p:txBody>
      </p:sp>
      <p:sp>
        <p:nvSpPr>
          <p:cNvPr id="6" name="anim__4__afterprev__fade__whole"/>
          <p:cNvSpPr/>
          <p:nvPr/>
        </p:nvSpPr>
        <p:spPr>
          <a:xfrm>
            <a:off x="685800" y="2944368"/>
            <a:ext cx="9601200" cy="868680"/>
          </a:xfrm>
          <a:prstGeom prst="rect">
            <a:avLst/>
          </a:prstGeom>
          <a:noFill/>
          <a:ln/>
        </p:spPr>
        <p:txBody>
          <a:bodyPr wrap="square" lIns="0" tIns="0" rIns="0" bIns="0" rtlCol="0" anchor="ctr"/>
          <a:lstStyle/>
          <a:p>
            <a:pPr marL="0" indent="0">
              <a:buNone/>
            </a:pPr>
            <a:r>
              <a:rPr lang="en-US" sz="4800" b="1" dirty="0">
                <a:solidFill>
                  <a:srgbClr val="20183F"/>
                </a:solidFill>
                <a:latin typeface="Segoe UI Black" pitchFamily="34" charset="0"/>
                <a:ea typeface="Segoe UI Black" pitchFamily="34" charset="-122"/>
                <a:cs typeface="Segoe UI Black" pitchFamily="34" charset="-120"/>
              </a:rPr>
              <a:t>liaison par </a:t>
            </a:r>
            <a:r>
              <a:rPr lang="en-US" sz="4800" b="1" dirty="0">
                <a:solidFill>
                  <a:srgbClr val="6D28D9"/>
                </a:solidFill>
                <a:latin typeface="Segoe UI Black" pitchFamily="34" charset="0"/>
                <a:ea typeface="Segoe UI Black" pitchFamily="34" charset="-122"/>
                <a:cs typeface="Segoe UI Black" pitchFamily="34" charset="-120"/>
              </a:rPr>
              <a:t>fibre optique</a:t>
            </a:r>
            <a:endParaRPr lang="en-US" sz="4800" dirty="0"/>
          </a:p>
        </p:txBody>
      </p:sp>
      <p:sp>
        <p:nvSpPr>
          <p:cNvPr id="7" name="anim__5__afterprev__fade__whole"/>
          <p:cNvSpPr/>
          <p:nvPr/>
        </p:nvSpPr>
        <p:spPr>
          <a:xfrm>
            <a:off x="685800" y="3913632"/>
            <a:ext cx="7680960" cy="731520"/>
          </a:xfrm>
          <a:prstGeom prst="rect">
            <a:avLst/>
          </a:prstGeom>
          <a:noFill/>
          <a:ln/>
        </p:spPr>
        <p:txBody>
          <a:bodyPr wrap="square" lIns="0" tIns="0" rIns="0" bIns="0" rtlCol="0" anchor="ctr"/>
          <a:lstStyle/>
          <a:p>
            <a:pPr marL="0" indent="0">
              <a:lnSpc>
                <a:spcPct val="118000"/>
              </a:lnSpc>
              <a:buNone/>
            </a:pPr>
            <a:r>
              <a:rPr lang="en-US" sz="1740" dirty="0">
                <a:solidFill>
                  <a:srgbClr val="3F3D56"/>
                </a:solidFill>
                <a:latin typeface="Segoe UI" pitchFamily="34" charset="0"/>
                <a:ea typeface="Segoe UI" pitchFamily="34" charset="-122"/>
                <a:cs typeface="Segoe UI" pitchFamily="34" charset="-120"/>
              </a:rPr>
              <a:t>Bilan de puissance, bilan de dispersion et portée maximale sans régénération — application au corridor Dakar–Thiès.</a:t>
            </a:r>
            <a:endParaRPr lang="en-US" sz="1740" dirty="0"/>
          </a:p>
        </p:txBody>
      </p:sp>
      <p:sp>
        <p:nvSpPr>
          <p:cNvPr id="8" name="Shape 5"/>
          <p:cNvSpPr/>
          <p:nvPr/>
        </p:nvSpPr>
        <p:spPr>
          <a:xfrm>
            <a:off x="685800" y="4846320"/>
            <a:ext cx="10820095" cy="1143000"/>
          </a:xfrm>
          <a:prstGeom prst="roundRect">
            <a:avLst>
              <a:gd name="adj" fmla="val 12800"/>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9" name="Shape 6"/>
          <p:cNvSpPr/>
          <p:nvPr/>
        </p:nvSpPr>
        <p:spPr>
          <a:xfrm>
            <a:off x="685800" y="4992624"/>
            <a:ext cx="64008" cy="850392"/>
          </a:xfrm>
          <a:prstGeom prst="rect">
            <a:avLst/>
          </a:prstGeom>
          <a:solidFill>
            <a:srgbClr val="6D28D9"/>
          </a:solidFill>
          <a:ln/>
        </p:spPr>
        <p:txBody>
          <a:bodyPr/>
          <a:lstStyle/>
          <a:p>
            <a:endParaRPr lang="fr-FR"/>
          </a:p>
        </p:txBody>
      </p:sp>
      <p:sp>
        <p:nvSpPr>
          <p:cNvPr id="10" name="anim__6__afterprev__fade__whole"/>
          <p:cNvSpPr/>
          <p:nvPr/>
        </p:nvSpPr>
        <p:spPr>
          <a:xfrm>
            <a:off x="1005840" y="5029200"/>
            <a:ext cx="3200400" cy="274320"/>
          </a:xfrm>
          <a:prstGeom prst="rect">
            <a:avLst/>
          </a:prstGeom>
          <a:noFill/>
          <a:ln/>
        </p:spPr>
        <p:txBody>
          <a:bodyPr wrap="square" lIns="0" tIns="0" rIns="0" bIns="0" rtlCol="0" anchor="ctr"/>
          <a:lstStyle/>
          <a:p>
            <a:pPr marL="0" indent="0">
              <a:buNone/>
            </a:pPr>
            <a:r>
              <a:rPr lang="en-US" sz="1220" b="1" kern="0" spc="200" dirty="0">
                <a:solidFill>
                  <a:srgbClr val="6D28D9"/>
                </a:solidFill>
                <a:latin typeface="Segoe UI Semibold" pitchFamily="34" charset="0"/>
                <a:ea typeface="Segoe UI Semibold" pitchFamily="34" charset="-122"/>
                <a:cs typeface="Segoe UI Semibold" pitchFamily="34" charset="-120"/>
              </a:rPr>
              <a:t>ÉTUDIANTES</a:t>
            </a:r>
            <a:endParaRPr lang="en-US" sz="1220" dirty="0"/>
          </a:p>
        </p:txBody>
      </p:sp>
      <p:sp>
        <p:nvSpPr>
          <p:cNvPr id="11" name="anim__7__withprev__fade__whole"/>
          <p:cNvSpPr/>
          <p:nvPr/>
        </p:nvSpPr>
        <p:spPr>
          <a:xfrm>
            <a:off x="1005840" y="5303520"/>
            <a:ext cx="3200400" cy="548640"/>
          </a:xfrm>
          <a:prstGeom prst="rect">
            <a:avLst/>
          </a:prstGeom>
          <a:noFill/>
          <a:ln/>
        </p:spPr>
        <p:txBody>
          <a:bodyPr wrap="square" lIns="0" tIns="0" rIns="0" bIns="0" rtlCol="0" anchor="ctr"/>
          <a:lstStyle/>
          <a:p>
            <a:pPr marL="0" indent="0">
              <a:lnSpc>
                <a:spcPct val="105000"/>
              </a:lnSpc>
              <a:buNone/>
            </a:pPr>
            <a:r>
              <a:rPr lang="en-US" sz="1570" dirty="0">
                <a:solidFill>
                  <a:srgbClr val="20183F"/>
                </a:solidFill>
                <a:latin typeface="Segoe UI" pitchFamily="34" charset="0"/>
                <a:ea typeface="Segoe UI" pitchFamily="34" charset="-122"/>
                <a:cs typeface="Segoe UI" pitchFamily="34" charset="-120"/>
              </a:rPr>
              <a:t>Sephora BAYALA</a:t>
            </a:r>
            <a:endParaRPr lang="en-US" sz="1570" dirty="0"/>
          </a:p>
          <a:p>
            <a:pPr marL="0" indent="0">
              <a:lnSpc>
                <a:spcPct val="105000"/>
              </a:lnSpc>
              <a:buNone/>
            </a:pPr>
            <a:r>
              <a:rPr lang="en-US" sz="1570" dirty="0">
                <a:solidFill>
                  <a:srgbClr val="20183F"/>
                </a:solidFill>
                <a:latin typeface="Segoe UI" pitchFamily="34" charset="0"/>
                <a:ea typeface="Segoe UI" pitchFamily="34" charset="-122"/>
                <a:cs typeface="Segoe UI" pitchFamily="34" charset="-120"/>
              </a:rPr>
              <a:t>Mariane ELOLA</a:t>
            </a:r>
            <a:endParaRPr lang="en-US" sz="1570" dirty="0"/>
          </a:p>
        </p:txBody>
      </p:sp>
      <p:sp>
        <p:nvSpPr>
          <p:cNvPr id="12" name="anim__8__afterprev__fade__whole"/>
          <p:cNvSpPr/>
          <p:nvPr/>
        </p:nvSpPr>
        <p:spPr>
          <a:xfrm>
            <a:off x="4617720" y="5029200"/>
            <a:ext cx="3200400" cy="274320"/>
          </a:xfrm>
          <a:prstGeom prst="rect">
            <a:avLst/>
          </a:prstGeom>
          <a:noFill/>
          <a:ln/>
        </p:spPr>
        <p:txBody>
          <a:bodyPr wrap="square" lIns="0" tIns="0" rIns="0" bIns="0" rtlCol="0" anchor="ctr"/>
          <a:lstStyle/>
          <a:p>
            <a:pPr marL="0" indent="0">
              <a:buNone/>
            </a:pPr>
            <a:r>
              <a:rPr lang="en-US" sz="1220" b="1" kern="0" spc="200" dirty="0">
                <a:solidFill>
                  <a:srgbClr val="6D28D9"/>
                </a:solidFill>
                <a:latin typeface="Segoe UI Semibold" pitchFamily="34" charset="0"/>
                <a:ea typeface="Segoe UI Semibold" pitchFamily="34" charset="-122"/>
                <a:cs typeface="Segoe UI Semibold" pitchFamily="34" charset="-120"/>
              </a:rPr>
              <a:t>ENCADREUR</a:t>
            </a:r>
            <a:endParaRPr lang="en-US" sz="1220" dirty="0"/>
          </a:p>
        </p:txBody>
      </p:sp>
      <p:sp>
        <p:nvSpPr>
          <p:cNvPr id="13" name="anim__9__withprev__fade__whole"/>
          <p:cNvSpPr/>
          <p:nvPr/>
        </p:nvSpPr>
        <p:spPr>
          <a:xfrm>
            <a:off x="4617720" y="5303520"/>
            <a:ext cx="3200400" cy="548640"/>
          </a:xfrm>
          <a:prstGeom prst="rect">
            <a:avLst/>
          </a:prstGeom>
          <a:noFill/>
          <a:ln/>
        </p:spPr>
        <p:txBody>
          <a:bodyPr wrap="square" lIns="0" tIns="0" rIns="0" bIns="0" rtlCol="0" anchor="ctr"/>
          <a:lstStyle/>
          <a:p>
            <a:pPr marL="0" indent="0">
              <a:lnSpc>
                <a:spcPct val="105000"/>
              </a:lnSpc>
              <a:buNone/>
            </a:pPr>
            <a:r>
              <a:rPr lang="en-US" sz="1570" dirty="0">
                <a:solidFill>
                  <a:srgbClr val="20183F"/>
                </a:solidFill>
                <a:latin typeface="Segoe UI" pitchFamily="34" charset="0"/>
                <a:ea typeface="Segoe UI" pitchFamily="34" charset="-122"/>
                <a:cs typeface="Segoe UI" pitchFamily="34" charset="-120"/>
              </a:rPr>
              <a:t>Mr Boudal NIANG</a:t>
            </a:r>
            <a:endParaRPr lang="en-US" sz="1570" dirty="0"/>
          </a:p>
        </p:txBody>
      </p:sp>
      <p:sp>
        <p:nvSpPr>
          <p:cNvPr id="14" name="anim__10__afterprev__fade__whole"/>
          <p:cNvSpPr/>
          <p:nvPr/>
        </p:nvSpPr>
        <p:spPr>
          <a:xfrm>
            <a:off x="8001000" y="5029200"/>
            <a:ext cx="3291840" cy="274320"/>
          </a:xfrm>
          <a:prstGeom prst="rect">
            <a:avLst/>
          </a:prstGeom>
          <a:noFill/>
          <a:ln/>
        </p:spPr>
        <p:txBody>
          <a:bodyPr wrap="square" lIns="0" tIns="0" rIns="0" bIns="0" rtlCol="0" anchor="ctr"/>
          <a:lstStyle/>
          <a:p>
            <a:pPr marL="0" indent="0">
              <a:buNone/>
            </a:pPr>
            <a:r>
              <a:rPr lang="en-US" sz="1220" b="1" kern="0" spc="200" dirty="0">
                <a:solidFill>
                  <a:srgbClr val="6D28D9"/>
                </a:solidFill>
                <a:latin typeface="Segoe UI Semibold" pitchFamily="34" charset="0"/>
                <a:ea typeface="Segoe UI Semibold" pitchFamily="34" charset="-122"/>
                <a:cs typeface="Segoe UI Semibold" pitchFamily="34" charset="-120"/>
              </a:rPr>
              <a:t>CLASSE</a:t>
            </a:r>
            <a:endParaRPr lang="en-US" sz="1220" dirty="0"/>
          </a:p>
        </p:txBody>
      </p:sp>
      <p:sp>
        <p:nvSpPr>
          <p:cNvPr id="15" name="anim__11__withprev__fade__whole"/>
          <p:cNvSpPr/>
          <p:nvPr/>
        </p:nvSpPr>
        <p:spPr>
          <a:xfrm>
            <a:off x="8001000" y="5303520"/>
            <a:ext cx="3291840" cy="548640"/>
          </a:xfrm>
          <a:prstGeom prst="rect">
            <a:avLst/>
          </a:prstGeom>
          <a:noFill/>
          <a:ln/>
        </p:spPr>
        <p:txBody>
          <a:bodyPr wrap="square" lIns="0" tIns="0" rIns="0" bIns="0" rtlCol="0" anchor="ctr"/>
          <a:lstStyle/>
          <a:p>
            <a:pPr marL="0" indent="0">
              <a:lnSpc>
                <a:spcPct val="105000"/>
              </a:lnSpc>
              <a:buNone/>
            </a:pPr>
            <a:r>
              <a:rPr lang="en-US" sz="1570" dirty="0">
                <a:solidFill>
                  <a:srgbClr val="20183F"/>
                </a:solidFill>
                <a:latin typeface="Segoe UI" pitchFamily="34" charset="0"/>
                <a:ea typeface="Segoe UI" pitchFamily="34" charset="-122"/>
                <a:cs typeface="Segoe UI" pitchFamily="34" charset="-120"/>
              </a:rPr>
              <a:t>Ingénieur de conception des télécommunications 1</a:t>
            </a:r>
            <a:endParaRPr lang="en-US" sz="1570" dirty="0"/>
          </a:p>
        </p:txBody>
      </p:sp>
      <p:sp>
        <p:nvSpPr>
          <p:cNvPr id="16" name="Text 13"/>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17" name="Text 14"/>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800">
        <p:cover/>
      </p:transition>
    </mc:Choice>
    <mc:Fallback>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50"/>
                                        <p:tgtEl>
                                          <p:spTgt spid="3"/>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50"/>
                                  <p:tgtEl>
                                    <p:spTgt spid="4"/>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50"/>
                                  <p:tgtEl>
                                    <p:spTgt spid="5"/>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350"/>
                                  <p:tgtEl>
                                    <p:spTgt spid="7"/>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par>
                          <p:cTn id="28" presetID="10" presetClass="entr" presetSubtype="0" fill="hold" grpId="6"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50"/>
                                  <p:tgtEl>
                                    <p:spTgt spid="11"/>
                                  </p:tgtEl>
                                </p:cBhvr>
                              </p:animEffect>
                            </p:childTnLst>
                          </p:cTn>
                        </p:par>
                      </p:childTnLst>
                    </p:cTn>
                  </p:par>
                  <p:par>
                    <p:cTn id="31" fill="hold">
                      <p:stCondLst>
                        <p:cond delay="70"/>
                      </p:stCondLst>
                      <p:childTnLst>
                        <p:par>
                          <p:cTn id="32" presetID="10" presetClass="entr" presetSubtype="0" fill="hold" grpId="7"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childTnLst>
                          </p:cTn>
                        </p:par>
                        <p:par>
                          <p:cTn id="35" presetID="10" presetClass="entr" presetSubtype="0" fill="hold" grpId="8"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childTnLst>
                    </p:cTn>
                  </p:par>
                  <p:par>
                    <p:cTn id="38" fill="hold">
                      <p:stCondLst>
                        <p:cond delay="70"/>
                      </p:stCondLst>
                      <p:childTnLst>
                        <p:par>
                          <p:cTn id="39" presetID="10" presetClass="entr" presetSubtype="0" fill="hold" grpId="9"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50"/>
                                  <p:tgtEl>
                                    <p:spTgt spid="14"/>
                                  </p:tgtEl>
                                </p:cBhvr>
                              </p:animEffect>
                            </p:childTnLst>
                          </p:cTn>
                        </p:par>
                        <p:par>
                          <p:cTn id="42" presetID="10" presetClass="entr" presetSubtype="0" fill="hold" grpId="1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5" grpId="2" animBg="1"/>
      <p:bldP spid="6" grpId="3" animBg="1"/>
      <p:bldP spid="7" grpId="4" animBg="1"/>
      <p:bldP spid="10" grpId="5" animBg="1"/>
      <p:bldP spid="11" grpId="6" animBg="1"/>
      <p:bldP spid="12" grpId="7" animBg="1"/>
      <p:bldP spid="13" grpId="8" animBg="1"/>
      <p:bldP spid="14" grpId="9" animBg="1"/>
      <p:bldP spid="15" grpId="1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PLAN DE LA PRÉSENTATION</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Sommaire</a:t>
            </a:r>
            <a:endParaRPr lang="en-US" sz="3100" dirty="0"/>
          </a:p>
        </p:txBody>
      </p:sp>
      <p:sp>
        <p:nvSpPr>
          <p:cNvPr id="4" name="Shape 2"/>
          <p:cNvSpPr/>
          <p:nvPr/>
        </p:nvSpPr>
        <p:spPr>
          <a:xfrm>
            <a:off x="685800" y="1828800"/>
            <a:ext cx="5120640" cy="1188720"/>
          </a:xfrm>
          <a:prstGeom prst="roundRect">
            <a:avLst>
              <a:gd name="adj" fmla="val 1230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896112"/>
          </a:xfrm>
          <a:prstGeom prst="rect">
            <a:avLst/>
          </a:prstGeom>
          <a:solidFill>
            <a:srgbClr val="6D28D9"/>
          </a:solidFill>
          <a:ln/>
        </p:spPr>
        <p:txBody>
          <a:bodyPr/>
          <a:lstStyle/>
          <a:p>
            <a:endParaRPr lang="fr-FR"/>
          </a:p>
        </p:txBody>
      </p:sp>
      <p:sp>
        <p:nvSpPr>
          <p:cNvPr id="6" name="Shape 4"/>
          <p:cNvSpPr/>
          <p:nvPr/>
        </p:nvSpPr>
        <p:spPr>
          <a:xfrm>
            <a:off x="941832" y="2130552"/>
            <a:ext cx="585216" cy="585216"/>
          </a:xfrm>
          <a:prstGeom prst="ellipse">
            <a:avLst/>
          </a:prstGeom>
          <a:solidFill>
            <a:srgbClr val="6D28D9"/>
          </a:solidFill>
          <a:ln/>
        </p:spPr>
        <p:txBody>
          <a:bodyPr/>
          <a:lstStyle/>
          <a:p>
            <a:endParaRPr lang="fr-FR"/>
          </a:p>
        </p:txBody>
      </p:sp>
      <p:pic>
        <p:nvPicPr>
          <p:cNvPr id="7" name="anim__3__afterprev__fade__whole" descr="C:\Users\Cedric S. DJIGUIMDE\Desktop\Projet\presentation_fibre\assets_themes\spectra\icons\intro_w.png"/>
          <p:cNvPicPr>
            <a:picLocks noChangeAspect="1"/>
          </p:cNvPicPr>
          <p:nvPr/>
        </p:nvPicPr>
        <p:blipFill>
          <a:blip r:embed="rId4"/>
          <a:stretch>
            <a:fillRect/>
          </a:stretch>
        </p:blipFill>
        <p:spPr>
          <a:xfrm>
            <a:off x="1099840" y="2288560"/>
            <a:ext cx="269199" cy="269199"/>
          </a:xfrm>
          <a:prstGeom prst="rect">
            <a:avLst/>
          </a:prstGeom>
        </p:spPr>
      </p:pic>
      <p:sp>
        <p:nvSpPr>
          <p:cNvPr id="8" name="anim__4__withprev__fade__whole"/>
          <p:cNvSpPr/>
          <p:nvPr/>
        </p:nvSpPr>
        <p:spPr>
          <a:xfrm>
            <a:off x="1709928" y="2029968"/>
            <a:ext cx="38862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Introduction</a:t>
            </a:r>
            <a:endParaRPr lang="en-US" sz="1860" dirty="0"/>
          </a:p>
        </p:txBody>
      </p:sp>
      <p:sp>
        <p:nvSpPr>
          <p:cNvPr id="9" name="anim__5__withprev__fade__whole"/>
          <p:cNvSpPr/>
          <p:nvPr/>
        </p:nvSpPr>
        <p:spPr>
          <a:xfrm>
            <a:off x="1709928" y="2450592"/>
            <a:ext cx="3886200" cy="45720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Contexte, problématique &amp; objectifs</a:t>
            </a:r>
            <a:endParaRPr lang="en-US" sz="1330" dirty="0"/>
          </a:p>
        </p:txBody>
      </p:sp>
      <p:sp>
        <p:nvSpPr>
          <p:cNvPr id="10" name="Shape 7"/>
          <p:cNvSpPr/>
          <p:nvPr/>
        </p:nvSpPr>
        <p:spPr>
          <a:xfrm>
            <a:off x="6355080" y="1828800"/>
            <a:ext cx="5120640" cy="1188720"/>
          </a:xfrm>
          <a:prstGeom prst="roundRect">
            <a:avLst>
              <a:gd name="adj" fmla="val 1230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1" name="Shape 8"/>
          <p:cNvSpPr/>
          <p:nvPr/>
        </p:nvSpPr>
        <p:spPr>
          <a:xfrm>
            <a:off x="6355080" y="1975104"/>
            <a:ext cx="64008" cy="896112"/>
          </a:xfrm>
          <a:prstGeom prst="rect">
            <a:avLst/>
          </a:prstGeom>
          <a:solidFill>
            <a:srgbClr val="6D28D9"/>
          </a:solidFill>
          <a:ln/>
        </p:spPr>
        <p:txBody>
          <a:bodyPr/>
          <a:lstStyle/>
          <a:p>
            <a:endParaRPr lang="fr-FR"/>
          </a:p>
        </p:txBody>
      </p:sp>
      <p:sp>
        <p:nvSpPr>
          <p:cNvPr id="12" name="Shape 9"/>
          <p:cNvSpPr/>
          <p:nvPr/>
        </p:nvSpPr>
        <p:spPr>
          <a:xfrm>
            <a:off x="6611112" y="2130552"/>
            <a:ext cx="585216" cy="585216"/>
          </a:xfrm>
          <a:prstGeom prst="ellipse">
            <a:avLst/>
          </a:prstGeom>
          <a:solidFill>
            <a:srgbClr val="6D28D9"/>
          </a:solidFill>
          <a:ln/>
        </p:spPr>
        <p:txBody>
          <a:bodyPr/>
          <a:lstStyle/>
          <a:p>
            <a:endParaRPr lang="fr-FR"/>
          </a:p>
        </p:txBody>
      </p:sp>
      <p:pic>
        <p:nvPicPr>
          <p:cNvPr id="13" name="anim__6__afterprev__fade__whole" descr="C:\Users\Cedric S. DJIGUIMDE\Desktop\Projet\presentation_fibre\assets_themes\spectra\icons\layers_w.png"/>
          <p:cNvPicPr>
            <a:picLocks noChangeAspect="1"/>
          </p:cNvPicPr>
          <p:nvPr/>
        </p:nvPicPr>
        <p:blipFill>
          <a:blip r:embed="rId5"/>
          <a:stretch>
            <a:fillRect/>
          </a:stretch>
        </p:blipFill>
        <p:spPr>
          <a:xfrm>
            <a:off x="6769120" y="2288560"/>
            <a:ext cx="269199" cy="269199"/>
          </a:xfrm>
          <a:prstGeom prst="rect">
            <a:avLst/>
          </a:prstGeom>
        </p:spPr>
      </p:pic>
      <p:sp>
        <p:nvSpPr>
          <p:cNvPr id="14" name="anim__7__withprev__fade__whole"/>
          <p:cNvSpPr/>
          <p:nvPr/>
        </p:nvSpPr>
        <p:spPr>
          <a:xfrm>
            <a:off x="7379208" y="2029968"/>
            <a:ext cx="38862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I — Fondements théoriques</a:t>
            </a:r>
            <a:endParaRPr lang="en-US" sz="1860" dirty="0"/>
          </a:p>
        </p:txBody>
      </p:sp>
      <p:sp>
        <p:nvSpPr>
          <p:cNvPr id="15" name="anim__8__withprev__fade__whole"/>
          <p:cNvSpPr/>
          <p:nvPr/>
        </p:nvSpPr>
        <p:spPr>
          <a:xfrm>
            <a:off x="7379208" y="2450592"/>
            <a:ext cx="3886200" cy="45720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Structure, principes, types &amp; phénomènes limitants</a:t>
            </a:r>
            <a:endParaRPr lang="en-US" sz="1330" dirty="0"/>
          </a:p>
        </p:txBody>
      </p:sp>
      <p:sp>
        <p:nvSpPr>
          <p:cNvPr id="16" name="Shape 12"/>
          <p:cNvSpPr/>
          <p:nvPr/>
        </p:nvSpPr>
        <p:spPr>
          <a:xfrm>
            <a:off x="685800" y="3182112"/>
            <a:ext cx="5120640" cy="1188720"/>
          </a:xfrm>
          <a:prstGeom prst="roundRect">
            <a:avLst>
              <a:gd name="adj" fmla="val 1230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7" name="Shape 13"/>
          <p:cNvSpPr/>
          <p:nvPr/>
        </p:nvSpPr>
        <p:spPr>
          <a:xfrm>
            <a:off x="685800" y="3328416"/>
            <a:ext cx="64008" cy="896112"/>
          </a:xfrm>
          <a:prstGeom prst="rect">
            <a:avLst/>
          </a:prstGeom>
          <a:solidFill>
            <a:srgbClr val="6D28D9"/>
          </a:solidFill>
          <a:ln/>
        </p:spPr>
        <p:txBody>
          <a:bodyPr/>
          <a:lstStyle/>
          <a:p>
            <a:endParaRPr lang="fr-FR"/>
          </a:p>
        </p:txBody>
      </p:sp>
      <p:sp>
        <p:nvSpPr>
          <p:cNvPr id="18" name="Shape 14"/>
          <p:cNvSpPr/>
          <p:nvPr/>
        </p:nvSpPr>
        <p:spPr>
          <a:xfrm>
            <a:off x="941832" y="3483864"/>
            <a:ext cx="585216" cy="585216"/>
          </a:xfrm>
          <a:prstGeom prst="ellipse">
            <a:avLst/>
          </a:prstGeom>
          <a:solidFill>
            <a:srgbClr val="6D28D9"/>
          </a:solidFill>
          <a:ln/>
        </p:spPr>
        <p:txBody>
          <a:bodyPr/>
          <a:lstStyle/>
          <a:p>
            <a:endParaRPr lang="fr-FR"/>
          </a:p>
        </p:txBody>
      </p:sp>
      <p:pic>
        <p:nvPicPr>
          <p:cNvPr id="19" name="anim__9__afterprev__fade__whole" descr="C:\Users\Cedric S. DJIGUIMDE\Desktop\Projet\presentation_fibre\assets_themes\spectra\icons\calc_w.png"/>
          <p:cNvPicPr>
            <a:picLocks noChangeAspect="1"/>
          </p:cNvPicPr>
          <p:nvPr/>
        </p:nvPicPr>
        <p:blipFill>
          <a:blip r:embed="rId6"/>
          <a:stretch>
            <a:fillRect/>
          </a:stretch>
        </p:blipFill>
        <p:spPr>
          <a:xfrm>
            <a:off x="1099840" y="3641872"/>
            <a:ext cx="269199" cy="269199"/>
          </a:xfrm>
          <a:prstGeom prst="rect">
            <a:avLst/>
          </a:prstGeom>
        </p:spPr>
      </p:pic>
      <p:sp>
        <p:nvSpPr>
          <p:cNvPr id="20" name="anim__10__withprev__fade__whole"/>
          <p:cNvSpPr/>
          <p:nvPr/>
        </p:nvSpPr>
        <p:spPr>
          <a:xfrm>
            <a:off x="1709928" y="3383280"/>
            <a:ext cx="38862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II — Dimensionnement de la liaison</a:t>
            </a:r>
            <a:endParaRPr lang="en-US" sz="1860" dirty="0"/>
          </a:p>
        </p:txBody>
      </p:sp>
      <p:sp>
        <p:nvSpPr>
          <p:cNvPr id="21" name="anim__11__withprev__fade__whole"/>
          <p:cNvSpPr/>
          <p:nvPr/>
        </p:nvSpPr>
        <p:spPr>
          <a:xfrm>
            <a:off x="1709928" y="3803904"/>
            <a:ext cx="3886200" cy="45720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Bilans de puissance, de dispersion &amp; portée maximale</a:t>
            </a:r>
            <a:endParaRPr lang="en-US" sz="1330" dirty="0"/>
          </a:p>
        </p:txBody>
      </p:sp>
      <p:sp>
        <p:nvSpPr>
          <p:cNvPr id="22" name="Shape 17"/>
          <p:cNvSpPr/>
          <p:nvPr/>
        </p:nvSpPr>
        <p:spPr>
          <a:xfrm>
            <a:off x="6355080" y="3182112"/>
            <a:ext cx="5120640" cy="1188720"/>
          </a:xfrm>
          <a:prstGeom prst="roundRect">
            <a:avLst>
              <a:gd name="adj" fmla="val 1230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3" name="Shape 18"/>
          <p:cNvSpPr/>
          <p:nvPr/>
        </p:nvSpPr>
        <p:spPr>
          <a:xfrm>
            <a:off x="6355080" y="3328416"/>
            <a:ext cx="64008" cy="896112"/>
          </a:xfrm>
          <a:prstGeom prst="rect">
            <a:avLst/>
          </a:prstGeom>
          <a:solidFill>
            <a:srgbClr val="6D28D9"/>
          </a:solidFill>
          <a:ln/>
        </p:spPr>
        <p:txBody>
          <a:bodyPr/>
          <a:lstStyle/>
          <a:p>
            <a:endParaRPr lang="fr-FR"/>
          </a:p>
        </p:txBody>
      </p:sp>
      <p:sp>
        <p:nvSpPr>
          <p:cNvPr id="24" name="Shape 19"/>
          <p:cNvSpPr/>
          <p:nvPr/>
        </p:nvSpPr>
        <p:spPr>
          <a:xfrm>
            <a:off x="6611112" y="3483864"/>
            <a:ext cx="585216" cy="585216"/>
          </a:xfrm>
          <a:prstGeom prst="ellipse">
            <a:avLst/>
          </a:prstGeom>
          <a:solidFill>
            <a:srgbClr val="6D28D9"/>
          </a:solidFill>
          <a:ln/>
        </p:spPr>
        <p:txBody>
          <a:bodyPr/>
          <a:lstStyle/>
          <a:p>
            <a:endParaRPr lang="fr-FR"/>
          </a:p>
        </p:txBody>
      </p:sp>
      <p:pic>
        <p:nvPicPr>
          <p:cNvPr id="25" name="anim__12__afterprev__fade__whole" descr="C:\Users\Cedric S. DJIGUIMDE\Desktop\Projet\presentation_fibre\assets_themes\spectra\icons\map_w.png"/>
          <p:cNvPicPr>
            <a:picLocks noChangeAspect="1"/>
          </p:cNvPicPr>
          <p:nvPr/>
        </p:nvPicPr>
        <p:blipFill>
          <a:blip r:embed="rId7"/>
          <a:stretch>
            <a:fillRect/>
          </a:stretch>
        </p:blipFill>
        <p:spPr>
          <a:xfrm>
            <a:off x="6769120" y="3641872"/>
            <a:ext cx="269199" cy="269199"/>
          </a:xfrm>
          <a:prstGeom prst="rect">
            <a:avLst/>
          </a:prstGeom>
        </p:spPr>
      </p:pic>
      <p:sp>
        <p:nvSpPr>
          <p:cNvPr id="26" name="anim__13__withprev__fade__whole"/>
          <p:cNvSpPr/>
          <p:nvPr/>
        </p:nvSpPr>
        <p:spPr>
          <a:xfrm>
            <a:off x="7379208" y="3383280"/>
            <a:ext cx="38862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III — Cas d'application</a:t>
            </a:r>
            <a:endParaRPr lang="en-US" sz="1860" dirty="0"/>
          </a:p>
        </p:txBody>
      </p:sp>
      <p:sp>
        <p:nvSpPr>
          <p:cNvPr id="27" name="anim__14__withprev__fade__whole"/>
          <p:cNvSpPr/>
          <p:nvPr/>
        </p:nvSpPr>
        <p:spPr>
          <a:xfrm>
            <a:off x="7379208" y="3803904"/>
            <a:ext cx="3886200" cy="45720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Scénario sénégalais : corridor Dakar–Thiès</a:t>
            </a:r>
            <a:endParaRPr lang="en-US" sz="1330" dirty="0"/>
          </a:p>
        </p:txBody>
      </p:sp>
      <p:sp>
        <p:nvSpPr>
          <p:cNvPr id="28" name="Shape 22"/>
          <p:cNvSpPr/>
          <p:nvPr/>
        </p:nvSpPr>
        <p:spPr>
          <a:xfrm>
            <a:off x="685800" y="4535424"/>
            <a:ext cx="5120640" cy="1188720"/>
          </a:xfrm>
          <a:prstGeom prst="roundRect">
            <a:avLst>
              <a:gd name="adj" fmla="val 1230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9" name="Shape 23"/>
          <p:cNvSpPr/>
          <p:nvPr/>
        </p:nvSpPr>
        <p:spPr>
          <a:xfrm>
            <a:off x="685800" y="4681728"/>
            <a:ext cx="64008" cy="896112"/>
          </a:xfrm>
          <a:prstGeom prst="rect">
            <a:avLst/>
          </a:prstGeom>
          <a:solidFill>
            <a:srgbClr val="6D28D9"/>
          </a:solidFill>
          <a:ln/>
        </p:spPr>
        <p:txBody>
          <a:bodyPr/>
          <a:lstStyle/>
          <a:p>
            <a:endParaRPr lang="fr-FR"/>
          </a:p>
        </p:txBody>
      </p:sp>
      <p:sp>
        <p:nvSpPr>
          <p:cNvPr id="30" name="Shape 24"/>
          <p:cNvSpPr/>
          <p:nvPr/>
        </p:nvSpPr>
        <p:spPr>
          <a:xfrm>
            <a:off x="941832" y="4837176"/>
            <a:ext cx="585216" cy="585216"/>
          </a:xfrm>
          <a:prstGeom prst="ellipse">
            <a:avLst/>
          </a:prstGeom>
          <a:solidFill>
            <a:srgbClr val="6D28D9"/>
          </a:solidFill>
          <a:ln/>
        </p:spPr>
        <p:txBody>
          <a:bodyPr/>
          <a:lstStyle/>
          <a:p>
            <a:endParaRPr lang="fr-FR"/>
          </a:p>
        </p:txBody>
      </p:sp>
      <p:pic>
        <p:nvPicPr>
          <p:cNvPr id="31" name="anim__15__afterprev__fade__whole" descr="C:\Users\Cedric S. DJIGUIMDE\Desktop\Projet\presentation_fibre\assets_themes\spectra\icons\flask_w.png"/>
          <p:cNvPicPr>
            <a:picLocks noChangeAspect="1"/>
          </p:cNvPicPr>
          <p:nvPr/>
        </p:nvPicPr>
        <p:blipFill>
          <a:blip r:embed="rId8"/>
          <a:stretch>
            <a:fillRect/>
          </a:stretch>
        </p:blipFill>
        <p:spPr>
          <a:xfrm>
            <a:off x="1099840" y="4995184"/>
            <a:ext cx="269199" cy="269199"/>
          </a:xfrm>
          <a:prstGeom prst="rect">
            <a:avLst/>
          </a:prstGeom>
        </p:spPr>
      </p:pic>
      <p:sp>
        <p:nvSpPr>
          <p:cNvPr id="32" name="anim__16__withprev__fade__whole"/>
          <p:cNvSpPr/>
          <p:nvPr/>
        </p:nvSpPr>
        <p:spPr>
          <a:xfrm>
            <a:off x="1709928" y="4736592"/>
            <a:ext cx="38862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IV — Simulation sous Excel</a:t>
            </a:r>
            <a:endParaRPr lang="en-US" sz="1860" dirty="0"/>
          </a:p>
        </p:txBody>
      </p:sp>
      <p:sp>
        <p:nvSpPr>
          <p:cNvPr id="33" name="anim__17__withprev__fade__whole"/>
          <p:cNvSpPr/>
          <p:nvPr/>
        </p:nvSpPr>
        <p:spPr>
          <a:xfrm>
            <a:off x="1709928" y="5157216"/>
            <a:ext cx="3886200" cy="45720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Classeur paramétré &amp; analyse de sensibilité</a:t>
            </a:r>
            <a:endParaRPr lang="en-US" sz="1330" dirty="0"/>
          </a:p>
        </p:txBody>
      </p:sp>
      <p:sp>
        <p:nvSpPr>
          <p:cNvPr id="34" name="Shape 27"/>
          <p:cNvSpPr/>
          <p:nvPr/>
        </p:nvSpPr>
        <p:spPr>
          <a:xfrm>
            <a:off x="6355080" y="4535424"/>
            <a:ext cx="5120640" cy="1188720"/>
          </a:xfrm>
          <a:prstGeom prst="roundRect">
            <a:avLst>
              <a:gd name="adj" fmla="val 1230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35" name="Shape 28"/>
          <p:cNvSpPr/>
          <p:nvPr/>
        </p:nvSpPr>
        <p:spPr>
          <a:xfrm>
            <a:off x="6355080" y="4681728"/>
            <a:ext cx="64008" cy="896112"/>
          </a:xfrm>
          <a:prstGeom prst="rect">
            <a:avLst/>
          </a:prstGeom>
          <a:solidFill>
            <a:srgbClr val="6D28D9"/>
          </a:solidFill>
          <a:ln/>
        </p:spPr>
        <p:txBody>
          <a:bodyPr/>
          <a:lstStyle/>
          <a:p>
            <a:endParaRPr lang="fr-FR"/>
          </a:p>
        </p:txBody>
      </p:sp>
      <p:sp>
        <p:nvSpPr>
          <p:cNvPr id="36" name="Shape 29"/>
          <p:cNvSpPr/>
          <p:nvPr/>
        </p:nvSpPr>
        <p:spPr>
          <a:xfrm>
            <a:off x="6611112" y="4837176"/>
            <a:ext cx="585216" cy="585216"/>
          </a:xfrm>
          <a:prstGeom prst="ellipse">
            <a:avLst/>
          </a:prstGeom>
          <a:solidFill>
            <a:srgbClr val="6D28D9"/>
          </a:solidFill>
          <a:ln/>
        </p:spPr>
        <p:txBody>
          <a:bodyPr/>
          <a:lstStyle/>
          <a:p>
            <a:endParaRPr lang="fr-FR"/>
          </a:p>
        </p:txBody>
      </p:sp>
      <p:pic>
        <p:nvPicPr>
          <p:cNvPr id="37" name="anim__18__afterprev__fade__whole" descr="C:\Users\Cedric S. DJIGUIMDE\Desktop\Projet\presentation_fibre\assets_themes\spectra\icons\check_w.png"/>
          <p:cNvPicPr>
            <a:picLocks noChangeAspect="1"/>
          </p:cNvPicPr>
          <p:nvPr/>
        </p:nvPicPr>
        <p:blipFill>
          <a:blip r:embed="rId9"/>
          <a:stretch>
            <a:fillRect/>
          </a:stretch>
        </p:blipFill>
        <p:spPr>
          <a:xfrm>
            <a:off x="6769120" y="4995184"/>
            <a:ext cx="269199" cy="269199"/>
          </a:xfrm>
          <a:prstGeom prst="rect">
            <a:avLst/>
          </a:prstGeom>
        </p:spPr>
      </p:pic>
      <p:sp>
        <p:nvSpPr>
          <p:cNvPr id="38" name="anim__19__withprev__fade__whole"/>
          <p:cNvSpPr/>
          <p:nvPr/>
        </p:nvSpPr>
        <p:spPr>
          <a:xfrm>
            <a:off x="7379208" y="4736592"/>
            <a:ext cx="38862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Conclusion</a:t>
            </a:r>
            <a:endParaRPr lang="en-US" sz="1860" dirty="0"/>
          </a:p>
        </p:txBody>
      </p:sp>
      <p:sp>
        <p:nvSpPr>
          <p:cNvPr id="39" name="anim__20__withprev__fade__whole"/>
          <p:cNvSpPr/>
          <p:nvPr/>
        </p:nvSpPr>
        <p:spPr>
          <a:xfrm>
            <a:off x="7379208" y="5157216"/>
            <a:ext cx="3886200" cy="45720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Synthèse des résultats &amp; perspectives</a:t>
            </a:r>
            <a:endParaRPr lang="en-US" sz="1330" dirty="0"/>
          </a:p>
        </p:txBody>
      </p:sp>
      <p:sp>
        <p:nvSpPr>
          <p:cNvPr id="40" name="Text 32"/>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41" name="Text 33"/>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2</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8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50"/>
                                  <p:tgtEl>
                                    <p:spTgt spid="7"/>
                                  </p:tgtEl>
                                </p:cBhvr>
                              </p:animEffect>
                            </p:childTnLst>
                          </p:cTn>
                        </p:par>
                        <p:par>
                          <p:cTn id="16" presetID="10" presetClass="entr" presetSubtype="0" fill="hold" grpId="3"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50"/>
                                  <p:tgtEl>
                                    <p:spTgt spid="8"/>
                                  </p:tgtEl>
                                </p:cBhvr>
                              </p:animEffect>
                            </p:childTnLst>
                          </p:cTn>
                        </p:par>
                        <p:par>
                          <p:cTn id="19" presetID="10" presetClass="entr" presetSubtype="0" fill="hold" grpId="4"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50"/>
                                  <p:tgtEl>
                                    <p:spTgt spid="9"/>
                                  </p:tgtEl>
                                </p:cBhvr>
                              </p:animEffect>
                            </p:childTnLst>
                          </p:cTn>
                        </p:par>
                      </p:childTnLst>
                    </p:cTn>
                  </p:par>
                  <p:par>
                    <p:cTn id="22" fill="hold">
                      <p:stCondLst>
                        <p:cond delay="7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50"/>
                                  <p:tgtEl>
                                    <p:spTgt spid="13"/>
                                  </p:tgtEl>
                                </p:cBhvr>
                              </p:animEffect>
                            </p:childTnLst>
                          </p:cTn>
                        </p:par>
                        <p:par>
                          <p:cTn id="26" presetID="10" presetClass="entr" presetSubtype="0" fill="hold" grpId="6"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50"/>
                                  <p:tgtEl>
                                    <p:spTgt spid="14"/>
                                  </p:tgtEl>
                                </p:cBhvr>
                              </p:animEffect>
                            </p:childTnLst>
                          </p:cTn>
                        </p:par>
                        <p:par>
                          <p:cTn id="29" presetID="10" presetClass="entr" presetSubtype="0" fill="hold" grpId="7"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50"/>
                                  <p:tgtEl>
                                    <p:spTgt spid="15"/>
                                  </p:tgtEl>
                                </p:cBhvr>
                              </p:animEffect>
                            </p:childTnLst>
                          </p:cTn>
                        </p:par>
                      </p:childTnLst>
                    </p:cTn>
                  </p:par>
                  <p:par>
                    <p:cTn id="32" fill="hold">
                      <p:stCondLst>
                        <p:cond delay="70"/>
                      </p:stCondLst>
                      <p:childTnLst>
                        <p:par>
                          <p:cTn id="33" presetID="10" presetClass="entr" presetSubtype="0"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350"/>
                                  <p:tgtEl>
                                    <p:spTgt spid="19"/>
                                  </p:tgtEl>
                                </p:cBhvr>
                              </p:animEffect>
                            </p:childTnLst>
                          </p:cTn>
                        </p:par>
                        <p:par>
                          <p:cTn id="36" presetID="10" presetClass="entr" presetSubtype="0" fill="hold" grpId="9"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350"/>
                                  <p:tgtEl>
                                    <p:spTgt spid="20"/>
                                  </p:tgtEl>
                                </p:cBhvr>
                              </p:animEffect>
                            </p:childTnLst>
                          </p:cTn>
                        </p:par>
                        <p:par>
                          <p:cTn id="39" presetID="10" presetClass="entr" presetSubtype="0" fill="hold" grpId="1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350"/>
                                  <p:tgtEl>
                                    <p:spTgt spid="21"/>
                                  </p:tgtEl>
                                </p:cBhvr>
                              </p:animEffect>
                            </p:childTnLst>
                          </p:cTn>
                        </p:par>
                      </p:childTnLst>
                    </p:cTn>
                  </p:par>
                  <p:par>
                    <p:cTn id="42" fill="hold">
                      <p:stCondLst>
                        <p:cond delay="70"/>
                      </p:stCondLst>
                      <p:childTnLst>
                        <p:par>
                          <p:cTn id="43" presetID="10" presetClass="entr" presetSubtype="0" fill="hold"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350"/>
                                  <p:tgtEl>
                                    <p:spTgt spid="25"/>
                                  </p:tgtEl>
                                </p:cBhvr>
                              </p:animEffect>
                            </p:childTnLst>
                          </p:cTn>
                        </p:par>
                        <p:par>
                          <p:cTn id="46" presetID="10" presetClass="entr" presetSubtype="0" fill="hold" grpId="12"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350"/>
                                  <p:tgtEl>
                                    <p:spTgt spid="26"/>
                                  </p:tgtEl>
                                </p:cBhvr>
                              </p:animEffect>
                            </p:childTnLst>
                          </p:cTn>
                        </p:par>
                        <p:par>
                          <p:cTn id="49" presetID="10" presetClass="entr" presetSubtype="0" fill="hold" grpId="13"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350"/>
                                  <p:tgtEl>
                                    <p:spTgt spid="27"/>
                                  </p:tgtEl>
                                </p:cBhvr>
                              </p:animEffect>
                            </p:childTnLst>
                          </p:cTn>
                        </p:par>
                      </p:childTnLst>
                    </p:cTn>
                  </p:par>
                  <p:par>
                    <p:cTn id="52" fill="hold">
                      <p:stCondLst>
                        <p:cond delay="70"/>
                      </p:stCondLst>
                      <p:childTnLst>
                        <p:par>
                          <p:cTn id="53" presetID="10" presetClass="entr" presetSubtype="0" fill="hold" nodeType="after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50"/>
                                  <p:tgtEl>
                                    <p:spTgt spid="31"/>
                                  </p:tgtEl>
                                </p:cBhvr>
                              </p:animEffect>
                            </p:childTnLst>
                          </p:cTn>
                        </p:par>
                        <p:par>
                          <p:cTn id="56" presetID="10" presetClass="entr" presetSubtype="0" fill="hold" grpId="15"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350"/>
                                  <p:tgtEl>
                                    <p:spTgt spid="32"/>
                                  </p:tgtEl>
                                </p:cBhvr>
                              </p:animEffect>
                            </p:childTnLst>
                          </p:cTn>
                        </p:par>
                        <p:par>
                          <p:cTn id="59" presetID="10" presetClass="entr" presetSubtype="0" fill="hold" grpId="16"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50"/>
                                  <p:tgtEl>
                                    <p:spTgt spid="33"/>
                                  </p:tgtEl>
                                </p:cBhvr>
                              </p:animEffect>
                            </p:childTnLst>
                          </p:cTn>
                        </p:par>
                      </p:childTnLst>
                    </p:cTn>
                  </p:par>
                  <p:par>
                    <p:cTn id="62" fill="hold">
                      <p:stCondLst>
                        <p:cond delay="70"/>
                      </p:stCondLst>
                      <p:childTnLst>
                        <p:par>
                          <p:cTn id="63" presetID="10" presetClass="entr" presetSubtype="0" fill="hold" nodeType="after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350"/>
                                  <p:tgtEl>
                                    <p:spTgt spid="37"/>
                                  </p:tgtEl>
                                </p:cBhvr>
                              </p:animEffect>
                            </p:childTnLst>
                          </p:cTn>
                        </p:par>
                        <p:par>
                          <p:cTn id="66" presetID="10" presetClass="entr" presetSubtype="0" fill="hold" grpId="18"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350"/>
                                  <p:tgtEl>
                                    <p:spTgt spid="38"/>
                                  </p:tgtEl>
                                </p:cBhvr>
                              </p:animEffect>
                            </p:childTnLst>
                          </p:cTn>
                        </p:par>
                        <p:par>
                          <p:cTn id="69" presetID="10" presetClass="entr" presetSubtype="0" fill="hold" grpId="19"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350"/>
                                  <p:tgtEl>
                                    <p:spTgt spid="3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8" grpId="3" animBg="1"/>
      <p:bldP spid="9" grpId="4" animBg="1"/>
      <p:bldP spid="14" grpId="6" animBg="1"/>
      <p:bldP spid="15" grpId="7" animBg="1"/>
      <p:bldP spid="20" grpId="9" animBg="1"/>
      <p:bldP spid="21" grpId="10" animBg="1"/>
      <p:bldP spid="26" grpId="12" animBg="1"/>
      <p:bldP spid="27" grpId="13" animBg="1"/>
      <p:bldP spid="32" grpId="15" animBg="1"/>
      <p:bldP spid="33" grpId="16" animBg="1"/>
      <p:bldP spid="38" grpId="18" animBg="1"/>
      <p:bldP spid="39" grpId="19"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INTRODUCTION</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Pourquoi dimensionner une liaison optique ?</a:t>
            </a:r>
            <a:endParaRPr lang="en-US" sz="3100" dirty="0"/>
          </a:p>
        </p:txBody>
      </p:sp>
      <p:sp>
        <p:nvSpPr>
          <p:cNvPr id="4" name="Shape 2"/>
          <p:cNvSpPr/>
          <p:nvPr/>
        </p:nvSpPr>
        <p:spPr>
          <a:xfrm>
            <a:off x="685800" y="1828800"/>
            <a:ext cx="5943600" cy="4206240"/>
          </a:xfrm>
          <a:prstGeom prst="roundRect">
            <a:avLst>
              <a:gd name="adj" fmla="val 347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3913632"/>
          </a:xfrm>
          <a:prstGeom prst="rect">
            <a:avLst/>
          </a:prstGeom>
          <a:solidFill>
            <a:srgbClr val="6D28D9"/>
          </a:solidFill>
          <a:ln/>
        </p:spPr>
        <p:txBody>
          <a:bodyPr/>
          <a:lstStyle/>
          <a:p>
            <a:endParaRPr lang="fr-FR"/>
          </a:p>
        </p:txBody>
      </p:sp>
      <p:sp>
        <p:nvSpPr>
          <p:cNvPr id="6" name="anim__3__afterprev__fade__whole"/>
          <p:cNvSpPr/>
          <p:nvPr/>
        </p:nvSpPr>
        <p:spPr>
          <a:xfrm>
            <a:off x="978408" y="2066544"/>
            <a:ext cx="5394960" cy="822960"/>
          </a:xfrm>
          <a:prstGeom prst="rect">
            <a:avLst/>
          </a:prstGeom>
          <a:noFill/>
          <a:ln/>
        </p:spPr>
        <p:txBody>
          <a:bodyPr wrap="square" lIns="0" tIns="0" rIns="0" bIns="0" rtlCol="0" anchor="ctr"/>
          <a:lstStyle/>
          <a:p>
            <a:pPr marL="0" indent="0">
              <a:lnSpc>
                <a:spcPct val="118000"/>
              </a:lnSpc>
              <a:buNone/>
            </a:pPr>
            <a:r>
              <a:rPr lang="en-US" sz="1680" b="1" dirty="0">
                <a:solidFill>
                  <a:srgbClr val="20183F"/>
                </a:solidFill>
                <a:latin typeface="Segoe UI" pitchFamily="34" charset="0"/>
                <a:ea typeface="Segoe UI" pitchFamily="34" charset="-122"/>
                <a:cs typeface="Segoe UI" pitchFamily="34" charset="-120"/>
              </a:rPr>
              <a:t>À l'ère du tout-numérique</a:t>
            </a:r>
            <a:r>
              <a:rPr lang="en-US" sz="1680" dirty="0">
                <a:solidFill>
                  <a:srgbClr val="3F3D56"/>
                </a:solidFill>
                <a:latin typeface="Segoe UI" pitchFamily="34" charset="0"/>
                <a:ea typeface="Segoe UI" pitchFamily="34" charset="-122"/>
                <a:cs typeface="Segoe UI" pitchFamily="34" charset="-120"/>
              </a:rPr>
              <a:t> — streaming, cloud, 5G, IoT — la demande de débit croît de façon exponentielle.</a:t>
            </a:r>
            <a:endParaRPr lang="en-US" sz="1680" dirty="0"/>
          </a:p>
        </p:txBody>
      </p:sp>
      <p:sp>
        <p:nvSpPr>
          <p:cNvPr id="7" name="anim__4__afterprev__fade__whole"/>
          <p:cNvSpPr/>
          <p:nvPr/>
        </p:nvSpPr>
        <p:spPr>
          <a:xfrm>
            <a:off x="978408" y="2926080"/>
            <a:ext cx="5394960" cy="1097280"/>
          </a:xfrm>
          <a:prstGeom prst="rect">
            <a:avLst/>
          </a:prstGeom>
          <a:noFill/>
          <a:ln/>
        </p:spPr>
        <p:txBody>
          <a:bodyPr wrap="square" lIns="0" tIns="0" rIns="0" bIns="0" rtlCol="0" anchor="ctr"/>
          <a:lstStyle/>
          <a:p>
            <a:pPr marL="0" indent="0">
              <a:lnSpc>
                <a:spcPct val="118000"/>
              </a:lnSpc>
              <a:buNone/>
            </a:pPr>
            <a:r>
              <a:rPr lang="en-US" sz="1570" dirty="0">
                <a:solidFill>
                  <a:srgbClr val="3F3D56"/>
                </a:solidFill>
                <a:latin typeface="Segoe UI" pitchFamily="34" charset="0"/>
                <a:ea typeface="Segoe UI" pitchFamily="34" charset="-122"/>
                <a:cs typeface="Segoe UI" pitchFamily="34" charset="-120"/>
              </a:rPr>
              <a:t>La fibre optique est la colonne vertébrale des réseaux : débits du Tbit/s, atténuation &lt; 0,2 dB/km, immunité aux interférences. Au Sénégal : câble ACE, backbone Sonatel/Orange, FTTH.</a:t>
            </a:r>
            <a:endParaRPr lang="en-US" sz="1570" dirty="0"/>
          </a:p>
        </p:txBody>
      </p:sp>
      <p:sp>
        <p:nvSpPr>
          <p:cNvPr id="8" name="Shape 6"/>
          <p:cNvSpPr/>
          <p:nvPr/>
        </p:nvSpPr>
        <p:spPr>
          <a:xfrm>
            <a:off x="978408" y="4114800"/>
            <a:ext cx="5358384" cy="1691640"/>
          </a:xfrm>
          <a:prstGeom prst="roundRect">
            <a:avLst>
              <a:gd name="adj" fmla="val 8649"/>
            </a:avLst>
          </a:prstGeom>
          <a:solidFill>
            <a:srgbClr val="EFE9FF"/>
          </a:solidFill>
          <a:ln/>
        </p:spPr>
        <p:txBody>
          <a:bodyPr/>
          <a:lstStyle/>
          <a:p>
            <a:endParaRPr lang="fr-FR"/>
          </a:p>
        </p:txBody>
      </p:sp>
      <p:sp>
        <p:nvSpPr>
          <p:cNvPr id="9" name="anim__5__afterprev__fade__whole"/>
          <p:cNvSpPr/>
          <p:nvPr/>
        </p:nvSpPr>
        <p:spPr>
          <a:xfrm>
            <a:off x="1188720" y="4251960"/>
            <a:ext cx="5029200" cy="1463040"/>
          </a:xfrm>
          <a:prstGeom prst="rect">
            <a:avLst/>
          </a:prstGeom>
          <a:noFill/>
          <a:ln/>
        </p:spPr>
        <p:txBody>
          <a:bodyPr wrap="square" lIns="0" tIns="0" rIns="0" bIns="0" rtlCol="0" anchor="ctr"/>
          <a:lstStyle/>
          <a:p>
            <a:pPr marL="0" indent="0">
              <a:lnSpc>
                <a:spcPct val="120000"/>
              </a:lnSpc>
              <a:buNone/>
            </a:pPr>
            <a:r>
              <a:rPr lang="en-US" sz="1570" b="1" dirty="0">
                <a:solidFill>
                  <a:srgbClr val="6D28D9"/>
                </a:solidFill>
                <a:latin typeface="Segoe UI" pitchFamily="34" charset="0"/>
                <a:ea typeface="Segoe UI" pitchFamily="34" charset="-122"/>
                <a:cs typeface="Segoe UI" pitchFamily="34" charset="-120"/>
              </a:rPr>
              <a:t>Problématique
</a:t>
            </a:r>
            <a:r>
              <a:rPr lang="en-US" sz="1570" i="1" dirty="0">
                <a:solidFill>
                  <a:srgbClr val="20183F"/>
                </a:solidFill>
                <a:latin typeface="Segoe UI" pitchFamily="34" charset="0"/>
                <a:ea typeface="Segoe UI" pitchFamily="34" charset="-122"/>
                <a:cs typeface="Segoe UI" pitchFamily="34" charset="-120"/>
              </a:rPr>
              <a:t>Comment garantir, avant déploiement, qu'un signal reste exploitable de l'émetteur au récepteur malgré les pertes de propagation ?</a:t>
            </a:r>
            <a:endParaRPr lang="en-US" sz="1570" dirty="0"/>
          </a:p>
        </p:txBody>
      </p:sp>
      <p:sp>
        <p:nvSpPr>
          <p:cNvPr id="10" name="anim__6__afterprev__fade__whole"/>
          <p:cNvSpPr/>
          <p:nvPr/>
        </p:nvSpPr>
        <p:spPr>
          <a:xfrm>
            <a:off x="6903720" y="1828800"/>
            <a:ext cx="4599432" cy="292608"/>
          </a:xfrm>
          <a:prstGeom prst="rect">
            <a:avLst/>
          </a:prstGeom>
          <a:noFill/>
          <a:ln/>
        </p:spPr>
        <p:txBody>
          <a:bodyPr wrap="square" lIns="0" tIns="0" rIns="0" bIns="0" rtlCol="0" anchor="ctr"/>
          <a:lstStyle/>
          <a:p>
            <a:pPr marL="0" indent="0">
              <a:buNone/>
            </a:pPr>
            <a:r>
              <a:rPr lang="en-US" sz="1330" b="1" kern="0" spc="200" dirty="0">
                <a:solidFill>
                  <a:srgbClr val="6D28D9"/>
                </a:solidFill>
                <a:latin typeface="Segoe UI Semibold" pitchFamily="34" charset="0"/>
                <a:ea typeface="Segoe UI Semibold" pitchFamily="34" charset="-122"/>
                <a:cs typeface="Segoe UI Semibold" pitchFamily="34" charset="-120"/>
              </a:rPr>
              <a:t>TROIS ENJEUX INTERDÉPENDANTS</a:t>
            </a:r>
            <a:endParaRPr lang="en-US" sz="1330" dirty="0"/>
          </a:p>
        </p:txBody>
      </p:sp>
      <p:sp>
        <p:nvSpPr>
          <p:cNvPr id="11" name="Shape 9"/>
          <p:cNvSpPr/>
          <p:nvPr/>
        </p:nvSpPr>
        <p:spPr>
          <a:xfrm>
            <a:off x="6903720" y="2212848"/>
            <a:ext cx="4599432" cy="786384"/>
          </a:xfrm>
          <a:prstGeom prst="roundRect">
            <a:avLst>
              <a:gd name="adj" fmla="val 186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2" name="Shape 10"/>
          <p:cNvSpPr/>
          <p:nvPr/>
        </p:nvSpPr>
        <p:spPr>
          <a:xfrm>
            <a:off x="7086600" y="2331720"/>
            <a:ext cx="548640" cy="548640"/>
          </a:xfrm>
          <a:prstGeom prst="ellipse">
            <a:avLst/>
          </a:prstGeom>
          <a:solidFill>
            <a:srgbClr val="6D28D9"/>
          </a:solidFill>
          <a:ln/>
        </p:spPr>
        <p:txBody>
          <a:bodyPr/>
          <a:lstStyle/>
          <a:p>
            <a:endParaRPr lang="fr-FR"/>
          </a:p>
        </p:txBody>
      </p:sp>
      <p:pic>
        <p:nvPicPr>
          <p:cNvPr id="13" name="anim__7__afterprev__fade__whole" descr="C:\Users\Cedric S. DJIGUIMDE\Desktop\Projet\presentation_fibre\assets_themes\spectra\icons\bolt_w.png"/>
          <p:cNvPicPr>
            <a:picLocks noChangeAspect="1"/>
          </p:cNvPicPr>
          <p:nvPr/>
        </p:nvPicPr>
        <p:blipFill>
          <a:blip r:embed="rId4"/>
          <a:stretch>
            <a:fillRect/>
          </a:stretch>
        </p:blipFill>
        <p:spPr>
          <a:xfrm>
            <a:off x="7234733" y="2479853"/>
            <a:ext cx="252374" cy="252374"/>
          </a:xfrm>
          <a:prstGeom prst="rect">
            <a:avLst/>
          </a:prstGeom>
        </p:spPr>
      </p:pic>
      <p:sp>
        <p:nvSpPr>
          <p:cNvPr id="14" name="anim__8__withprev__fade__whole"/>
          <p:cNvSpPr/>
          <p:nvPr/>
        </p:nvSpPr>
        <p:spPr>
          <a:xfrm>
            <a:off x="7799832" y="2322576"/>
            <a:ext cx="3547872" cy="320040"/>
          </a:xfrm>
          <a:prstGeom prst="rect">
            <a:avLst/>
          </a:prstGeom>
          <a:noFill/>
          <a:ln/>
        </p:spPr>
        <p:txBody>
          <a:bodyPr wrap="square" lIns="0" tIns="0" rIns="0" bIns="0" rtlCol="0" anchor="ctr"/>
          <a:lstStyle/>
          <a:p>
            <a:pPr marL="0" indent="0">
              <a:buNone/>
            </a:pPr>
            <a:r>
              <a:rPr lang="en-US" sz="1620" b="1" dirty="0">
                <a:solidFill>
                  <a:srgbClr val="20183F"/>
                </a:solidFill>
                <a:latin typeface="Segoe UI Semibold" pitchFamily="34" charset="0"/>
                <a:ea typeface="Segoe UI Semibold" pitchFamily="34" charset="-122"/>
                <a:cs typeface="Segoe UI Semibold" pitchFamily="34" charset="-120"/>
              </a:rPr>
              <a:t>Atténuation</a:t>
            </a:r>
            <a:endParaRPr lang="en-US" sz="1620" dirty="0"/>
          </a:p>
        </p:txBody>
      </p:sp>
      <p:sp>
        <p:nvSpPr>
          <p:cNvPr id="15" name="anim__9__withprev__fade__whole"/>
          <p:cNvSpPr/>
          <p:nvPr/>
        </p:nvSpPr>
        <p:spPr>
          <a:xfrm>
            <a:off x="7799832" y="2633472"/>
            <a:ext cx="3547872" cy="329184"/>
          </a:xfrm>
          <a:prstGeom prst="rect">
            <a:avLst/>
          </a:prstGeom>
          <a:noFill/>
          <a:ln/>
        </p:spPr>
        <p:txBody>
          <a:bodyPr wrap="square" lIns="0" tIns="0" rIns="0" bIns="0" rtlCol="0" anchor="ctr"/>
          <a:lstStyle/>
          <a:p>
            <a:pPr marL="0" indent="0">
              <a:buNone/>
            </a:pPr>
            <a:r>
              <a:rPr lang="en-US" sz="1280" dirty="0">
                <a:solidFill>
                  <a:srgbClr val="847FA6"/>
                </a:solidFill>
                <a:latin typeface="Segoe UI" pitchFamily="34" charset="0"/>
                <a:ea typeface="Segoe UI" pitchFamily="34" charset="-122"/>
                <a:cs typeface="Segoe UI" pitchFamily="34" charset="-120"/>
              </a:rPr>
              <a:t>Consomme le budget de puissance, km après km</a:t>
            </a:r>
            <a:endParaRPr lang="en-US" sz="1280" dirty="0"/>
          </a:p>
        </p:txBody>
      </p:sp>
      <p:sp>
        <p:nvSpPr>
          <p:cNvPr id="16" name="Shape 13"/>
          <p:cNvSpPr/>
          <p:nvPr/>
        </p:nvSpPr>
        <p:spPr>
          <a:xfrm>
            <a:off x="6903720" y="3127248"/>
            <a:ext cx="4599432" cy="786384"/>
          </a:xfrm>
          <a:prstGeom prst="roundRect">
            <a:avLst>
              <a:gd name="adj" fmla="val 186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7" name="Shape 14"/>
          <p:cNvSpPr/>
          <p:nvPr/>
        </p:nvSpPr>
        <p:spPr>
          <a:xfrm>
            <a:off x="7086600" y="3246120"/>
            <a:ext cx="548640" cy="548640"/>
          </a:xfrm>
          <a:prstGeom prst="ellipse">
            <a:avLst/>
          </a:prstGeom>
          <a:solidFill>
            <a:srgbClr val="6D28D9"/>
          </a:solidFill>
          <a:ln/>
        </p:spPr>
        <p:txBody>
          <a:bodyPr/>
          <a:lstStyle/>
          <a:p>
            <a:endParaRPr lang="fr-FR"/>
          </a:p>
        </p:txBody>
      </p:sp>
      <p:pic>
        <p:nvPicPr>
          <p:cNvPr id="18" name="anim__10__afterprev__fade__whole" descr="C:\Users\Cedric S. DJIGUIMDE\Desktop\Projet\presentation_fibre\assets_themes\spectra\icons\wave_w.png"/>
          <p:cNvPicPr>
            <a:picLocks noChangeAspect="1"/>
          </p:cNvPicPr>
          <p:nvPr/>
        </p:nvPicPr>
        <p:blipFill>
          <a:blip r:embed="rId5"/>
          <a:stretch>
            <a:fillRect/>
          </a:stretch>
        </p:blipFill>
        <p:spPr>
          <a:xfrm>
            <a:off x="7234733" y="3394253"/>
            <a:ext cx="252374" cy="252374"/>
          </a:xfrm>
          <a:prstGeom prst="rect">
            <a:avLst/>
          </a:prstGeom>
        </p:spPr>
      </p:pic>
      <p:sp>
        <p:nvSpPr>
          <p:cNvPr id="19" name="anim__11__withprev__fade__whole"/>
          <p:cNvSpPr/>
          <p:nvPr/>
        </p:nvSpPr>
        <p:spPr>
          <a:xfrm>
            <a:off x="7799832" y="3236976"/>
            <a:ext cx="3547872" cy="320040"/>
          </a:xfrm>
          <a:prstGeom prst="rect">
            <a:avLst/>
          </a:prstGeom>
          <a:noFill/>
          <a:ln/>
        </p:spPr>
        <p:txBody>
          <a:bodyPr wrap="square" lIns="0" tIns="0" rIns="0" bIns="0" rtlCol="0" anchor="ctr"/>
          <a:lstStyle/>
          <a:p>
            <a:pPr marL="0" indent="0">
              <a:buNone/>
            </a:pPr>
            <a:r>
              <a:rPr lang="en-US" sz="1620" b="1" dirty="0">
                <a:solidFill>
                  <a:srgbClr val="20183F"/>
                </a:solidFill>
                <a:latin typeface="Segoe UI Semibold" pitchFamily="34" charset="0"/>
                <a:ea typeface="Segoe UI Semibold" pitchFamily="34" charset="-122"/>
                <a:cs typeface="Segoe UI Semibold" pitchFamily="34" charset="-120"/>
              </a:rPr>
              <a:t>Dispersion chromatique</a:t>
            </a:r>
            <a:endParaRPr lang="en-US" sz="1620" dirty="0"/>
          </a:p>
        </p:txBody>
      </p:sp>
      <p:sp>
        <p:nvSpPr>
          <p:cNvPr id="20" name="anim__12__withprev__fade__whole"/>
          <p:cNvSpPr/>
          <p:nvPr/>
        </p:nvSpPr>
        <p:spPr>
          <a:xfrm>
            <a:off x="7799832" y="3547872"/>
            <a:ext cx="3547872" cy="329184"/>
          </a:xfrm>
          <a:prstGeom prst="rect">
            <a:avLst/>
          </a:prstGeom>
          <a:noFill/>
          <a:ln/>
        </p:spPr>
        <p:txBody>
          <a:bodyPr wrap="square" lIns="0" tIns="0" rIns="0" bIns="0" rtlCol="0" anchor="ctr"/>
          <a:lstStyle/>
          <a:p>
            <a:pPr marL="0" indent="0">
              <a:buNone/>
            </a:pPr>
            <a:r>
              <a:rPr lang="en-US" sz="1280" dirty="0">
                <a:solidFill>
                  <a:srgbClr val="847FA6"/>
                </a:solidFill>
                <a:latin typeface="Segoe UI" pitchFamily="34" charset="0"/>
                <a:ea typeface="Segoe UI" pitchFamily="34" charset="-122"/>
                <a:cs typeface="Segoe UI" pitchFamily="34" charset="-120"/>
              </a:rPr>
              <a:t>Élargit les impulsions, limite le débit</a:t>
            </a:r>
            <a:endParaRPr lang="en-US" sz="1280" dirty="0"/>
          </a:p>
        </p:txBody>
      </p:sp>
      <p:sp>
        <p:nvSpPr>
          <p:cNvPr id="21" name="Shape 17"/>
          <p:cNvSpPr/>
          <p:nvPr/>
        </p:nvSpPr>
        <p:spPr>
          <a:xfrm>
            <a:off x="6903720" y="4041648"/>
            <a:ext cx="4599432" cy="786384"/>
          </a:xfrm>
          <a:prstGeom prst="roundRect">
            <a:avLst>
              <a:gd name="adj" fmla="val 186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2" name="Shape 18"/>
          <p:cNvSpPr/>
          <p:nvPr/>
        </p:nvSpPr>
        <p:spPr>
          <a:xfrm>
            <a:off x="7086600" y="4160520"/>
            <a:ext cx="548640" cy="548640"/>
          </a:xfrm>
          <a:prstGeom prst="ellipse">
            <a:avLst/>
          </a:prstGeom>
          <a:solidFill>
            <a:srgbClr val="6D28D9"/>
          </a:solidFill>
          <a:ln/>
        </p:spPr>
        <p:txBody>
          <a:bodyPr/>
          <a:lstStyle/>
          <a:p>
            <a:endParaRPr lang="fr-FR"/>
          </a:p>
        </p:txBody>
      </p:sp>
      <p:pic>
        <p:nvPicPr>
          <p:cNvPr id="23" name="anim__13__afterprev__fade__whole" descr="C:\Users\Cedric S. DJIGUIMDE\Desktop\Projet\presentation_fibre\assets_themes\spectra\icons\random_w.png"/>
          <p:cNvPicPr>
            <a:picLocks noChangeAspect="1"/>
          </p:cNvPicPr>
          <p:nvPr/>
        </p:nvPicPr>
        <p:blipFill>
          <a:blip r:embed="rId6"/>
          <a:stretch>
            <a:fillRect/>
          </a:stretch>
        </p:blipFill>
        <p:spPr>
          <a:xfrm>
            <a:off x="7234733" y="4308653"/>
            <a:ext cx="252374" cy="252374"/>
          </a:xfrm>
          <a:prstGeom prst="rect">
            <a:avLst/>
          </a:prstGeom>
        </p:spPr>
      </p:pic>
      <p:sp>
        <p:nvSpPr>
          <p:cNvPr id="24" name="anim__14__withprev__fade__whole"/>
          <p:cNvSpPr/>
          <p:nvPr/>
        </p:nvSpPr>
        <p:spPr>
          <a:xfrm>
            <a:off x="7799832" y="4151376"/>
            <a:ext cx="3547872" cy="320040"/>
          </a:xfrm>
          <a:prstGeom prst="rect">
            <a:avLst/>
          </a:prstGeom>
          <a:noFill/>
          <a:ln/>
        </p:spPr>
        <p:txBody>
          <a:bodyPr wrap="square" lIns="0" tIns="0" rIns="0" bIns="0" rtlCol="0" anchor="ctr"/>
          <a:lstStyle/>
          <a:p>
            <a:pPr marL="0" indent="0">
              <a:buNone/>
            </a:pPr>
            <a:r>
              <a:rPr lang="en-US" sz="1620" b="1" dirty="0">
                <a:solidFill>
                  <a:srgbClr val="20183F"/>
                </a:solidFill>
                <a:latin typeface="Segoe UI Semibold" pitchFamily="34" charset="0"/>
                <a:ea typeface="Segoe UI Semibold" pitchFamily="34" charset="-122"/>
                <a:cs typeface="Segoe UI Semibold" pitchFamily="34" charset="-120"/>
              </a:rPr>
              <a:t>PMD</a:t>
            </a:r>
            <a:endParaRPr lang="en-US" sz="1620" dirty="0"/>
          </a:p>
        </p:txBody>
      </p:sp>
      <p:sp>
        <p:nvSpPr>
          <p:cNvPr id="25" name="anim__15__withprev__fade__whole"/>
          <p:cNvSpPr/>
          <p:nvPr/>
        </p:nvSpPr>
        <p:spPr>
          <a:xfrm>
            <a:off x="7799832" y="4462272"/>
            <a:ext cx="3547872" cy="329184"/>
          </a:xfrm>
          <a:prstGeom prst="rect">
            <a:avLst/>
          </a:prstGeom>
          <a:noFill/>
          <a:ln/>
        </p:spPr>
        <p:txBody>
          <a:bodyPr wrap="square" lIns="0" tIns="0" rIns="0" bIns="0" rtlCol="0" anchor="ctr"/>
          <a:lstStyle/>
          <a:p>
            <a:pPr marL="0" indent="0">
              <a:buNone/>
            </a:pPr>
            <a:r>
              <a:rPr lang="en-US" sz="1280" dirty="0">
                <a:solidFill>
                  <a:srgbClr val="847FA6"/>
                </a:solidFill>
                <a:latin typeface="Segoe UI" pitchFamily="34" charset="0"/>
                <a:ea typeface="Segoe UI" pitchFamily="34" charset="-122"/>
                <a:cs typeface="Segoe UI" pitchFamily="34" charset="-120"/>
              </a:rPr>
              <a:t>Retard entre polarisations, critique aux hauts débits</a:t>
            </a:r>
            <a:endParaRPr lang="en-US" sz="1280" dirty="0"/>
          </a:p>
        </p:txBody>
      </p:sp>
      <p:sp>
        <p:nvSpPr>
          <p:cNvPr id="26" name="Shape 21"/>
          <p:cNvSpPr/>
          <p:nvPr/>
        </p:nvSpPr>
        <p:spPr>
          <a:xfrm>
            <a:off x="6903720" y="5029200"/>
            <a:ext cx="4599432" cy="914400"/>
          </a:xfrm>
          <a:prstGeom prst="roundRect">
            <a:avLst>
              <a:gd name="adj" fmla="val 16000"/>
            </a:avLst>
          </a:prstGeom>
          <a:solidFill>
            <a:srgbClr val="F6F2FF"/>
          </a:solidFill>
          <a:ln w="12700">
            <a:solidFill>
              <a:srgbClr val="6D28D9"/>
            </a:solidFill>
            <a:prstDash val="solid"/>
          </a:ln>
          <a:effectLst>
            <a:outerShdw blurRad="127000" dist="50800" dir="5400000" algn="bl" rotWithShape="0">
              <a:srgbClr val="1A2A3A">
                <a:alpha val="14000"/>
              </a:srgbClr>
            </a:outerShdw>
          </a:effectLst>
        </p:spPr>
        <p:txBody>
          <a:bodyPr/>
          <a:lstStyle/>
          <a:p>
            <a:endParaRPr lang="fr-FR"/>
          </a:p>
        </p:txBody>
      </p:sp>
      <p:sp>
        <p:nvSpPr>
          <p:cNvPr id="27" name="anim__16__afterprev__fade__whole"/>
          <p:cNvSpPr/>
          <p:nvPr/>
        </p:nvSpPr>
        <p:spPr>
          <a:xfrm>
            <a:off x="6995160" y="5120640"/>
            <a:ext cx="1417320" cy="457200"/>
          </a:xfrm>
          <a:prstGeom prst="rect">
            <a:avLst/>
          </a:prstGeom>
          <a:noFill/>
          <a:ln/>
        </p:spPr>
        <p:txBody>
          <a:bodyPr wrap="square" lIns="0" tIns="0" rIns="0" bIns="0" rtlCol="0" anchor="ctr"/>
          <a:lstStyle/>
          <a:p>
            <a:pPr marL="0" indent="0" algn="ctr">
              <a:buNone/>
            </a:pPr>
            <a:r>
              <a:rPr lang="en-US" sz="2550" b="1" dirty="0">
                <a:solidFill>
                  <a:srgbClr val="6D28D9"/>
                </a:solidFill>
                <a:latin typeface="Segoe UI Black" pitchFamily="34" charset="0"/>
                <a:ea typeface="Segoe UI Black" pitchFamily="34" charset="-122"/>
                <a:cs typeface="Segoe UI Black" pitchFamily="34" charset="-120"/>
              </a:rPr>
              <a:t>0,2 dB/km</a:t>
            </a:r>
            <a:endParaRPr lang="en-US" sz="2550" dirty="0"/>
          </a:p>
        </p:txBody>
      </p:sp>
      <p:sp>
        <p:nvSpPr>
          <p:cNvPr id="28" name="anim__17__withprev__fade__whole"/>
          <p:cNvSpPr/>
          <p:nvPr/>
        </p:nvSpPr>
        <p:spPr>
          <a:xfrm>
            <a:off x="6995160" y="5577840"/>
            <a:ext cx="1417320" cy="292608"/>
          </a:xfrm>
          <a:prstGeom prst="rect">
            <a:avLst/>
          </a:prstGeom>
          <a:noFill/>
          <a:ln/>
        </p:spPr>
        <p:txBody>
          <a:bodyPr wrap="square" lIns="0" tIns="0" rIns="0" bIns="0" rtlCol="0" anchor="ctr"/>
          <a:lstStyle/>
          <a:p>
            <a:pPr marL="0" indent="0" algn="ctr">
              <a:buNone/>
            </a:pPr>
            <a:r>
              <a:rPr lang="en-US" sz="1160" dirty="0">
                <a:solidFill>
                  <a:srgbClr val="847FA6"/>
                </a:solidFill>
                <a:latin typeface="Segoe UI" pitchFamily="34" charset="0"/>
                <a:ea typeface="Segoe UI" pitchFamily="34" charset="-122"/>
                <a:cs typeface="Segoe UI" pitchFamily="34" charset="-120"/>
              </a:rPr>
              <a:t>Atténuation</a:t>
            </a:r>
            <a:endParaRPr lang="en-US" sz="1160" dirty="0"/>
          </a:p>
        </p:txBody>
      </p:sp>
      <p:sp>
        <p:nvSpPr>
          <p:cNvPr id="29" name="anim__18__afterprev__fade__whole"/>
          <p:cNvSpPr/>
          <p:nvPr/>
        </p:nvSpPr>
        <p:spPr>
          <a:xfrm>
            <a:off x="8494776" y="5120640"/>
            <a:ext cx="1280160" cy="457200"/>
          </a:xfrm>
          <a:prstGeom prst="rect">
            <a:avLst/>
          </a:prstGeom>
          <a:noFill/>
          <a:ln/>
        </p:spPr>
        <p:txBody>
          <a:bodyPr wrap="square" lIns="0" tIns="0" rIns="0" bIns="0" rtlCol="0" anchor="ctr"/>
          <a:lstStyle/>
          <a:p>
            <a:pPr marL="0" indent="0" algn="ctr">
              <a:buNone/>
            </a:pPr>
            <a:r>
              <a:rPr lang="en-US" sz="2550" b="1" dirty="0">
                <a:solidFill>
                  <a:srgbClr val="6D28D9"/>
                </a:solidFill>
                <a:latin typeface="Segoe UI Black" pitchFamily="34" charset="0"/>
                <a:ea typeface="Segoe UI Black" pitchFamily="34" charset="-122"/>
                <a:cs typeface="Segoe UI Black" pitchFamily="34" charset="-120"/>
              </a:rPr>
              <a:t>Tbit/s</a:t>
            </a:r>
            <a:endParaRPr lang="en-US" sz="2550" dirty="0"/>
          </a:p>
        </p:txBody>
      </p:sp>
      <p:sp>
        <p:nvSpPr>
          <p:cNvPr id="30" name="anim__19__withprev__fade__whole"/>
          <p:cNvSpPr/>
          <p:nvPr/>
        </p:nvSpPr>
        <p:spPr>
          <a:xfrm>
            <a:off x="8494776" y="5577840"/>
            <a:ext cx="1280160" cy="292608"/>
          </a:xfrm>
          <a:prstGeom prst="rect">
            <a:avLst/>
          </a:prstGeom>
          <a:noFill/>
          <a:ln/>
        </p:spPr>
        <p:txBody>
          <a:bodyPr wrap="square" lIns="0" tIns="0" rIns="0" bIns="0" rtlCol="0" anchor="ctr"/>
          <a:lstStyle/>
          <a:p>
            <a:pPr marL="0" indent="0" algn="ctr">
              <a:buNone/>
            </a:pPr>
            <a:r>
              <a:rPr lang="en-US" sz="1160" dirty="0">
                <a:solidFill>
                  <a:srgbClr val="847FA6"/>
                </a:solidFill>
                <a:latin typeface="Segoe UI" pitchFamily="34" charset="0"/>
                <a:ea typeface="Segoe UI" pitchFamily="34" charset="-122"/>
                <a:cs typeface="Segoe UI" pitchFamily="34" charset="-120"/>
              </a:rPr>
              <a:t>Débit</a:t>
            </a:r>
            <a:endParaRPr lang="en-US" sz="1160" dirty="0"/>
          </a:p>
        </p:txBody>
      </p:sp>
      <p:sp>
        <p:nvSpPr>
          <p:cNvPr id="31" name="anim__20__afterprev__fade__whole"/>
          <p:cNvSpPr/>
          <p:nvPr/>
        </p:nvSpPr>
        <p:spPr>
          <a:xfrm>
            <a:off x="9829800" y="5120640"/>
            <a:ext cx="1554480" cy="457200"/>
          </a:xfrm>
          <a:prstGeom prst="rect">
            <a:avLst/>
          </a:prstGeom>
          <a:noFill/>
          <a:ln/>
        </p:spPr>
        <p:txBody>
          <a:bodyPr wrap="square" lIns="0" tIns="0" rIns="0" bIns="0" rtlCol="0" anchor="ctr"/>
          <a:lstStyle/>
          <a:p>
            <a:pPr marL="0" indent="0" algn="ctr">
              <a:buNone/>
            </a:pPr>
            <a:r>
              <a:rPr lang="en-US" sz="2550" b="1" dirty="0">
                <a:solidFill>
                  <a:srgbClr val="6D28D9"/>
                </a:solidFill>
                <a:latin typeface="Segoe UI Black" pitchFamily="34" charset="0"/>
                <a:ea typeface="Segoe UI Black" pitchFamily="34" charset="-122"/>
                <a:cs typeface="Segoe UI Black" pitchFamily="34" charset="-120"/>
              </a:rPr>
              <a:t>4 500 km</a:t>
            </a:r>
            <a:endParaRPr lang="en-US" sz="2550" dirty="0"/>
          </a:p>
        </p:txBody>
      </p:sp>
      <p:sp>
        <p:nvSpPr>
          <p:cNvPr id="32" name="anim__21__withprev__fade__whole"/>
          <p:cNvSpPr/>
          <p:nvPr/>
        </p:nvSpPr>
        <p:spPr>
          <a:xfrm>
            <a:off x="9829800" y="5577840"/>
            <a:ext cx="1554480" cy="292608"/>
          </a:xfrm>
          <a:prstGeom prst="rect">
            <a:avLst/>
          </a:prstGeom>
          <a:noFill/>
          <a:ln/>
        </p:spPr>
        <p:txBody>
          <a:bodyPr wrap="square" lIns="0" tIns="0" rIns="0" bIns="0" rtlCol="0" anchor="ctr"/>
          <a:lstStyle/>
          <a:p>
            <a:pPr marL="0" indent="0" algn="ctr">
              <a:buNone/>
            </a:pPr>
            <a:r>
              <a:rPr lang="en-US" sz="1160" dirty="0">
                <a:solidFill>
                  <a:srgbClr val="847FA6"/>
                </a:solidFill>
                <a:latin typeface="Segoe UI" pitchFamily="34" charset="0"/>
                <a:ea typeface="Segoe UI" pitchFamily="34" charset="-122"/>
                <a:cs typeface="Segoe UI" pitchFamily="34" charset="-120"/>
              </a:rPr>
              <a:t>Réseau Sénégal</a:t>
            </a:r>
            <a:endParaRPr lang="en-US" sz="1160" dirty="0"/>
          </a:p>
        </p:txBody>
      </p:sp>
      <p:sp>
        <p:nvSpPr>
          <p:cNvPr id="33" name="Text 28"/>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4" name="Text 29"/>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3</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childTnLst>
                    </p:cTn>
                  </p:par>
                  <p:par>
                    <p:cTn id="28" fill="hold">
                      <p:stCondLst>
                        <p:cond delay="7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7"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par>
                          <p:cTn id="35" presetID="10" presetClass="entr" presetSubtype="0" fill="hold" grpId="8"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350"/>
                                  <p:tgtEl>
                                    <p:spTgt spid="15"/>
                                  </p:tgtEl>
                                </p:cBhvr>
                              </p:animEffect>
                            </p:childTnLst>
                          </p:cTn>
                        </p:par>
                      </p:childTnLst>
                    </p:cTn>
                  </p:par>
                  <p:par>
                    <p:cTn id="38" fill="hold">
                      <p:stCondLst>
                        <p:cond delay="70"/>
                      </p:stCondLst>
                      <p:childTnLst>
                        <p:par>
                          <p:cTn id="39" presetID="10" presetClass="entr" presetSubtype="0"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50"/>
                                  <p:tgtEl>
                                    <p:spTgt spid="18"/>
                                  </p:tgtEl>
                                </p:cBhvr>
                              </p:animEffect>
                            </p:childTnLst>
                          </p:cTn>
                        </p:par>
                        <p:par>
                          <p:cTn id="42" presetID="10" presetClass="entr" presetSubtype="0" fill="hold" grpId="1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50"/>
                                  <p:tgtEl>
                                    <p:spTgt spid="19"/>
                                  </p:tgtEl>
                                </p:cBhvr>
                              </p:animEffect>
                            </p:childTnLst>
                          </p:cTn>
                        </p:par>
                        <p:par>
                          <p:cTn id="45" presetID="10" presetClass="entr" presetSubtype="0" fill="hold" grpId="11"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350"/>
                                  <p:tgtEl>
                                    <p:spTgt spid="20"/>
                                  </p:tgtEl>
                                </p:cBhvr>
                              </p:animEffect>
                            </p:childTnLst>
                          </p:cTn>
                        </p:par>
                      </p:childTnLst>
                    </p:cTn>
                  </p:par>
                  <p:par>
                    <p:cTn id="48" fill="hold">
                      <p:stCondLst>
                        <p:cond delay="70"/>
                      </p:stCondLst>
                      <p:childTnLst>
                        <p:par>
                          <p:cTn id="49" presetID="10" presetClass="entr" presetSubtype="0" fill="hold"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350"/>
                                  <p:tgtEl>
                                    <p:spTgt spid="23"/>
                                  </p:tgtEl>
                                </p:cBhvr>
                              </p:animEffect>
                            </p:childTnLst>
                          </p:cTn>
                        </p:par>
                        <p:par>
                          <p:cTn id="52" presetID="10" presetClass="entr" presetSubtype="0" fill="hold" grpId="13"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350"/>
                                  <p:tgtEl>
                                    <p:spTgt spid="24"/>
                                  </p:tgtEl>
                                </p:cBhvr>
                              </p:animEffect>
                            </p:childTnLst>
                          </p:cTn>
                        </p:par>
                        <p:par>
                          <p:cTn id="55" presetID="10" presetClass="entr" presetSubtype="0" fill="hold" grpId="14"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350"/>
                                  <p:tgtEl>
                                    <p:spTgt spid="25"/>
                                  </p:tgtEl>
                                </p:cBhvr>
                              </p:animEffect>
                            </p:childTnLst>
                          </p:cTn>
                        </p:par>
                      </p:childTnLst>
                    </p:cTn>
                  </p:par>
                  <p:par>
                    <p:cTn id="58" fill="hold">
                      <p:stCondLst>
                        <p:cond delay="70"/>
                      </p:stCondLst>
                      <p:childTnLst>
                        <p:par>
                          <p:cTn id="59" presetID="10" presetClass="entr" presetSubtype="0" fill="hold" grpId="15" nodeType="after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350"/>
                                  <p:tgtEl>
                                    <p:spTgt spid="27"/>
                                  </p:tgtEl>
                                </p:cBhvr>
                              </p:animEffect>
                            </p:childTnLst>
                          </p:cTn>
                        </p:par>
                        <p:par>
                          <p:cTn id="62" presetID="10" presetClass="entr" presetSubtype="0" fill="hold" grpId="16"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350"/>
                                  <p:tgtEl>
                                    <p:spTgt spid="28"/>
                                  </p:tgtEl>
                                </p:cBhvr>
                              </p:animEffect>
                            </p:childTnLst>
                          </p:cTn>
                        </p:par>
                      </p:childTnLst>
                    </p:cTn>
                  </p:par>
                  <p:par>
                    <p:cTn id="65" fill="hold">
                      <p:stCondLst>
                        <p:cond delay="70"/>
                      </p:stCondLst>
                      <p:childTnLst>
                        <p:par>
                          <p:cTn id="66" presetID="10" presetClass="entr" presetSubtype="0" fill="hold" grpId="17" nodeType="after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350"/>
                                  <p:tgtEl>
                                    <p:spTgt spid="29"/>
                                  </p:tgtEl>
                                </p:cBhvr>
                              </p:animEffect>
                            </p:childTnLst>
                          </p:cTn>
                        </p:par>
                        <p:par>
                          <p:cTn id="69" presetID="10" presetClass="entr" presetSubtype="0" fill="hold" grpId="18"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350"/>
                                  <p:tgtEl>
                                    <p:spTgt spid="30"/>
                                  </p:tgtEl>
                                </p:cBhvr>
                              </p:animEffect>
                            </p:childTnLst>
                          </p:cTn>
                        </p:par>
                      </p:childTnLst>
                    </p:cTn>
                  </p:par>
                  <p:par>
                    <p:cTn id="72" fill="hold">
                      <p:stCondLst>
                        <p:cond delay="70"/>
                      </p:stCondLst>
                      <p:childTnLst>
                        <p:par>
                          <p:cTn id="73" presetID="10" presetClass="entr" presetSubtype="0" fill="hold" grpId="19"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350"/>
                                  <p:tgtEl>
                                    <p:spTgt spid="31"/>
                                  </p:tgtEl>
                                </p:cBhvr>
                              </p:animEffect>
                            </p:childTnLst>
                          </p:cTn>
                        </p:par>
                        <p:par>
                          <p:cTn id="76" presetID="10" presetClass="entr" presetSubtype="0" fill="hold" grpId="2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35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9" grpId="4" animBg="1"/>
      <p:bldP spid="10" grpId="5" animBg="1"/>
      <p:bldP spid="14" grpId="7" animBg="1"/>
      <p:bldP spid="15" grpId="8" animBg="1"/>
      <p:bldP spid="19" grpId="10" animBg="1"/>
      <p:bldP spid="20" grpId="11" animBg="1"/>
      <p:bldP spid="24" grpId="13" animBg="1"/>
      <p:bldP spid="25" grpId="14" animBg="1"/>
      <p:bldP spid="27" grpId="15" animBg="1"/>
      <p:bldP spid="28" grpId="16" animBg="1"/>
      <p:bldP spid="29" grpId="17" animBg="1"/>
      <p:bldP spid="30" grpId="18" animBg="1"/>
      <p:bldP spid="31" grpId="19" animBg="1"/>
      <p:bldP spid="32" grpId="2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INTRODUCTION</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Objectifs du projet</a:t>
            </a:r>
            <a:endParaRPr lang="en-US" sz="3100" dirty="0"/>
          </a:p>
        </p:txBody>
      </p:sp>
      <p:sp>
        <p:nvSpPr>
          <p:cNvPr id="4" name="Shape 2"/>
          <p:cNvSpPr/>
          <p:nvPr/>
        </p:nvSpPr>
        <p:spPr>
          <a:xfrm>
            <a:off x="685800" y="1920240"/>
            <a:ext cx="3520440" cy="3931920"/>
          </a:xfrm>
          <a:prstGeom prst="roundRect">
            <a:avLst>
              <a:gd name="adj" fmla="val 41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2066544"/>
            <a:ext cx="64008" cy="3639312"/>
          </a:xfrm>
          <a:prstGeom prst="rect">
            <a:avLst/>
          </a:prstGeom>
          <a:solidFill>
            <a:srgbClr val="6D28D9"/>
          </a:solidFill>
          <a:ln/>
        </p:spPr>
        <p:txBody>
          <a:bodyPr/>
          <a:lstStyle/>
          <a:p>
            <a:endParaRPr lang="fr-FR"/>
          </a:p>
        </p:txBody>
      </p:sp>
      <p:sp>
        <p:nvSpPr>
          <p:cNvPr id="6" name="anim__3__afterprev__fade__whole"/>
          <p:cNvSpPr/>
          <p:nvPr/>
        </p:nvSpPr>
        <p:spPr>
          <a:xfrm>
            <a:off x="978408" y="2176272"/>
            <a:ext cx="2971800" cy="822960"/>
          </a:xfrm>
          <a:prstGeom prst="rect">
            <a:avLst/>
          </a:prstGeom>
          <a:noFill/>
          <a:ln/>
        </p:spPr>
        <p:txBody>
          <a:bodyPr wrap="square" lIns="0" tIns="0" rIns="0" bIns="0" rtlCol="0" anchor="ctr"/>
          <a:lstStyle/>
          <a:p>
            <a:pPr marL="0" indent="0">
              <a:buNone/>
            </a:pPr>
            <a:r>
              <a:rPr lang="en-US" sz="4600" b="1" dirty="0">
                <a:solidFill>
                  <a:srgbClr val="EFE9FF"/>
                </a:solidFill>
                <a:latin typeface="Segoe UI Black" pitchFamily="34" charset="0"/>
                <a:ea typeface="Segoe UI Black" pitchFamily="34" charset="-122"/>
                <a:cs typeface="Segoe UI Black" pitchFamily="34" charset="-120"/>
              </a:rPr>
              <a:t>01</a:t>
            </a:r>
            <a:endParaRPr lang="en-US" sz="4600" dirty="0"/>
          </a:p>
        </p:txBody>
      </p:sp>
      <p:sp>
        <p:nvSpPr>
          <p:cNvPr id="7" name="Shape 5"/>
          <p:cNvSpPr/>
          <p:nvPr/>
        </p:nvSpPr>
        <p:spPr>
          <a:xfrm>
            <a:off x="978408" y="3154680"/>
            <a:ext cx="640080" cy="640080"/>
          </a:xfrm>
          <a:prstGeom prst="ellipse">
            <a:avLst/>
          </a:prstGeom>
          <a:solidFill>
            <a:srgbClr val="6D28D9"/>
          </a:solidFill>
          <a:ln/>
        </p:spPr>
        <p:txBody>
          <a:bodyPr/>
          <a:lstStyle/>
          <a:p>
            <a:endParaRPr lang="fr-FR"/>
          </a:p>
        </p:txBody>
      </p:sp>
      <p:pic>
        <p:nvPicPr>
          <p:cNvPr id="8" name="anim__4__afterprev__fade__whole" descr="C:\Users\Cedric S. DJIGUIMDE\Desktop\Projet\presentation_fibre\assets_themes\spectra\icons\light_w.png"/>
          <p:cNvPicPr>
            <a:picLocks noChangeAspect="1"/>
          </p:cNvPicPr>
          <p:nvPr/>
        </p:nvPicPr>
        <p:blipFill>
          <a:blip r:embed="rId4"/>
          <a:stretch>
            <a:fillRect/>
          </a:stretch>
        </p:blipFill>
        <p:spPr>
          <a:xfrm>
            <a:off x="1151230" y="3327502"/>
            <a:ext cx="294437" cy="294437"/>
          </a:xfrm>
          <a:prstGeom prst="rect">
            <a:avLst/>
          </a:prstGeom>
        </p:spPr>
      </p:pic>
      <p:sp>
        <p:nvSpPr>
          <p:cNvPr id="9" name="anim__5__afterprev__fade__whole"/>
          <p:cNvSpPr/>
          <p:nvPr/>
        </p:nvSpPr>
        <p:spPr>
          <a:xfrm>
            <a:off x="978408" y="3977640"/>
            <a:ext cx="2935224" cy="640080"/>
          </a:xfrm>
          <a:prstGeom prst="rect">
            <a:avLst/>
          </a:prstGeom>
          <a:noFill/>
          <a:ln/>
        </p:spPr>
        <p:txBody>
          <a:bodyPr wrap="square" lIns="0" tIns="0" rIns="0" bIns="0" rtlCol="0" anchor="ctr"/>
          <a:lstStyle/>
          <a:p>
            <a:pPr marL="0" indent="0">
              <a:lnSpc>
                <a:spcPct val="105000"/>
              </a:lnSpc>
              <a:buNone/>
            </a:pPr>
            <a:r>
              <a:rPr lang="en-US" sz="1860" b="1" dirty="0">
                <a:solidFill>
                  <a:srgbClr val="20183F"/>
                </a:solidFill>
                <a:latin typeface="Segoe UI Semibold" pitchFamily="34" charset="0"/>
                <a:ea typeface="Segoe UI Semibold" pitchFamily="34" charset="-122"/>
                <a:cs typeface="Segoe UI Semibold" pitchFamily="34" charset="-120"/>
              </a:rPr>
              <a:t>Maîtriser le bilan optique</a:t>
            </a:r>
            <a:endParaRPr lang="en-US" sz="1860" dirty="0"/>
          </a:p>
        </p:txBody>
      </p:sp>
      <p:sp>
        <p:nvSpPr>
          <p:cNvPr id="10" name="anim__6__afterprev__fade__whole"/>
          <p:cNvSpPr/>
          <p:nvPr/>
        </p:nvSpPr>
        <p:spPr>
          <a:xfrm>
            <a:off x="978408" y="4663440"/>
            <a:ext cx="2935224" cy="1097280"/>
          </a:xfrm>
          <a:prstGeom prst="rect">
            <a:avLst/>
          </a:prstGeom>
          <a:noFill/>
          <a:ln/>
        </p:spPr>
        <p:txBody>
          <a:bodyPr wrap="square" lIns="0" tIns="0" rIns="0" bIns="0" rtlCol="0" anchor="ctr"/>
          <a:lstStyle/>
          <a:p>
            <a:pPr marL="0" indent="0">
              <a:lnSpc>
                <a:spcPct val="118000"/>
              </a:lnSpc>
              <a:buNone/>
            </a:pPr>
            <a:r>
              <a:rPr lang="en-US" sz="1450" dirty="0">
                <a:solidFill>
                  <a:srgbClr val="847FA6"/>
                </a:solidFill>
                <a:latin typeface="Segoe UI" pitchFamily="34" charset="0"/>
                <a:ea typeface="Segoe UI" pitchFamily="34" charset="-122"/>
                <a:cs typeface="Segoe UI" pitchFamily="34" charset="-120"/>
              </a:rPr>
              <a:t>Comprendre les phénomènes limitants — atténuation, dispersion, PMD — et choisir le type de fibre adapté à chaque scénario.</a:t>
            </a:r>
            <a:endParaRPr lang="en-US" sz="1450" dirty="0"/>
          </a:p>
        </p:txBody>
      </p:sp>
      <p:sp>
        <p:nvSpPr>
          <p:cNvPr id="11" name="Shape 8"/>
          <p:cNvSpPr/>
          <p:nvPr/>
        </p:nvSpPr>
        <p:spPr>
          <a:xfrm>
            <a:off x="4334256" y="1920240"/>
            <a:ext cx="3520440" cy="3931920"/>
          </a:xfrm>
          <a:prstGeom prst="roundRect">
            <a:avLst>
              <a:gd name="adj" fmla="val 41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2" name="Shape 9"/>
          <p:cNvSpPr/>
          <p:nvPr/>
        </p:nvSpPr>
        <p:spPr>
          <a:xfrm>
            <a:off x="4334256" y="2066544"/>
            <a:ext cx="64008" cy="3639312"/>
          </a:xfrm>
          <a:prstGeom prst="rect">
            <a:avLst/>
          </a:prstGeom>
          <a:solidFill>
            <a:srgbClr val="DB2777"/>
          </a:solidFill>
          <a:ln/>
        </p:spPr>
        <p:txBody>
          <a:bodyPr/>
          <a:lstStyle/>
          <a:p>
            <a:endParaRPr lang="fr-FR"/>
          </a:p>
        </p:txBody>
      </p:sp>
      <p:sp>
        <p:nvSpPr>
          <p:cNvPr id="13" name="anim__7__afterprev__fade__whole"/>
          <p:cNvSpPr/>
          <p:nvPr/>
        </p:nvSpPr>
        <p:spPr>
          <a:xfrm>
            <a:off x="4626864" y="2176272"/>
            <a:ext cx="2971800" cy="822960"/>
          </a:xfrm>
          <a:prstGeom prst="rect">
            <a:avLst/>
          </a:prstGeom>
          <a:noFill/>
          <a:ln/>
        </p:spPr>
        <p:txBody>
          <a:bodyPr wrap="square" lIns="0" tIns="0" rIns="0" bIns="0" rtlCol="0" anchor="ctr"/>
          <a:lstStyle/>
          <a:p>
            <a:pPr marL="0" indent="0">
              <a:buNone/>
            </a:pPr>
            <a:r>
              <a:rPr lang="en-US" sz="4600" b="1" dirty="0">
                <a:solidFill>
                  <a:srgbClr val="EFE9FF"/>
                </a:solidFill>
                <a:latin typeface="Segoe UI Black" pitchFamily="34" charset="0"/>
                <a:ea typeface="Segoe UI Black" pitchFamily="34" charset="-122"/>
                <a:cs typeface="Segoe UI Black" pitchFamily="34" charset="-120"/>
              </a:rPr>
              <a:t>02</a:t>
            </a:r>
            <a:endParaRPr lang="en-US" sz="4600" dirty="0"/>
          </a:p>
        </p:txBody>
      </p:sp>
      <p:sp>
        <p:nvSpPr>
          <p:cNvPr id="14" name="Shape 11"/>
          <p:cNvSpPr/>
          <p:nvPr/>
        </p:nvSpPr>
        <p:spPr>
          <a:xfrm>
            <a:off x="4626864" y="3154680"/>
            <a:ext cx="640080" cy="640080"/>
          </a:xfrm>
          <a:prstGeom prst="ellipse">
            <a:avLst/>
          </a:prstGeom>
          <a:solidFill>
            <a:srgbClr val="6D28D9"/>
          </a:solidFill>
          <a:ln/>
        </p:spPr>
        <p:txBody>
          <a:bodyPr/>
          <a:lstStyle/>
          <a:p>
            <a:endParaRPr lang="fr-FR"/>
          </a:p>
        </p:txBody>
      </p:sp>
      <p:pic>
        <p:nvPicPr>
          <p:cNvPr id="15" name="anim__8__afterprev__fade__whole" descr="C:\Users\Cedric S. DJIGUIMDE\Desktop\Projet\presentation_fibre\assets_themes\spectra\icons\calc_w.png"/>
          <p:cNvPicPr>
            <a:picLocks noChangeAspect="1"/>
          </p:cNvPicPr>
          <p:nvPr/>
        </p:nvPicPr>
        <p:blipFill>
          <a:blip r:embed="rId5"/>
          <a:stretch>
            <a:fillRect/>
          </a:stretch>
        </p:blipFill>
        <p:spPr>
          <a:xfrm>
            <a:off x="4799686" y="3327502"/>
            <a:ext cx="294437" cy="294437"/>
          </a:xfrm>
          <a:prstGeom prst="rect">
            <a:avLst/>
          </a:prstGeom>
        </p:spPr>
      </p:pic>
      <p:sp>
        <p:nvSpPr>
          <p:cNvPr id="16" name="anim__9__afterprev__fade__whole"/>
          <p:cNvSpPr/>
          <p:nvPr/>
        </p:nvSpPr>
        <p:spPr>
          <a:xfrm>
            <a:off x="4626864" y="3977640"/>
            <a:ext cx="2935224" cy="640080"/>
          </a:xfrm>
          <a:prstGeom prst="rect">
            <a:avLst/>
          </a:prstGeom>
          <a:noFill/>
          <a:ln/>
        </p:spPr>
        <p:txBody>
          <a:bodyPr wrap="square" lIns="0" tIns="0" rIns="0" bIns="0" rtlCol="0" anchor="ctr"/>
          <a:lstStyle/>
          <a:p>
            <a:pPr marL="0" indent="0">
              <a:lnSpc>
                <a:spcPct val="105000"/>
              </a:lnSpc>
              <a:buNone/>
            </a:pPr>
            <a:r>
              <a:rPr lang="en-US" sz="1860" b="1" dirty="0">
                <a:solidFill>
                  <a:srgbClr val="20183F"/>
                </a:solidFill>
                <a:latin typeface="Segoe UI Semibold" pitchFamily="34" charset="0"/>
                <a:ea typeface="Segoe UI Semibold" pitchFamily="34" charset="-122"/>
                <a:cs typeface="Segoe UI Semibold" pitchFamily="34" charset="-120"/>
              </a:rPr>
              <a:t>Établir les bilans de liaison</a:t>
            </a:r>
            <a:endParaRPr lang="en-US" sz="1860" dirty="0"/>
          </a:p>
        </p:txBody>
      </p:sp>
      <p:sp>
        <p:nvSpPr>
          <p:cNvPr id="17" name="anim__10__afterprev__fade__whole"/>
          <p:cNvSpPr/>
          <p:nvPr/>
        </p:nvSpPr>
        <p:spPr>
          <a:xfrm>
            <a:off x="4626864" y="4663440"/>
            <a:ext cx="2935224" cy="1097280"/>
          </a:xfrm>
          <a:prstGeom prst="rect">
            <a:avLst/>
          </a:prstGeom>
          <a:noFill/>
          <a:ln/>
        </p:spPr>
        <p:txBody>
          <a:bodyPr wrap="square" lIns="0" tIns="0" rIns="0" bIns="0" rtlCol="0" anchor="ctr"/>
          <a:lstStyle/>
          <a:p>
            <a:pPr marL="0" indent="0">
              <a:lnSpc>
                <a:spcPct val="118000"/>
              </a:lnSpc>
              <a:buNone/>
            </a:pPr>
            <a:r>
              <a:rPr lang="en-US" sz="1450" dirty="0">
                <a:solidFill>
                  <a:srgbClr val="847FA6"/>
                </a:solidFill>
                <a:latin typeface="Segoe UI" pitchFamily="34" charset="0"/>
                <a:ea typeface="Segoe UI" pitchFamily="34" charset="-122"/>
                <a:cs typeface="Segoe UI" pitchFamily="34" charset="-120"/>
              </a:rPr>
              <a:t>Calculer le bilan de puissance et de dispersion d'une liaison réelle, en déduire la portée maximale sans régénération et justifier les équipements (EDFA).</a:t>
            </a:r>
            <a:endParaRPr lang="en-US" sz="1450" dirty="0"/>
          </a:p>
        </p:txBody>
      </p:sp>
      <p:sp>
        <p:nvSpPr>
          <p:cNvPr id="18" name="Shape 14"/>
          <p:cNvSpPr/>
          <p:nvPr/>
        </p:nvSpPr>
        <p:spPr>
          <a:xfrm>
            <a:off x="7982712" y="1920240"/>
            <a:ext cx="3520440" cy="3931920"/>
          </a:xfrm>
          <a:prstGeom prst="roundRect">
            <a:avLst>
              <a:gd name="adj" fmla="val 41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9" name="Shape 15"/>
          <p:cNvSpPr/>
          <p:nvPr/>
        </p:nvSpPr>
        <p:spPr>
          <a:xfrm>
            <a:off x="7982712" y="2066544"/>
            <a:ext cx="64008" cy="3639312"/>
          </a:xfrm>
          <a:prstGeom prst="rect">
            <a:avLst/>
          </a:prstGeom>
          <a:solidFill>
            <a:srgbClr val="6D28D9"/>
          </a:solidFill>
          <a:ln/>
        </p:spPr>
        <p:txBody>
          <a:bodyPr/>
          <a:lstStyle/>
          <a:p>
            <a:endParaRPr lang="fr-FR"/>
          </a:p>
        </p:txBody>
      </p:sp>
      <p:sp>
        <p:nvSpPr>
          <p:cNvPr id="20" name="anim__11__afterprev__fade__whole"/>
          <p:cNvSpPr/>
          <p:nvPr/>
        </p:nvSpPr>
        <p:spPr>
          <a:xfrm>
            <a:off x="8275320" y="2176272"/>
            <a:ext cx="2971800" cy="822960"/>
          </a:xfrm>
          <a:prstGeom prst="rect">
            <a:avLst/>
          </a:prstGeom>
          <a:noFill/>
          <a:ln/>
        </p:spPr>
        <p:txBody>
          <a:bodyPr wrap="square" lIns="0" tIns="0" rIns="0" bIns="0" rtlCol="0" anchor="ctr"/>
          <a:lstStyle/>
          <a:p>
            <a:pPr marL="0" indent="0">
              <a:buNone/>
            </a:pPr>
            <a:r>
              <a:rPr lang="en-US" sz="4600" b="1" dirty="0">
                <a:solidFill>
                  <a:srgbClr val="EFE9FF"/>
                </a:solidFill>
                <a:latin typeface="Segoe UI Black" pitchFamily="34" charset="0"/>
                <a:ea typeface="Segoe UI Black" pitchFamily="34" charset="-122"/>
                <a:cs typeface="Segoe UI Black" pitchFamily="34" charset="-120"/>
              </a:rPr>
              <a:t>03</a:t>
            </a:r>
            <a:endParaRPr lang="en-US" sz="4600" dirty="0"/>
          </a:p>
        </p:txBody>
      </p:sp>
      <p:sp>
        <p:nvSpPr>
          <p:cNvPr id="21" name="Shape 17"/>
          <p:cNvSpPr/>
          <p:nvPr/>
        </p:nvSpPr>
        <p:spPr>
          <a:xfrm>
            <a:off x="8275320" y="3154680"/>
            <a:ext cx="640080" cy="640080"/>
          </a:xfrm>
          <a:prstGeom prst="ellipse">
            <a:avLst/>
          </a:prstGeom>
          <a:solidFill>
            <a:srgbClr val="6D28D9"/>
          </a:solidFill>
          <a:ln/>
        </p:spPr>
        <p:txBody>
          <a:bodyPr/>
          <a:lstStyle/>
          <a:p>
            <a:endParaRPr lang="fr-FR"/>
          </a:p>
        </p:txBody>
      </p:sp>
      <p:pic>
        <p:nvPicPr>
          <p:cNvPr id="22" name="anim__12__afterprev__fade__whole" descr="C:\Users\Cedric S. DJIGUIMDE\Desktop\Projet\presentation_fibre\assets_themes\spectra\icons\flask_w.png"/>
          <p:cNvPicPr>
            <a:picLocks noChangeAspect="1"/>
          </p:cNvPicPr>
          <p:nvPr/>
        </p:nvPicPr>
        <p:blipFill>
          <a:blip r:embed="rId6"/>
          <a:stretch>
            <a:fillRect/>
          </a:stretch>
        </p:blipFill>
        <p:spPr>
          <a:xfrm>
            <a:off x="8448142" y="3327502"/>
            <a:ext cx="294437" cy="294437"/>
          </a:xfrm>
          <a:prstGeom prst="rect">
            <a:avLst/>
          </a:prstGeom>
        </p:spPr>
      </p:pic>
      <p:sp>
        <p:nvSpPr>
          <p:cNvPr id="23" name="anim__13__afterprev__fade__whole"/>
          <p:cNvSpPr/>
          <p:nvPr/>
        </p:nvSpPr>
        <p:spPr>
          <a:xfrm>
            <a:off x="8275320" y="3977640"/>
            <a:ext cx="2935224" cy="640080"/>
          </a:xfrm>
          <a:prstGeom prst="rect">
            <a:avLst/>
          </a:prstGeom>
          <a:noFill/>
          <a:ln/>
        </p:spPr>
        <p:txBody>
          <a:bodyPr wrap="square" lIns="0" tIns="0" rIns="0" bIns="0" rtlCol="0" anchor="ctr"/>
          <a:lstStyle/>
          <a:p>
            <a:pPr marL="0" indent="0">
              <a:lnSpc>
                <a:spcPct val="105000"/>
              </a:lnSpc>
              <a:buNone/>
            </a:pPr>
            <a:r>
              <a:rPr lang="en-US" sz="1860" b="1" dirty="0">
                <a:solidFill>
                  <a:srgbClr val="20183F"/>
                </a:solidFill>
                <a:latin typeface="Segoe UI Semibold" pitchFamily="34" charset="0"/>
                <a:ea typeface="Segoe UI Semibold" pitchFamily="34" charset="-122"/>
                <a:cs typeface="Segoe UI Semibold" pitchFamily="34" charset="-120"/>
              </a:rPr>
              <a:t>Valider par simulation</a:t>
            </a:r>
            <a:endParaRPr lang="en-US" sz="1860" dirty="0"/>
          </a:p>
        </p:txBody>
      </p:sp>
      <p:sp>
        <p:nvSpPr>
          <p:cNvPr id="24" name="anim__14__afterprev__fade__whole"/>
          <p:cNvSpPr/>
          <p:nvPr/>
        </p:nvSpPr>
        <p:spPr>
          <a:xfrm>
            <a:off x="8275320" y="4663440"/>
            <a:ext cx="2935224" cy="1097280"/>
          </a:xfrm>
          <a:prstGeom prst="rect">
            <a:avLst/>
          </a:prstGeom>
          <a:noFill/>
          <a:ln/>
        </p:spPr>
        <p:txBody>
          <a:bodyPr wrap="square" lIns="0" tIns="0" rIns="0" bIns="0" rtlCol="0" anchor="ctr"/>
          <a:lstStyle/>
          <a:p>
            <a:pPr marL="0" indent="0">
              <a:lnSpc>
                <a:spcPct val="118000"/>
              </a:lnSpc>
              <a:buNone/>
            </a:pPr>
            <a:r>
              <a:rPr lang="en-US" sz="1450" dirty="0">
                <a:solidFill>
                  <a:srgbClr val="847FA6"/>
                </a:solidFill>
                <a:latin typeface="Segoe UI" pitchFamily="34" charset="0"/>
                <a:ea typeface="Segoe UI" pitchFamily="34" charset="-122"/>
                <a:cs typeface="Segoe UI" pitchFamily="34" charset="-120"/>
              </a:rPr>
              <a:t>Confirmer les résultats via un classeur Excel paramétré et une analyse de sensibilité (fibre, source, débit, marge) sur un cas concret ouest-africain.</a:t>
            </a:r>
            <a:endParaRPr lang="en-US" sz="1450" dirty="0"/>
          </a:p>
        </p:txBody>
      </p:sp>
      <p:sp>
        <p:nvSpPr>
          <p:cNvPr id="25" name="Text 20"/>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6" name="Text 21"/>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4</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childTnLst>
                    </p:cTn>
                  </p:par>
                  <p:par>
                    <p:cTn id="28" fill="hold">
                      <p:stCondLst>
                        <p:cond delay="70"/>
                      </p:stCondLst>
                      <p:childTnLst>
                        <p:par>
                          <p:cTn id="29" presetID="10" presetClass="entr" presetSubtype="0" fill="hold" grpId="6"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childTnLst>
                    </p:cTn>
                  </p:par>
                  <p:par>
                    <p:cTn id="32" fill="hold">
                      <p:stCondLst>
                        <p:cond delay="7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childTnLst>
                    </p:cTn>
                  </p:par>
                  <p:par>
                    <p:cTn id="36" fill="hold">
                      <p:stCondLst>
                        <p:cond delay="70"/>
                      </p:stCondLst>
                      <p:childTnLst>
                        <p:par>
                          <p:cTn id="37" presetID="10" presetClass="entr" presetSubtype="0" fill="hold" grpId="8"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childTnLst>
                    </p:cTn>
                  </p:par>
                  <p:par>
                    <p:cTn id="40" fill="hold">
                      <p:stCondLst>
                        <p:cond delay="70"/>
                      </p:stCondLst>
                      <p:childTnLst>
                        <p:par>
                          <p:cTn id="41" presetID="10" presetClass="entr" presetSubtype="0" fill="hold" grpId="9"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childTnLst>
                    </p:cTn>
                  </p:par>
                  <p:par>
                    <p:cTn id="44" fill="hold">
                      <p:stCondLst>
                        <p:cond delay="70"/>
                      </p:stCondLst>
                      <p:childTnLst>
                        <p:par>
                          <p:cTn id="45" presetID="10" presetClass="entr" presetSubtype="0" fill="hold" grpId="1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350"/>
                                  <p:tgtEl>
                                    <p:spTgt spid="20"/>
                                  </p:tgtEl>
                                </p:cBhvr>
                              </p:animEffect>
                            </p:childTnLst>
                          </p:cTn>
                        </p:par>
                      </p:childTnLst>
                    </p:cTn>
                  </p:par>
                  <p:par>
                    <p:cTn id="48" fill="hold">
                      <p:stCondLst>
                        <p:cond delay="70"/>
                      </p:stCondLst>
                      <p:childTnLst>
                        <p:par>
                          <p:cTn id="49" presetID="10" presetClass="entr" presetSubtype="0"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350"/>
                                  <p:tgtEl>
                                    <p:spTgt spid="22"/>
                                  </p:tgtEl>
                                </p:cBhvr>
                              </p:animEffect>
                            </p:childTnLst>
                          </p:cTn>
                        </p:par>
                      </p:childTnLst>
                    </p:cTn>
                  </p:par>
                  <p:par>
                    <p:cTn id="52" fill="hold">
                      <p:stCondLst>
                        <p:cond delay="70"/>
                      </p:stCondLst>
                      <p:childTnLst>
                        <p:par>
                          <p:cTn id="53" presetID="10" presetClass="entr" presetSubtype="0" fill="hold" grpId="12"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50"/>
                                  <p:tgtEl>
                                    <p:spTgt spid="23"/>
                                  </p:tgtEl>
                                </p:cBhvr>
                              </p:animEffect>
                            </p:childTnLst>
                          </p:cTn>
                        </p:par>
                      </p:childTnLst>
                    </p:cTn>
                  </p:par>
                  <p:par>
                    <p:cTn id="56" fill="hold">
                      <p:stCondLst>
                        <p:cond delay="70"/>
                      </p:stCondLst>
                      <p:childTnLst>
                        <p:par>
                          <p:cTn id="57" presetID="10" presetClass="entr" presetSubtype="0" fill="hold" grpId="13"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9" grpId="4" animBg="1"/>
      <p:bldP spid="10" grpId="5" animBg="1"/>
      <p:bldP spid="13" grpId="6" animBg="1"/>
      <p:bldP spid="16" grpId="8" animBg="1"/>
      <p:bldP spid="17" grpId="9" animBg="1"/>
      <p:bldP spid="20" grpId="10" animBg="1"/>
      <p:bldP spid="23" grpId="12" animBg="1"/>
      <p:bldP spid="24" grpId="13"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__1__afterprev__fade__whole" descr="C:\Users\Cedric S. DJIGUIMDE\Desktop\Projet\presentation_fibre\assets_themes\spectra\icons\layers_w.png"/>
          <p:cNvPicPr>
            <a:picLocks noChangeAspect="1"/>
          </p:cNvPicPr>
          <p:nvPr/>
        </p:nvPicPr>
        <p:blipFill>
          <a:blip r:embed="rId4"/>
          <a:stretch>
            <a:fillRect/>
          </a:stretch>
        </p:blipFill>
        <p:spPr>
          <a:xfrm>
            <a:off x="9464040" y="2331720"/>
            <a:ext cx="1737360" cy="1737360"/>
          </a:xfrm>
          <a:prstGeom prst="rect">
            <a:avLst/>
          </a:prstGeom>
        </p:spPr>
      </p:pic>
      <p:sp>
        <p:nvSpPr>
          <p:cNvPr id="3" name="anim__2__afterprev__fade__whole"/>
          <p:cNvSpPr/>
          <p:nvPr/>
        </p:nvSpPr>
        <p:spPr>
          <a:xfrm>
            <a:off x="685800" y="2286000"/>
            <a:ext cx="7315200" cy="457200"/>
          </a:xfrm>
          <a:prstGeom prst="rect">
            <a:avLst/>
          </a:prstGeom>
          <a:noFill/>
          <a:ln/>
        </p:spPr>
        <p:txBody>
          <a:bodyPr wrap="square" lIns="0" tIns="0" rIns="0" bIns="0" rtlCol="0" anchor="ctr"/>
          <a:lstStyle/>
          <a:p>
            <a:pPr marL="0" indent="0">
              <a:buNone/>
            </a:pPr>
            <a:r>
              <a:rPr lang="en-US" sz="1860" b="1" kern="0" spc="400" dirty="0">
                <a:solidFill>
                  <a:srgbClr val="6D28D9"/>
                </a:solidFill>
                <a:latin typeface="Segoe UI Semibold" pitchFamily="34" charset="0"/>
                <a:ea typeface="Segoe UI Semibold" pitchFamily="34" charset="-122"/>
                <a:cs typeface="Segoe UI Semibold" pitchFamily="34" charset="-120"/>
              </a:rPr>
              <a:t>PARTIE I</a:t>
            </a:r>
            <a:endParaRPr lang="en-US" sz="1860" dirty="0"/>
          </a:p>
        </p:txBody>
      </p:sp>
      <p:sp>
        <p:nvSpPr>
          <p:cNvPr id="4" name="anim__3__afterprev__fade__whole"/>
          <p:cNvSpPr/>
          <p:nvPr/>
        </p:nvSpPr>
        <p:spPr>
          <a:xfrm>
            <a:off x="685800" y="2743200"/>
            <a:ext cx="7680960" cy="1188720"/>
          </a:xfrm>
          <a:prstGeom prst="rect">
            <a:avLst/>
          </a:prstGeom>
          <a:noFill/>
          <a:ln/>
        </p:spPr>
        <p:txBody>
          <a:bodyPr wrap="square" lIns="0" tIns="0" rIns="0" bIns="0" rtlCol="0" anchor="ctr"/>
          <a:lstStyle/>
          <a:p>
            <a:pPr marL="0" indent="0">
              <a:buNone/>
            </a:pPr>
            <a:r>
              <a:rPr lang="en-US" sz="4200" b="1" dirty="0">
                <a:solidFill>
                  <a:srgbClr val="20183F"/>
                </a:solidFill>
                <a:latin typeface="Segoe UI Black" pitchFamily="34" charset="0"/>
                <a:ea typeface="Segoe UI Black" pitchFamily="34" charset="-122"/>
                <a:cs typeface="Segoe UI Black" pitchFamily="34" charset="-120"/>
              </a:rPr>
              <a:t>Fondements théoriques</a:t>
            </a:r>
            <a:endParaRPr lang="en-US" sz="4200" dirty="0"/>
          </a:p>
        </p:txBody>
      </p:sp>
      <p:sp>
        <p:nvSpPr>
          <p:cNvPr id="5" name="Shape 2"/>
          <p:cNvSpPr/>
          <p:nvPr/>
        </p:nvSpPr>
        <p:spPr>
          <a:xfrm>
            <a:off x="685800" y="3913632"/>
            <a:ext cx="2011680" cy="0"/>
          </a:xfrm>
          <a:prstGeom prst="line">
            <a:avLst/>
          </a:prstGeom>
          <a:noFill/>
          <a:ln w="31750">
            <a:solidFill>
              <a:srgbClr val="6D28D9"/>
            </a:solidFill>
            <a:prstDash val="solid"/>
          </a:ln>
        </p:spPr>
        <p:txBody>
          <a:bodyPr/>
          <a:lstStyle/>
          <a:p>
            <a:endParaRPr lang="fr-FR"/>
          </a:p>
        </p:txBody>
      </p:sp>
      <p:sp>
        <p:nvSpPr>
          <p:cNvPr id="6" name="anim__4__afterprev__fade__whole"/>
          <p:cNvSpPr/>
          <p:nvPr/>
        </p:nvSpPr>
        <p:spPr>
          <a:xfrm>
            <a:off x="685800" y="4041648"/>
            <a:ext cx="7315200" cy="640080"/>
          </a:xfrm>
          <a:prstGeom prst="rect">
            <a:avLst/>
          </a:prstGeom>
          <a:noFill/>
          <a:ln/>
        </p:spPr>
        <p:txBody>
          <a:bodyPr wrap="square" lIns="0" tIns="0" rIns="0" bIns="0" rtlCol="0" anchor="ctr"/>
          <a:lstStyle/>
          <a:p>
            <a:pPr marL="0" indent="0">
              <a:lnSpc>
                <a:spcPct val="115000"/>
              </a:lnSpc>
              <a:buNone/>
            </a:pPr>
            <a:r>
              <a:rPr lang="en-US" sz="1740" dirty="0">
                <a:solidFill>
                  <a:srgbClr val="3F3D56"/>
                </a:solidFill>
                <a:latin typeface="Segoe UI" pitchFamily="34" charset="0"/>
                <a:ea typeface="Segoe UI" pitchFamily="34" charset="-122"/>
                <a:cs typeface="Segoe UI" pitchFamily="34" charset="-120"/>
              </a:rPr>
              <a:t>Les principes physiques de la propagation guidée de la lumière.</a:t>
            </a:r>
            <a:endParaRPr lang="en-US" sz="1740" dirty="0"/>
          </a:p>
        </p:txBody>
      </p:sp>
      <p:sp>
        <p:nvSpPr>
          <p:cNvPr id="7" name="anim__5__afterprev__fade__para"/>
          <p:cNvSpPr/>
          <p:nvPr/>
        </p:nvSpPr>
        <p:spPr>
          <a:xfrm>
            <a:off x="685800" y="4754880"/>
            <a:ext cx="7315200" cy="1280160"/>
          </a:xfrm>
          <a:prstGeom prst="rect">
            <a:avLst/>
          </a:prstGeom>
          <a:noFill/>
          <a:ln/>
        </p:spPr>
        <p:txBody>
          <a:bodyPr wrap="square" lIns="0" tIns="0" rIns="0" bIns="0" rtlCol="0" anchor="ctr"/>
          <a:lstStyle/>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Structure d'une fibre optique</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Réflexion totale interne &amp; loi de Snell-Descartes</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Types de fibres : multimode &amp; monomode</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Phénomènes limitants : atténuation, dispersion, PMD</a:t>
            </a:r>
            <a:endParaRPr lang="en-US" sz="1510" dirty="0"/>
          </a:p>
        </p:txBody>
      </p:sp>
      <p:sp>
        <p:nvSpPr>
          <p:cNvPr id="8" name="Text 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9" name="Text 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5</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800">
        <p:cover/>
      </p:transition>
    </mc:Choice>
    <mc:Fallback>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50"/>
                                  <p:tgtEl>
                                    <p:spTgt spid="4"/>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350"/>
                                  <p:tgtEl>
                                    <p:spTgt spid="7">
                                      <p:txEl>
                                        <p:pRg st="0" end="0"/>
                                      </p:txEl>
                                    </p:spTgt>
                                  </p:tgtEl>
                                </p:cBhvr>
                              </p:animEffect>
                            </p:childTnLst>
                          </p:cTn>
                        </p:par>
                      </p:childTnLst>
                    </p:cTn>
                  </p:par>
                  <p:par>
                    <p:cTn id="24" fill="hold">
                      <p:stCondLst>
                        <p:cond delay="70"/>
                      </p:stCondLst>
                      <p:childTnLst>
                        <p:par>
                          <p:cTn id="25" presetID="10" presetClass="entr" presetSubtype="0" fill="hold" grpId="4" nodeType="after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350"/>
                                  <p:tgtEl>
                                    <p:spTgt spid="7">
                                      <p:txEl>
                                        <p:pRg st="1" end="1"/>
                                      </p:txEl>
                                    </p:spTgt>
                                  </p:tgtEl>
                                </p:cBhvr>
                              </p:animEffect>
                            </p:childTnLst>
                          </p:cTn>
                        </p:par>
                      </p:childTnLst>
                    </p:cTn>
                  </p:par>
                  <p:par>
                    <p:cTn id="28" fill="hold">
                      <p:stCondLst>
                        <p:cond delay="70"/>
                      </p:stCondLst>
                      <p:childTnLst>
                        <p:par>
                          <p:cTn id="29" presetID="10" presetClass="entr" presetSubtype="0" fill="hold" grpId="4" nodeType="after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350"/>
                                  <p:tgtEl>
                                    <p:spTgt spid="7">
                                      <p:txEl>
                                        <p:pRg st="2" end="2"/>
                                      </p:txEl>
                                    </p:spTgt>
                                  </p:tgtEl>
                                </p:cBhvr>
                              </p:animEffect>
                            </p:childTnLst>
                          </p:cTn>
                        </p:par>
                      </p:childTnLst>
                    </p:cTn>
                  </p:par>
                  <p:par>
                    <p:cTn id="32" fill="hold">
                      <p:stCondLst>
                        <p:cond delay="70"/>
                      </p:stCondLst>
                      <p:childTnLst>
                        <p:par>
                          <p:cTn id="33" presetID="10" presetClass="entr" presetSubtype="0" fill="hold" grpId="4" nodeType="after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350"/>
                                  <p:tgtEl>
                                    <p:spTgt spid="7">
                                      <p:txEl>
                                        <p:pRg st="3" end="3"/>
                                      </p:txEl>
                                    </p:spTgt>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4" grpId="2" animBg="1"/>
      <p:bldP spid="6" grpId="3" animBg="1"/>
      <p:bldP spid="7" grpId="4"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 — FONDEMENTS THÉORIQUES</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Structure d'une fibre optique</a:t>
            </a:r>
            <a:endParaRPr lang="en-US" sz="3100" dirty="0"/>
          </a:p>
        </p:txBody>
      </p:sp>
      <p:sp>
        <p:nvSpPr>
          <p:cNvPr id="4" name="Shape 2"/>
          <p:cNvSpPr/>
          <p:nvPr/>
        </p:nvSpPr>
        <p:spPr>
          <a:xfrm>
            <a:off x="685800" y="1874520"/>
            <a:ext cx="5577840" cy="2539559"/>
          </a:xfrm>
          <a:prstGeom prst="roundRect">
            <a:avLst>
              <a:gd name="adj" fmla="val 5761"/>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pic>
        <p:nvPicPr>
          <p:cNvPr id="5" name="anim__3__afterprev__fade__whole" descr="C:\Users\Cedric S. DJIGUIMDE\Desktop\Projet\presentation_fibre\assets_shared\figures\fig_structure.png"/>
          <p:cNvPicPr>
            <a:picLocks noChangeAspect="1"/>
          </p:cNvPicPr>
          <p:nvPr/>
        </p:nvPicPr>
        <p:blipFill>
          <a:blip r:embed="rId4"/>
          <a:stretch>
            <a:fillRect/>
          </a:stretch>
        </p:blipFill>
        <p:spPr>
          <a:xfrm>
            <a:off x="914400" y="2103120"/>
            <a:ext cx="5120640" cy="2082359"/>
          </a:xfrm>
          <a:prstGeom prst="rect">
            <a:avLst/>
          </a:prstGeom>
        </p:spPr>
      </p:pic>
      <p:sp>
        <p:nvSpPr>
          <p:cNvPr id="6" name="anim__4__afterprev__fade__whole"/>
          <p:cNvSpPr/>
          <p:nvPr/>
        </p:nvSpPr>
        <p:spPr>
          <a:xfrm>
            <a:off x="685800" y="5074920"/>
            <a:ext cx="5577840" cy="274320"/>
          </a:xfrm>
          <a:prstGeom prst="rect">
            <a:avLst/>
          </a:prstGeom>
          <a:noFill/>
          <a:ln/>
        </p:spPr>
        <p:txBody>
          <a:bodyPr wrap="square" lIns="0" tIns="0" rIns="0" bIns="0" rtlCol="0" anchor="ctr"/>
          <a:lstStyle/>
          <a:p>
            <a:pPr marL="0" indent="0" algn="ctr">
              <a:buNone/>
            </a:pPr>
            <a:r>
              <a:rPr lang="en-US" sz="1220" i="1" dirty="0">
                <a:solidFill>
                  <a:srgbClr val="B3AECB"/>
                </a:solidFill>
                <a:latin typeface="Segoe UI" pitchFamily="34" charset="0"/>
                <a:ea typeface="Segoe UI" pitchFamily="34" charset="-122"/>
                <a:cs typeface="Segoe UI" pitchFamily="34" charset="-120"/>
              </a:rPr>
              <a:t>Figure : structure d'une fibre optique</a:t>
            </a:r>
            <a:endParaRPr lang="en-US" sz="1220" dirty="0"/>
          </a:p>
        </p:txBody>
      </p:sp>
      <p:sp>
        <p:nvSpPr>
          <p:cNvPr id="7" name="Shape 4"/>
          <p:cNvSpPr/>
          <p:nvPr/>
        </p:nvSpPr>
        <p:spPr>
          <a:xfrm>
            <a:off x="6492240" y="1874520"/>
            <a:ext cx="5029200" cy="932688"/>
          </a:xfrm>
          <a:prstGeom prst="roundRect">
            <a:avLst>
              <a:gd name="adj" fmla="val 1568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8" name="Shape 5"/>
          <p:cNvSpPr/>
          <p:nvPr/>
        </p:nvSpPr>
        <p:spPr>
          <a:xfrm>
            <a:off x="6492240" y="2020824"/>
            <a:ext cx="64008" cy="640080"/>
          </a:xfrm>
          <a:prstGeom prst="rect">
            <a:avLst/>
          </a:prstGeom>
          <a:solidFill>
            <a:srgbClr val="6D28D9"/>
          </a:solidFill>
          <a:ln/>
        </p:spPr>
        <p:txBody>
          <a:bodyPr/>
          <a:lstStyle/>
          <a:p>
            <a:endParaRPr lang="fr-FR"/>
          </a:p>
        </p:txBody>
      </p:sp>
      <p:sp>
        <p:nvSpPr>
          <p:cNvPr id="9" name="anim__5__afterprev__fade__whole"/>
          <p:cNvSpPr/>
          <p:nvPr/>
        </p:nvSpPr>
        <p:spPr>
          <a:xfrm>
            <a:off x="6766560" y="1993392"/>
            <a:ext cx="452628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Le cœur</a:t>
            </a:r>
            <a:endParaRPr lang="en-US" sz="1800" dirty="0"/>
          </a:p>
        </p:txBody>
      </p:sp>
      <p:sp>
        <p:nvSpPr>
          <p:cNvPr id="10" name="anim__6__withprev__fade__whole"/>
          <p:cNvSpPr/>
          <p:nvPr/>
        </p:nvSpPr>
        <p:spPr>
          <a:xfrm>
            <a:off x="6766560" y="2331720"/>
            <a:ext cx="4526280" cy="457200"/>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Indice n₁, matériau transparent. La lumière s'y propage. Ø ≈ 8–10 µm (monomode), 50–62,5 µm (multimode).</a:t>
            </a:r>
            <a:endParaRPr lang="en-US" sz="1390" dirty="0"/>
          </a:p>
        </p:txBody>
      </p:sp>
      <p:sp>
        <p:nvSpPr>
          <p:cNvPr id="11" name="Shape 8"/>
          <p:cNvSpPr/>
          <p:nvPr/>
        </p:nvSpPr>
        <p:spPr>
          <a:xfrm>
            <a:off x="6492240" y="2953512"/>
            <a:ext cx="5029200" cy="932688"/>
          </a:xfrm>
          <a:prstGeom prst="roundRect">
            <a:avLst>
              <a:gd name="adj" fmla="val 1568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2" name="Shape 9"/>
          <p:cNvSpPr/>
          <p:nvPr/>
        </p:nvSpPr>
        <p:spPr>
          <a:xfrm>
            <a:off x="6492240" y="3099816"/>
            <a:ext cx="64008" cy="640080"/>
          </a:xfrm>
          <a:prstGeom prst="rect">
            <a:avLst/>
          </a:prstGeom>
          <a:solidFill>
            <a:srgbClr val="6D28D9"/>
          </a:solidFill>
          <a:ln/>
        </p:spPr>
        <p:txBody>
          <a:bodyPr/>
          <a:lstStyle/>
          <a:p>
            <a:endParaRPr lang="fr-FR"/>
          </a:p>
        </p:txBody>
      </p:sp>
      <p:sp>
        <p:nvSpPr>
          <p:cNvPr id="13" name="anim__7__afterprev__fade__whole"/>
          <p:cNvSpPr/>
          <p:nvPr/>
        </p:nvSpPr>
        <p:spPr>
          <a:xfrm>
            <a:off x="6766560" y="3072384"/>
            <a:ext cx="452628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La gaine optique</a:t>
            </a:r>
            <a:endParaRPr lang="en-US" sz="1800" dirty="0"/>
          </a:p>
        </p:txBody>
      </p:sp>
      <p:sp>
        <p:nvSpPr>
          <p:cNvPr id="14" name="anim__8__withprev__fade__whole"/>
          <p:cNvSpPr/>
          <p:nvPr/>
        </p:nvSpPr>
        <p:spPr>
          <a:xfrm>
            <a:off x="6766560" y="3410712"/>
            <a:ext cx="4526280" cy="457200"/>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Indice n₂ &lt; n₁ → confinement par réflexion totale interne. Ø extérieur normalisé à 125 µm.</a:t>
            </a:r>
            <a:endParaRPr lang="en-US" sz="1390" dirty="0"/>
          </a:p>
        </p:txBody>
      </p:sp>
      <p:sp>
        <p:nvSpPr>
          <p:cNvPr id="15" name="Shape 12"/>
          <p:cNvSpPr/>
          <p:nvPr/>
        </p:nvSpPr>
        <p:spPr>
          <a:xfrm>
            <a:off x="6492240" y="4032504"/>
            <a:ext cx="5029200" cy="932688"/>
          </a:xfrm>
          <a:prstGeom prst="roundRect">
            <a:avLst>
              <a:gd name="adj" fmla="val 1568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6" name="Shape 13"/>
          <p:cNvSpPr/>
          <p:nvPr/>
        </p:nvSpPr>
        <p:spPr>
          <a:xfrm>
            <a:off x="6492240" y="4178808"/>
            <a:ext cx="64008" cy="640080"/>
          </a:xfrm>
          <a:prstGeom prst="rect">
            <a:avLst/>
          </a:prstGeom>
          <a:solidFill>
            <a:srgbClr val="6D28D9"/>
          </a:solidFill>
          <a:ln/>
        </p:spPr>
        <p:txBody>
          <a:bodyPr/>
          <a:lstStyle/>
          <a:p>
            <a:endParaRPr lang="fr-FR"/>
          </a:p>
        </p:txBody>
      </p:sp>
      <p:sp>
        <p:nvSpPr>
          <p:cNvPr id="17" name="anim__9__afterprev__fade__whole"/>
          <p:cNvSpPr/>
          <p:nvPr/>
        </p:nvSpPr>
        <p:spPr>
          <a:xfrm>
            <a:off x="6766560" y="4151376"/>
            <a:ext cx="452628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Le revêtement</a:t>
            </a:r>
            <a:endParaRPr lang="en-US" sz="1800" dirty="0"/>
          </a:p>
        </p:txBody>
      </p:sp>
      <p:sp>
        <p:nvSpPr>
          <p:cNvPr id="18" name="anim__10__withprev__fade__whole"/>
          <p:cNvSpPr/>
          <p:nvPr/>
        </p:nvSpPr>
        <p:spPr>
          <a:xfrm>
            <a:off x="6766560" y="4489704"/>
            <a:ext cx="4526280" cy="457200"/>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Protection mécanique (chocs, abrasion) ; bloque la lumière résiduelle. Aucun rôle optique.</a:t>
            </a:r>
            <a:endParaRPr lang="en-US" sz="1390" dirty="0"/>
          </a:p>
        </p:txBody>
      </p:sp>
      <p:sp>
        <p:nvSpPr>
          <p:cNvPr id="19" name="Shape 16"/>
          <p:cNvSpPr/>
          <p:nvPr/>
        </p:nvSpPr>
        <p:spPr>
          <a:xfrm>
            <a:off x="6492240" y="5212080"/>
            <a:ext cx="5029200" cy="749808"/>
          </a:xfrm>
          <a:prstGeom prst="roundRect">
            <a:avLst>
              <a:gd name="adj" fmla="val 19512"/>
            </a:avLst>
          </a:prstGeom>
          <a:solidFill>
            <a:srgbClr val="EFE9FF"/>
          </a:solidFill>
          <a:ln/>
        </p:spPr>
        <p:txBody>
          <a:bodyPr/>
          <a:lstStyle/>
          <a:p>
            <a:endParaRPr lang="fr-FR"/>
          </a:p>
        </p:txBody>
      </p:sp>
      <p:sp>
        <p:nvSpPr>
          <p:cNvPr id="20" name="anim__11__afterprev__fade__whole"/>
          <p:cNvSpPr/>
          <p:nvPr/>
        </p:nvSpPr>
        <p:spPr>
          <a:xfrm>
            <a:off x="6766560" y="5285232"/>
            <a:ext cx="4526280" cy="603504"/>
          </a:xfrm>
          <a:prstGeom prst="rect">
            <a:avLst/>
          </a:prstGeom>
          <a:noFill/>
          <a:ln/>
        </p:spPr>
        <p:txBody>
          <a:bodyPr wrap="square" lIns="0" tIns="0" rIns="0" bIns="0" rtlCol="0" anchor="ctr"/>
          <a:lstStyle/>
          <a:p>
            <a:pPr marL="0" indent="0">
              <a:lnSpc>
                <a:spcPct val="110000"/>
              </a:lnSpc>
              <a:buNone/>
            </a:pPr>
            <a:r>
              <a:rPr lang="en-US" sz="1450" dirty="0">
                <a:solidFill>
                  <a:srgbClr val="20183F"/>
                </a:solidFill>
                <a:latin typeface="Segoe UI" pitchFamily="34" charset="0"/>
                <a:ea typeface="Segoe UI" pitchFamily="34" charset="-122"/>
                <a:cs typeface="Segoe UI" pitchFamily="34" charset="-120"/>
              </a:rPr>
              <a:t>Paramètre clé : Δn = n₁ − n₂ — plus Δn est faible, plus le guidage est progressif (fibres à gradient d'indice).</a:t>
            </a:r>
            <a:endParaRPr lang="en-US" sz="1450" dirty="0"/>
          </a:p>
        </p:txBody>
      </p:sp>
      <p:sp>
        <p:nvSpPr>
          <p:cNvPr id="21" name="Text 18"/>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2" name="Text 19"/>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6</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50"/>
                                  <p:tgtEl>
                                    <p:spTgt spid="5"/>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5"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childTnLst>
                    </p:cTn>
                  </p:par>
                  <p:par>
                    <p:cTn id="27" fill="hold">
                      <p:stCondLst>
                        <p:cond delay="70"/>
                      </p:stCondLst>
                      <p:childTnLst>
                        <p:par>
                          <p:cTn id="28" presetID="10" presetClass="entr" presetSubtype="0" fill="hold" grpId="6"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par>
                          <p:cTn id="31" presetID="10" presetClass="entr" presetSubtype="0" fill="hold" grpId="7"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childTnLst>
                    </p:cTn>
                  </p:par>
                  <p:par>
                    <p:cTn id="34" fill="hold">
                      <p:stCondLst>
                        <p:cond delay="70"/>
                      </p:stCondLst>
                      <p:childTnLst>
                        <p:par>
                          <p:cTn id="35" presetID="10" presetClass="entr" presetSubtype="0" fill="hold" grpId="8"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350"/>
                                  <p:tgtEl>
                                    <p:spTgt spid="17"/>
                                  </p:tgtEl>
                                </p:cBhvr>
                              </p:animEffect>
                            </p:childTnLst>
                          </p:cTn>
                        </p:par>
                        <p:par>
                          <p:cTn id="38" presetID="10" presetClass="entr" presetSubtype="0" fill="hold" grpId="9"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50"/>
                                  <p:tgtEl>
                                    <p:spTgt spid="18"/>
                                  </p:tgtEl>
                                </p:cBhvr>
                              </p:animEffect>
                            </p:childTnLst>
                          </p:cTn>
                        </p:par>
                      </p:childTnLst>
                    </p:cTn>
                  </p:par>
                  <p:par>
                    <p:cTn id="41" fill="hold">
                      <p:stCondLst>
                        <p:cond delay="70"/>
                      </p:stCondLst>
                      <p:childTnLst>
                        <p:par>
                          <p:cTn id="42" presetID="10" presetClass="entr" presetSubtype="0" fill="hold" grpId="1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35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3" animBg="1"/>
      <p:bldP spid="9" grpId="4" animBg="1"/>
      <p:bldP spid="10" grpId="5" animBg="1"/>
      <p:bldP spid="13" grpId="6" animBg="1"/>
      <p:bldP spid="14" grpId="7" animBg="1"/>
      <p:bldP spid="17" grpId="8" animBg="1"/>
      <p:bldP spid="18" grpId="9" animBg="1"/>
      <p:bldP spid="20" grpId="1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 — FONDEMENTS THÉORIQUES</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Principe : la réflexion totale interne</a:t>
            </a:r>
            <a:endParaRPr lang="en-US" sz="3100" dirty="0"/>
          </a:p>
        </p:txBody>
      </p:sp>
      <p:sp>
        <p:nvSpPr>
          <p:cNvPr id="4" name="Shape 2"/>
          <p:cNvSpPr/>
          <p:nvPr/>
        </p:nvSpPr>
        <p:spPr>
          <a:xfrm>
            <a:off x="685800" y="1874520"/>
            <a:ext cx="5577840" cy="2591440"/>
          </a:xfrm>
          <a:prstGeom prst="roundRect">
            <a:avLst>
              <a:gd name="adj" fmla="val 564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pic>
        <p:nvPicPr>
          <p:cNvPr id="5" name="anim__3__afterprev__fade__whole" descr="C:\Users\Cedric S. DJIGUIMDE\Desktop\Projet\presentation_fibre\assets_shared\figures\fig_reflexion.png"/>
          <p:cNvPicPr>
            <a:picLocks noChangeAspect="1"/>
          </p:cNvPicPr>
          <p:nvPr/>
        </p:nvPicPr>
        <p:blipFill>
          <a:blip r:embed="rId4"/>
          <a:stretch>
            <a:fillRect/>
          </a:stretch>
        </p:blipFill>
        <p:spPr>
          <a:xfrm>
            <a:off x="914400" y="2103120"/>
            <a:ext cx="5120640" cy="2134240"/>
          </a:xfrm>
          <a:prstGeom prst="rect">
            <a:avLst/>
          </a:prstGeom>
        </p:spPr>
      </p:pic>
      <p:sp>
        <p:nvSpPr>
          <p:cNvPr id="6" name="anim__4__afterprev__fade__whole"/>
          <p:cNvSpPr/>
          <p:nvPr/>
        </p:nvSpPr>
        <p:spPr>
          <a:xfrm>
            <a:off x="685800" y="4617720"/>
            <a:ext cx="5577840" cy="274320"/>
          </a:xfrm>
          <a:prstGeom prst="rect">
            <a:avLst/>
          </a:prstGeom>
          <a:noFill/>
          <a:ln/>
        </p:spPr>
        <p:txBody>
          <a:bodyPr wrap="square" lIns="0" tIns="0" rIns="0" bIns="0" rtlCol="0" anchor="ctr"/>
          <a:lstStyle/>
          <a:p>
            <a:pPr marL="0" indent="0" algn="ctr">
              <a:buNone/>
            </a:pPr>
            <a:r>
              <a:rPr lang="en-US" sz="1220" i="1" dirty="0">
                <a:solidFill>
                  <a:srgbClr val="B3AECB"/>
                </a:solidFill>
                <a:latin typeface="Segoe UI" pitchFamily="34" charset="0"/>
                <a:ea typeface="Segoe UI" pitchFamily="34" charset="-122"/>
                <a:cs typeface="Segoe UI" pitchFamily="34" charset="-120"/>
              </a:rPr>
              <a:t>Figure : réflexion totale interne (rayons D₁ direct, D₂ réfléchi)</a:t>
            </a:r>
            <a:endParaRPr lang="en-US" sz="1220" dirty="0"/>
          </a:p>
        </p:txBody>
      </p:sp>
      <p:sp>
        <p:nvSpPr>
          <p:cNvPr id="7" name="anim__5__afterprev__fade__para"/>
          <p:cNvSpPr/>
          <p:nvPr/>
        </p:nvSpPr>
        <p:spPr>
          <a:xfrm>
            <a:off x="777240" y="5029200"/>
            <a:ext cx="5486400" cy="1005840"/>
          </a:xfrm>
          <a:prstGeom prst="rect">
            <a:avLst/>
          </a:prstGeom>
          <a:noFill/>
          <a:ln/>
        </p:spPr>
        <p:txBody>
          <a:bodyPr wrap="square" lIns="0" tIns="0" rIns="0" bIns="0" rtlCol="0" anchor="ctr"/>
          <a:lstStyle/>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Indice n = c / v : plus n est grand, plus la lumière est lente.</a:t>
            </a:r>
            <a:endParaRPr lang="en-US" sz="1450" dirty="0"/>
          </a:p>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Au-delà de l'angle critique, le rayon est intégralement réfléchi et reste guidé.</a:t>
            </a:r>
            <a:endParaRPr lang="en-US" sz="1450" dirty="0"/>
          </a:p>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θmax (angle d'acceptance) conditionne le couplage source–fibre.</a:t>
            </a:r>
            <a:endParaRPr lang="en-US" sz="1450" dirty="0"/>
          </a:p>
        </p:txBody>
      </p:sp>
      <p:sp>
        <p:nvSpPr>
          <p:cNvPr id="8" name="anim__6__afterprev__fade__whole"/>
          <p:cNvSpPr/>
          <p:nvPr/>
        </p:nvSpPr>
        <p:spPr>
          <a:xfrm>
            <a:off x="6492240" y="1874520"/>
            <a:ext cx="5029200" cy="822960"/>
          </a:xfrm>
          <a:prstGeom prst="rect">
            <a:avLst/>
          </a:prstGeom>
          <a:noFill/>
          <a:ln/>
        </p:spPr>
        <p:txBody>
          <a:bodyPr wrap="square" lIns="0" tIns="0" rIns="0" bIns="0" rtlCol="0" anchor="ctr"/>
          <a:lstStyle/>
          <a:p>
            <a:pPr marL="0" indent="0">
              <a:lnSpc>
                <a:spcPct val="118000"/>
              </a:lnSpc>
              <a:buNone/>
            </a:pPr>
            <a:r>
              <a:rPr lang="en-US" sz="1570" dirty="0">
                <a:solidFill>
                  <a:srgbClr val="3F3D56"/>
                </a:solidFill>
                <a:latin typeface="Segoe UI" pitchFamily="34" charset="0"/>
                <a:ea typeface="Segoe UI" pitchFamily="34" charset="-122"/>
                <a:cs typeface="Segoe UI" pitchFamily="34" charset="-120"/>
              </a:rPr>
              <a:t>Le guidage repose sur la réflexion totale interne, rendue possible par la structure cœur/gaine (n₂ &lt; n₁).</a:t>
            </a:r>
            <a:endParaRPr lang="en-US" sz="1570" dirty="0"/>
          </a:p>
        </p:txBody>
      </p:sp>
      <p:sp>
        <p:nvSpPr>
          <p:cNvPr id="9" name="Shape 6"/>
          <p:cNvSpPr/>
          <p:nvPr/>
        </p:nvSpPr>
        <p:spPr>
          <a:xfrm>
            <a:off x="6492240" y="2834640"/>
            <a:ext cx="5029200" cy="1005840"/>
          </a:xfrm>
          <a:prstGeom prst="roundRect">
            <a:avLst>
              <a:gd name="adj" fmla="val 14545"/>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0" name="Shape 7"/>
          <p:cNvSpPr/>
          <p:nvPr/>
        </p:nvSpPr>
        <p:spPr>
          <a:xfrm>
            <a:off x="6492240" y="2980944"/>
            <a:ext cx="64008" cy="713232"/>
          </a:xfrm>
          <a:prstGeom prst="rect">
            <a:avLst/>
          </a:prstGeom>
          <a:solidFill>
            <a:srgbClr val="6D28D9"/>
          </a:solidFill>
          <a:ln/>
        </p:spPr>
        <p:txBody>
          <a:bodyPr/>
          <a:lstStyle/>
          <a:p>
            <a:endParaRPr lang="fr-FR"/>
          </a:p>
        </p:txBody>
      </p:sp>
      <p:sp>
        <p:nvSpPr>
          <p:cNvPr id="11" name="anim__7__afterprev__fade__whole"/>
          <p:cNvSpPr/>
          <p:nvPr/>
        </p:nvSpPr>
        <p:spPr>
          <a:xfrm>
            <a:off x="6766560" y="2980944"/>
            <a:ext cx="4526280" cy="292608"/>
          </a:xfrm>
          <a:prstGeom prst="rect">
            <a:avLst/>
          </a:prstGeom>
          <a:noFill/>
          <a:ln/>
        </p:spPr>
        <p:txBody>
          <a:bodyPr wrap="square" lIns="0" tIns="0" rIns="0" bIns="0" rtlCol="0" anchor="ctr"/>
          <a:lstStyle/>
          <a:p>
            <a:pPr marL="0" indent="0">
              <a:buNone/>
            </a:pPr>
            <a:r>
              <a:rPr lang="en-US" sz="1450" b="1" dirty="0">
                <a:solidFill>
                  <a:srgbClr val="6D28D9"/>
                </a:solidFill>
                <a:latin typeface="Segoe UI Semibold" pitchFamily="34" charset="0"/>
                <a:ea typeface="Segoe UI Semibold" pitchFamily="34" charset="-122"/>
                <a:cs typeface="Segoe UI Semibold" pitchFamily="34" charset="-120"/>
              </a:rPr>
              <a:t>Loi de Snell-Descartes</a:t>
            </a:r>
            <a:endParaRPr lang="en-US" sz="1450" dirty="0"/>
          </a:p>
        </p:txBody>
      </p:sp>
      <p:sp>
        <p:nvSpPr>
          <p:cNvPr id="12" name="anim__8__withprev__fade__whole"/>
          <p:cNvSpPr/>
          <p:nvPr/>
        </p:nvSpPr>
        <p:spPr>
          <a:xfrm>
            <a:off x="6766560" y="3291840"/>
            <a:ext cx="4526280" cy="457200"/>
          </a:xfrm>
          <a:prstGeom prst="rect">
            <a:avLst/>
          </a:prstGeom>
          <a:noFill/>
          <a:ln/>
        </p:spPr>
        <p:txBody>
          <a:bodyPr wrap="square" lIns="0" tIns="0" rIns="0" bIns="0" rtlCol="0" anchor="ctr"/>
          <a:lstStyle/>
          <a:p>
            <a:pPr marL="0" indent="0" algn="ctr">
              <a:buNone/>
            </a:pPr>
            <a:r>
              <a:rPr lang="en-US" sz="1970" b="1" dirty="0">
                <a:solidFill>
                  <a:srgbClr val="20183F"/>
                </a:solidFill>
                <a:latin typeface="Consolas" pitchFamily="34" charset="0"/>
                <a:ea typeface="Consolas" pitchFamily="34" charset="-122"/>
                <a:cs typeface="Consolas" pitchFamily="34" charset="-120"/>
              </a:rPr>
              <a:t>n₁ · sin(i₁) = n₂ · sin(i₂)</a:t>
            </a:r>
            <a:endParaRPr lang="en-US" sz="1970" dirty="0"/>
          </a:p>
        </p:txBody>
      </p:sp>
      <p:sp>
        <p:nvSpPr>
          <p:cNvPr id="13" name="Shape 10"/>
          <p:cNvSpPr/>
          <p:nvPr/>
        </p:nvSpPr>
        <p:spPr>
          <a:xfrm>
            <a:off x="6492240" y="3977640"/>
            <a:ext cx="5029200" cy="1051560"/>
          </a:xfrm>
          <a:prstGeom prst="roundRect">
            <a:avLst>
              <a:gd name="adj" fmla="val 13913"/>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4" name="Shape 11"/>
          <p:cNvSpPr/>
          <p:nvPr/>
        </p:nvSpPr>
        <p:spPr>
          <a:xfrm>
            <a:off x="6492240" y="4123944"/>
            <a:ext cx="64008" cy="758952"/>
          </a:xfrm>
          <a:prstGeom prst="rect">
            <a:avLst/>
          </a:prstGeom>
          <a:solidFill>
            <a:srgbClr val="6D28D9"/>
          </a:solidFill>
          <a:ln/>
        </p:spPr>
        <p:txBody>
          <a:bodyPr/>
          <a:lstStyle/>
          <a:p>
            <a:endParaRPr lang="fr-FR"/>
          </a:p>
        </p:txBody>
      </p:sp>
      <p:sp>
        <p:nvSpPr>
          <p:cNvPr id="15" name="anim__9__afterprev__fade__whole"/>
          <p:cNvSpPr/>
          <p:nvPr/>
        </p:nvSpPr>
        <p:spPr>
          <a:xfrm>
            <a:off x="6766560" y="4123944"/>
            <a:ext cx="4526280" cy="292608"/>
          </a:xfrm>
          <a:prstGeom prst="rect">
            <a:avLst/>
          </a:prstGeom>
          <a:noFill/>
          <a:ln/>
        </p:spPr>
        <p:txBody>
          <a:bodyPr wrap="square" lIns="0" tIns="0" rIns="0" bIns="0" rtlCol="0" anchor="ctr"/>
          <a:lstStyle/>
          <a:p>
            <a:pPr marL="0" indent="0">
              <a:buNone/>
            </a:pPr>
            <a:r>
              <a:rPr lang="en-US" sz="1450" b="1" dirty="0">
                <a:solidFill>
                  <a:srgbClr val="6D28D9"/>
                </a:solidFill>
                <a:latin typeface="Segoe UI Semibold" pitchFamily="34" charset="0"/>
                <a:ea typeface="Segoe UI Semibold" pitchFamily="34" charset="-122"/>
                <a:cs typeface="Segoe UI Semibold" pitchFamily="34" charset="-120"/>
              </a:rPr>
              <a:t>Ouverture numérique</a:t>
            </a:r>
            <a:endParaRPr lang="en-US" sz="1450" dirty="0"/>
          </a:p>
        </p:txBody>
      </p:sp>
      <p:sp>
        <p:nvSpPr>
          <p:cNvPr id="16" name="anim__10__withprev__fade__whole"/>
          <p:cNvSpPr/>
          <p:nvPr/>
        </p:nvSpPr>
        <p:spPr>
          <a:xfrm>
            <a:off x="6766560" y="4434840"/>
            <a:ext cx="4526280" cy="457200"/>
          </a:xfrm>
          <a:prstGeom prst="rect">
            <a:avLst/>
          </a:prstGeom>
          <a:noFill/>
          <a:ln/>
        </p:spPr>
        <p:txBody>
          <a:bodyPr wrap="square" lIns="0" tIns="0" rIns="0" bIns="0" rtlCol="0" anchor="ctr"/>
          <a:lstStyle/>
          <a:p>
            <a:pPr marL="0" indent="0" algn="ctr">
              <a:buNone/>
            </a:pPr>
            <a:r>
              <a:rPr lang="en-US" sz="1970" b="1" dirty="0">
                <a:solidFill>
                  <a:srgbClr val="20183F"/>
                </a:solidFill>
                <a:latin typeface="Consolas" pitchFamily="34" charset="0"/>
                <a:ea typeface="Consolas" pitchFamily="34" charset="-122"/>
                <a:cs typeface="Consolas" pitchFamily="34" charset="-120"/>
              </a:rPr>
              <a:t>ON = sin(θmax) = √(n₁² − n₂²)</a:t>
            </a:r>
            <a:endParaRPr lang="en-US" sz="1970" dirty="0"/>
          </a:p>
        </p:txBody>
      </p:sp>
      <p:sp>
        <p:nvSpPr>
          <p:cNvPr id="17" name="anim__11__afterprev__fade__whole"/>
          <p:cNvSpPr/>
          <p:nvPr/>
        </p:nvSpPr>
        <p:spPr>
          <a:xfrm>
            <a:off x="6492240" y="5166360"/>
            <a:ext cx="5029200" cy="548640"/>
          </a:xfrm>
          <a:prstGeom prst="rect">
            <a:avLst/>
          </a:prstGeom>
          <a:noFill/>
          <a:ln/>
        </p:spPr>
        <p:txBody>
          <a:bodyPr wrap="square" lIns="0" tIns="0" rIns="0" bIns="0" rtlCol="0" anchor="ctr"/>
          <a:lstStyle/>
          <a:p>
            <a:pPr marL="0" indent="0">
              <a:lnSpc>
                <a:spcPct val="110000"/>
              </a:lnSpc>
              <a:buNone/>
            </a:pPr>
            <a:r>
              <a:rPr lang="en-US" sz="1390" i="1" dirty="0">
                <a:solidFill>
                  <a:srgbClr val="847FA6"/>
                </a:solidFill>
                <a:latin typeface="Segoe UI" pitchFamily="34" charset="0"/>
                <a:ea typeface="Segoe UI" pitchFamily="34" charset="-122"/>
                <a:cs typeface="Segoe UI" pitchFamily="34" charset="-120"/>
              </a:rPr>
              <a:t>θmax (angle d'acceptance) conditionne le couplage source–fibre.</a:t>
            </a:r>
            <a:endParaRPr lang="en-US" sz="1390" dirty="0"/>
          </a:p>
        </p:txBody>
      </p:sp>
      <p:sp>
        <p:nvSpPr>
          <p:cNvPr id="18" name="Text 1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19" name="Text 1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7</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50"/>
                                  <p:tgtEl>
                                    <p:spTgt spid="5"/>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350"/>
                                  <p:tgtEl>
                                    <p:spTgt spid="7">
                                      <p:txEl>
                                        <p:pRg st="0" end="0"/>
                                      </p:txEl>
                                    </p:spTgt>
                                  </p:tgtEl>
                                </p:cBhvr>
                              </p:animEffect>
                            </p:childTnLst>
                          </p:cTn>
                        </p:par>
                      </p:childTnLst>
                    </p:cTn>
                  </p:par>
                  <p:par>
                    <p:cTn id="24" fill="hold">
                      <p:stCondLst>
                        <p:cond delay="70"/>
                      </p:stCondLst>
                      <p:childTnLst>
                        <p:par>
                          <p:cTn id="25" presetID="10" presetClass="entr" presetSubtype="0" fill="hold" grpId="4" nodeType="after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350"/>
                                  <p:tgtEl>
                                    <p:spTgt spid="7">
                                      <p:txEl>
                                        <p:pRg st="1" end="1"/>
                                      </p:txEl>
                                    </p:spTgt>
                                  </p:tgtEl>
                                </p:cBhvr>
                              </p:animEffect>
                            </p:childTnLst>
                          </p:cTn>
                        </p:par>
                      </p:childTnLst>
                    </p:cTn>
                  </p:par>
                  <p:par>
                    <p:cTn id="28" fill="hold">
                      <p:stCondLst>
                        <p:cond delay="70"/>
                      </p:stCondLst>
                      <p:childTnLst>
                        <p:par>
                          <p:cTn id="29" presetID="10" presetClass="entr" presetSubtype="0" fill="hold" grpId="4" nodeType="after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350"/>
                                  <p:tgtEl>
                                    <p:spTgt spid="7">
                                      <p:txEl>
                                        <p:pRg st="2" end="2"/>
                                      </p:txEl>
                                    </p:spTgt>
                                  </p:tgtEl>
                                </p:cBhvr>
                              </p:animEffect>
                            </p:childTnLst>
                          </p:cTn>
                        </p:par>
                      </p:childTnLst>
                    </p:cTn>
                  </p:par>
                  <p:par>
                    <p:cTn id="32" fill="hold">
                      <p:stCondLst>
                        <p:cond delay="70"/>
                      </p:stCondLst>
                      <p:childTnLst>
                        <p:par>
                          <p:cTn id="33" presetID="10" presetClass="entr" presetSubtype="0" fill="hold" grpId="5"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50"/>
                                  <p:tgtEl>
                                    <p:spTgt spid="8"/>
                                  </p:tgtEl>
                                </p:cBhvr>
                              </p:animEffect>
                            </p:childTnLst>
                          </p:cTn>
                        </p:par>
                      </p:childTnLst>
                    </p:cTn>
                  </p:par>
                  <p:par>
                    <p:cTn id="36" fill="hold">
                      <p:stCondLst>
                        <p:cond delay="70"/>
                      </p:stCondLst>
                      <p:childTnLst>
                        <p:par>
                          <p:cTn id="37" presetID="10" presetClass="entr" presetSubtype="0" fill="hold" grpId="6"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350"/>
                                  <p:tgtEl>
                                    <p:spTgt spid="11"/>
                                  </p:tgtEl>
                                </p:cBhvr>
                              </p:animEffect>
                            </p:childTnLst>
                          </p:cTn>
                        </p:par>
                        <p:par>
                          <p:cTn id="40" presetID="10" presetClass="entr" presetSubtype="0" fill="hold" grpId="7"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350"/>
                                  <p:tgtEl>
                                    <p:spTgt spid="12"/>
                                  </p:tgtEl>
                                </p:cBhvr>
                              </p:animEffect>
                            </p:childTnLst>
                          </p:cTn>
                        </p:par>
                      </p:childTnLst>
                    </p:cTn>
                  </p:par>
                  <p:par>
                    <p:cTn id="43" fill="hold">
                      <p:stCondLst>
                        <p:cond delay="70"/>
                      </p:stCondLst>
                      <p:childTnLst>
                        <p:par>
                          <p:cTn id="44" presetID="10" presetClass="entr" presetSubtype="0" fill="hold" grpId="8"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350"/>
                                  <p:tgtEl>
                                    <p:spTgt spid="15"/>
                                  </p:tgtEl>
                                </p:cBhvr>
                              </p:animEffect>
                            </p:childTnLst>
                          </p:cTn>
                        </p:par>
                        <p:par>
                          <p:cTn id="47" presetID="10" presetClass="entr" presetSubtype="0" fill="hold" grpId="9"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350"/>
                                  <p:tgtEl>
                                    <p:spTgt spid="16"/>
                                  </p:tgtEl>
                                </p:cBhvr>
                              </p:animEffect>
                            </p:childTnLst>
                          </p:cTn>
                        </p:par>
                      </p:childTnLst>
                    </p:cTn>
                  </p:par>
                  <p:par>
                    <p:cTn id="50" fill="hold">
                      <p:stCondLst>
                        <p:cond delay="70"/>
                      </p:stCondLst>
                      <p:childTnLst>
                        <p:par>
                          <p:cTn id="51" presetID="10" presetClass="entr" presetSubtype="0" fill="hold" grpId="10"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35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3" animBg="1"/>
      <p:bldP spid="7" grpId="4" build="p"/>
      <p:bldP spid="8" grpId="5" animBg="1"/>
      <p:bldP spid="11" grpId="6" animBg="1"/>
      <p:bldP spid="12" grpId="7" animBg="1"/>
      <p:bldP spid="15" grpId="8" animBg="1"/>
      <p:bldP spid="16" grpId="9" animBg="1"/>
      <p:bldP spid="17" grpId="1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 — FONDEMENTS THÉORIQUES</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Types de fibres optiques</a:t>
            </a:r>
            <a:endParaRPr lang="en-US" sz="3100" dirty="0"/>
          </a:p>
        </p:txBody>
      </p:sp>
      <p:sp>
        <p:nvSpPr>
          <p:cNvPr id="4" name="Shape 2"/>
          <p:cNvSpPr/>
          <p:nvPr/>
        </p:nvSpPr>
        <p:spPr>
          <a:xfrm>
            <a:off x="685800" y="1828800"/>
            <a:ext cx="10820095" cy="1225296"/>
          </a:xfrm>
          <a:prstGeom prst="roundRect">
            <a:avLst>
              <a:gd name="adj" fmla="val 11940"/>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932688"/>
          </a:xfrm>
          <a:prstGeom prst="rect">
            <a:avLst/>
          </a:prstGeom>
          <a:solidFill>
            <a:srgbClr val="6D28D9"/>
          </a:solidFill>
          <a:ln/>
        </p:spPr>
        <p:txBody>
          <a:bodyPr/>
          <a:lstStyle/>
          <a:p>
            <a:endParaRPr lang="fr-FR"/>
          </a:p>
        </p:txBody>
      </p:sp>
      <p:pic>
        <p:nvPicPr>
          <p:cNvPr id="6" name="anim__3__afterprev__fade__whole" descr="C:\Users\Cedric S. DJIGUIMDE\Desktop\Projet\presentation_fibre\assets_shared\figures\fig_saut.jpeg"/>
          <p:cNvPicPr>
            <a:picLocks noChangeAspect="1"/>
          </p:cNvPicPr>
          <p:nvPr/>
        </p:nvPicPr>
        <p:blipFill>
          <a:blip r:embed="rId4"/>
          <a:stretch>
            <a:fillRect/>
          </a:stretch>
        </p:blipFill>
        <p:spPr>
          <a:xfrm>
            <a:off x="7848295" y="2077384"/>
            <a:ext cx="3383280" cy="728127"/>
          </a:xfrm>
          <a:prstGeom prst="rect">
            <a:avLst/>
          </a:prstGeom>
        </p:spPr>
      </p:pic>
      <p:sp>
        <p:nvSpPr>
          <p:cNvPr id="7" name="anim__4__withprev__fade__whole"/>
          <p:cNvSpPr/>
          <p:nvPr/>
        </p:nvSpPr>
        <p:spPr>
          <a:xfrm>
            <a:off x="1005840" y="2029968"/>
            <a:ext cx="6217920" cy="365760"/>
          </a:xfrm>
          <a:prstGeom prst="rect">
            <a:avLst/>
          </a:prstGeom>
          <a:noFill/>
          <a:ln/>
        </p:spPr>
        <p:txBody>
          <a:bodyPr wrap="square" lIns="0" tIns="0" rIns="0" bIns="0" rtlCol="0" anchor="ctr"/>
          <a:lstStyle/>
          <a:p>
            <a:pPr marL="0" indent="0">
              <a:buNone/>
            </a:pPr>
            <a:r>
              <a:rPr lang="en-US" sz="1910" b="1" dirty="0">
                <a:solidFill>
                  <a:srgbClr val="20183F"/>
                </a:solidFill>
                <a:latin typeface="Segoe UI Semibold" pitchFamily="34" charset="0"/>
                <a:ea typeface="Segoe UI Semibold" pitchFamily="34" charset="-122"/>
                <a:cs typeface="Segoe UI Semibold" pitchFamily="34" charset="-120"/>
              </a:rPr>
              <a:t>Multimode — saut d'indice</a:t>
            </a:r>
            <a:endParaRPr lang="en-US" sz="1910" dirty="0"/>
          </a:p>
        </p:txBody>
      </p:sp>
      <p:sp>
        <p:nvSpPr>
          <p:cNvPr id="8" name="anim__5__withprev__fade__whole"/>
          <p:cNvSpPr/>
          <p:nvPr/>
        </p:nvSpPr>
        <p:spPr>
          <a:xfrm>
            <a:off x="1005840" y="2432304"/>
            <a:ext cx="6217920" cy="548640"/>
          </a:xfrm>
          <a:prstGeom prst="rect">
            <a:avLst/>
          </a:prstGeom>
          <a:noFill/>
          <a:ln/>
        </p:spPr>
        <p:txBody>
          <a:bodyPr wrap="square" lIns="0" tIns="0" rIns="0" bIns="0" rtlCol="0" anchor="ctr"/>
          <a:lstStyle/>
          <a:p>
            <a:pPr marL="0" indent="0">
              <a:lnSpc>
                <a:spcPct val="112000"/>
              </a:lnSpc>
              <a:buNone/>
            </a:pPr>
            <a:r>
              <a:rPr lang="en-US" sz="1450" dirty="0">
                <a:solidFill>
                  <a:srgbClr val="847FA6"/>
                </a:solidFill>
                <a:latin typeface="Segoe UI" pitchFamily="34" charset="0"/>
                <a:ea typeface="Segoe UI" pitchFamily="34" charset="-122"/>
                <a:cs typeface="Segoe UI" pitchFamily="34" charset="-120"/>
              </a:rPr>
              <a:t>Indice de cœur constant → forte dispersion modale. Débit/portée limités, réseaux courts.</a:t>
            </a:r>
            <a:endParaRPr lang="en-US" sz="1450" dirty="0"/>
          </a:p>
        </p:txBody>
      </p:sp>
      <p:sp>
        <p:nvSpPr>
          <p:cNvPr id="9" name="Shape 6"/>
          <p:cNvSpPr/>
          <p:nvPr/>
        </p:nvSpPr>
        <p:spPr>
          <a:xfrm>
            <a:off x="685800" y="3163824"/>
            <a:ext cx="10820095" cy="1225296"/>
          </a:xfrm>
          <a:prstGeom prst="roundRect">
            <a:avLst>
              <a:gd name="adj" fmla="val 11940"/>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0" name="Shape 7"/>
          <p:cNvSpPr/>
          <p:nvPr/>
        </p:nvSpPr>
        <p:spPr>
          <a:xfrm>
            <a:off x="685800" y="3310128"/>
            <a:ext cx="64008" cy="932688"/>
          </a:xfrm>
          <a:prstGeom prst="rect">
            <a:avLst/>
          </a:prstGeom>
          <a:solidFill>
            <a:srgbClr val="6D28D9"/>
          </a:solidFill>
          <a:ln/>
        </p:spPr>
        <p:txBody>
          <a:bodyPr/>
          <a:lstStyle/>
          <a:p>
            <a:endParaRPr lang="fr-FR"/>
          </a:p>
        </p:txBody>
      </p:sp>
      <p:pic>
        <p:nvPicPr>
          <p:cNvPr id="11" name="anim__6__afterprev__fade__whole" descr="C:\Users\Cedric S. DJIGUIMDE\Desktop\Projet\presentation_fibre\assets_shared\figures\fig_gradient.jpeg"/>
          <p:cNvPicPr>
            <a:picLocks noChangeAspect="1"/>
          </p:cNvPicPr>
          <p:nvPr/>
        </p:nvPicPr>
        <p:blipFill>
          <a:blip r:embed="rId5"/>
          <a:stretch>
            <a:fillRect/>
          </a:stretch>
        </p:blipFill>
        <p:spPr>
          <a:xfrm>
            <a:off x="7848295" y="3422481"/>
            <a:ext cx="3383280" cy="707983"/>
          </a:xfrm>
          <a:prstGeom prst="rect">
            <a:avLst/>
          </a:prstGeom>
        </p:spPr>
      </p:pic>
      <p:sp>
        <p:nvSpPr>
          <p:cNvPr id="12" name="anim__7__withprev__fade__whole"/>
          <p:cNvSpPr/>
          <p:nvPr/>
        </p:nvSpPr>
        <p:spPr>
          <a:xfrm>
            <a:off x="1005840" y="3364992"/>
            <a:ext cx="6217920" cy="365760"/>
          </a:xfrm>
          <a:prstGeom prst="rect">
            <a:avLst/>
          </a:prstGeom>
          <a:noFill/>
          <a:ln/>
        </p:spPr>
        <p:txBody>
          <a:bodyPr wrap="square" lIns="0" tIns="0" rIns="0" bIns="0" rtlCol="0" anchor="ctr"/>
          <a:lstStyle/>
          <a:p>
            <a:pPr marL="0" indent="0">
              <a:buNone/>
            </a:pPr>
            <a:r>
              <a:rPr lang="en-US" sz="1910" b="1" dirty="0">
                <a:solidFill>
                  <a:srgbClr val="20183F"/>
                </a:solidFill>
                <a:latin typeface="Segoe UI Semibold" pitchFamily="34" charset="0"/>
                <a:ea typeface="Segoe UI Semibold" pitchFamily="34" charset="-122"/>
                <a:cs typeface="Segoe UI Semibold" pitchFamily="34" charset="-120"/>
              </a:rPr>
              <a:t>Multimode — gradient d'indice</a:t>
            </a:r>
            <a:endParaRPr lang="en-US" sz="1910" dirty="0"/>
          </a:p>
        </p:txBody>
      </p:sp>
      <p:sp>
        <p:nvSpPr>
          <p:cNvPr id="13" name="anim__8__withprev__fade__whole"/>
          <p:cNvSpPr/>
          <p:nvPr/>
        </p:nvSpPr>
        <p:spPr>
          <a:xfrm>
            <a:off x="1005840" y="3767328"/>
            <a:ext cx="6217920" cy="548640"/>
          </a:xfrm>
          <a:prstGeom prst="rect">
            <a:avLst/>
          </a:prstGeom>
          <a:noFill/>
          <a:ln/>
        </p:spPr>
        <p:txBody>
          <a:bodyPr wrap="square" lIns="0" tIns="0" rIns="0" bIns="0" rtlCol="0" anchor="ctr"/>
          <a:lstStyle/>
          <a:p>
            <a:pPr marL="0" indent="0">
              <a:lnSpc>
                <a:spcPct val="112000"/>
              </a:lnSpc>
              <a:buNone/>
            </a:pPr>
            <a:r>
              <a:rPr lang="en-US" sz="1450" dirty="0">
                <a:solidFill>
                  <a:srgbClr val="847FA6"/>
                </a:solidFill>
                <a:latin typeface="Segoe UI" pitchFamily="34" charset="0"/>
                <a:ea typeface="Segoe UI" pitchFamily="34" charset="-122"/>
                <a:cs typeface="Segoe UI" pitchFamily="34" charset="-120"/>
              </a:rPr>
              <a:t>Indice parabolique → temps de propagation égalisés. BP 200–1500 MHz·km.</a:t>
            </a:r>
            <a:endParaRPr lang="en-US" sz="1450" dirty="0"/>
          </a:p>
        </p:txBody>
      </p:sp>
      <p:sp>
        <p:nvSpPr>
          <p:cNvPr id="14" name="Shape 10"/>
          <p:cNvSpPr/>
          <p:nvPr/>
        </p:nvSpPr>
        <p:spPr>
          <a:xfrm>
            <a:off x="685800" y="4498848"/>
            <a:ext cx="10820095" cy="1225296"/>
          </a:xfrm>
          <a:prstGeom prst="roundRect">
            <a:avLst>
              <a:gd name="adj" fmla="val 11940"/>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5" name="Shape 11"/>
          <p:cNvSpPr/>
          <p:nvPr/>
        </p:nvSpPr>
        <p:spPr>
          <a:xfrm>
            <a:off x="685800" y="4645152"/>
            <a:ext cx="64008" cy="932688"/>
          </a:xfrm>
          <a:prstGeom prst="rect">
            <a:avLst/>
          </a:prstGeom>
          <a:solidFill>
            <a:srgbClr val="DB2777"/>
          </a:solidFill>
          <a:ln/>
        </p:spPr>
        <p:txBody>
          <a:bodyPr/>
          <a:lstStyle/>
          <a:p>
            <a:endParaRPr lang="fr-FR"/>
          </a:p>
        </p:txBody>
      </p:sp>
      <p:pic>
        <p:nvPicPr>
          <p:cNvPr id="16" name="anim__9__afterprev__fade__whole" descr="C:\Users\Cedric S. DJIGUIMDE\Desktop\Projet\presentation_fibre\assets_shared\figures\fig_monomode.jpeg"/>
          <p:cNvPicPr>
            <a:picLocks noChangeAspect="1"/>
          </p:cNvPicPr>
          <p:nvPr/>
        </p:nvPicPr>
        <p:blipFill>
          <a:blip r:embed="rId6"/>
          <a:stretch>
            <a:fillRect/>
          </a:stretch>
        </p:blipFill>
        <p:spPr>
          <a:xfrm>
            <a:off x="7848295" y="4785699"/>
            <a:ext cx="3383280" cy="651595"/>
          </a:xfrm>
          <a:prstGeom prst="rect">
            <a:avLst/>
          </a:prstGeom>
        </p:spPr>
      </p:pic>
      <p:sp>
        <p:nvSpPr>
          <p:cNvPr id="17" name="anim__10__withprev__fade__whole"/>
          <p:cNvSpPr/>
          <p:nvPr/>
        </p:nvSpPr>
        <p:spPr>
          <a:xfrm>
            <a:off x="1005840" y="4700016"/>
            <a:ext cx="6217920" cy="365760"/>
          </a:xfrm>
          <a:prstGeom prst="rect">
            <a:avLst/>
          </a:prstGeom>
          <a:noFill/>
          <a:ln/>
        </p:spPr>
        <p:txBody>
          <a:bodyPr wrap="square" lIns="0" tIns="0" rIns="0" bIns="0" rtlCol="0" anchor="ctr"/>
          <a:lstStyle/>
          <a:p>
            <a:pPr marL="0" indent="0">
              <a:buNone/>
            </a:pPr>
            <a:r>
              <a:rPr lang="en-US" sz="1910" b="1" dirty="0">
                <a:solidFill>
                  <a:srgbClr val="20183F"/>
                </a:solidFill>
                <a:latin typeface="Segoe UI Semibold" pitchFamily="34" charset="0"/>
                <a:ea typeface="Segoe UI Semibold" pitchFamily="34" charset="-122"/>
                <a:cs typeface="Segoe UI Semibold" pitchFamily="34" charset="-120"/>
              </a:rPr>
              <a:t>Monomode</a:t>
            </a:r>
            <a:endParaRPr lang="en-US" sz="1910" dirty="0"/>
          </a:p>
        </p:txBody>
      </p:sp>
      <p:sp>
        <p:nvSpPr>
          <p:cNvPr id="18" name="anim__11__withprev__fade__whole"/>
          <p:cNvSpPr/>
          <p:nvPr/>
        </p:nvSpPr>
        <p:spPr>
          <a:xfrm>
            <a:off x="1005840" y="5102352"/>
            <a:ext cx="6217920" cy="548640"/>
          </a:xfrm>
          <a:prstGeom prst="rect">
            <a:avLst/>
          </a:prstGeom>
          <a:noFill/>
          <a:ln/>
        </p:spPr>
        <p:txBody>
          <a:bodyPr wrap="square" lIns="0" tIns="0" rIns="0" bIns="0" rtlCol="0" anchor="ctr"/>
          <a:lstStyle/>
          <a:p>
            <a:pPr marL="0" indent="0">
              <a:lnSpc>
                <a:spcPct val="112000"/>
              </a:lnSpc>
              <a:buNone/>
            </a:pPr>
            <a:r>
              <a:rPr lang="en-US" sz="1450" dirty="0">
                <a:solidFill>
                  <a:srgbClr val="847FA6"/>
                </a:solidFill>
                <a:latin typeface="Segoe UI" pitchFamily="34" charset="0"/>
                <a:ea typeface="Segoe UI" pitchFamily="34" charset="-122"/>
                <a:cs typeface="Segoe UI" pitchFamily="34" charset="-120"/>
              </a:rPr>
              <a:t>Un seul mode guidé (V &lt; 2,4). Dispersion quasi nulle, BP &gt; 10 GHz·km, longue distance.</a:t>
            </a:r>
            <a:endParaRPr lang="en-US" sz="1450" dirty="0"/>
          </a:p>
        </p:txBody>
      </p:sp>
      <p:sp>
        <p:nvSpPr>
          <p:cNvPr id="19" name="Shape 14"/>
          <p:cNvSpPr/>
          <p:nvPr/>
        </p:nvSpPr>
        <p:spPr>
          <a:xfrm>
            <a:off x="685800" y="5943600"/>
            <a:ext cx="10820095" cy="914"/>
          </a:xfrm>
          <a:prstGeom prst="roundRect">
            <a:avLst/>
          </a:prstGeom>
          <a:ln/>
        </p:spPr>
        <p:txBody>
          <a:bodyPr/>
          <a:lstStyle/>
          <a:p>
            <a:endParaRPr lang="fr-FR"/>
          </a:p>
        </p:txBody>
      </p:sp>
      <p:sp>
        <p:nvSpPr>
          <p:cNvPr id="20" name="Text 1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1" name="Text 1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8</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grpId="3"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par>
                          <p:cTn id="19" presetID="10" presetClass="entr" presetSubtype="0" fill="hold" grpId="4"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50"/>
                                  <p:tgtEl>
                                    <p:spTgt spid="8"/>
                                  </p:tgtEl>
                                </p:cBhvr>
                              </p:animEffect>
                            </p:childTnLst>
                          </p:cTn>
                        </p:par>
                      </p:childTnLst>
                    </p:cTn>
                  </p:par>
                  <p:par>
                    <p:cTn id="22" fill="hold">
                      <p:stCondLst>
                        <p:cond delay="7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350"/>
                                  <p:tgtEl>
                                    <p:spTgt spid="11"/>
                                  </p:tgtEl>
                                </p:cBhvr>
                              </p:animEffect>
                            </p:childTnLst>
                          </p:cTn>
                        </p:par>
                        <p:par>
                          <p:cTn id="26" presetID="10" presetClass="entr" presetSubtype="0" fill="hold" grpId="6"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7"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childTnLst>
                    </p:cTn>
                  </p:par>
                  <p:par>
                    <p:cTn id="32" fill="hold">
                      <p:stCondLst>
                        <p:cond delay="70"/>
                      </p:stCondLst>
                      <p:childTnLst>
                        <p:par>
                          <p:cTn id="33" presetID="10" presetClass="entr" presetSubtype="0"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50"/>
                                  <p:tgtEl>
                                    <p:spTgt spid="16"/>
                                  </p:tgtEl>
                                </p:cBhvr>
                              </p:animEffect>
                            </p:childTnLst>
                          </p:cTn>
                        </p:par>
                        <p:par>
                          <p:cTn id="36" presetID="10" presetClass="entr" presetSubtype="0" fill="hold" grpId="9"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50"/>
                                  <p:tgtEl>
                                    <p:spTgt spid="17"/>
                                  </p:tgtEl>
                                </p:cBhvr>
                              </p:animEffect>
                            </p:childTnLst>
                          </p:cTn>
                        </p:par>
                        <p:par>
                          <p:cTn id="39" presetID="10" presetClass="entr" presetSubtype="0" fill="hold" grpId="1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50"/>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7" grpId="3" animBg="1"/>
      <p:bldP spid="8" grpId="4" animBg="1"/>
      <p:bldP spid="12" grpId="6" animBg="1"/>
      <p:bldP spid="13" grpId="7" animBg="1"/>
      <p:bldP spid="17" grpId="9" animBg="1"/>
      <p:bldP spid="18" grpId="1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 — FONDEMENTS THÉORIQUES</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Les phénomènes limitants</a:t>
            </a:r>
            <a:endParaRPr lang="en-US" sz="3100" dirty="0"/>
          </a:p>
        </p:txBody>
      </p:sp>
      <p:sp>
        <p:nvSpPr>
          <p:cNvPr id="4" name="Shape 2"/>
          <p:cNvSpPr/>
          <p:nvPr/>
        </p:nvSpPr>
        <p:spPr>
          <a:xfrm>
            <a:off x="685800" y="1874520"/>
            <a:ext cx="5440680" cy="1783080"/>
          </a:xfrm>
          <a:prstGeom prst="roundRect">
            <a:avLst>
              <a:gd name="adj" fmla="val 82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2020824"/>
            <a:ext cx="64008" cy="1490472"/>
          </a:xfrm>
          <a:prstGeom prst="rect">
            <a:avLst/>
          </a:prstGeom>
          <a:solidFill>
            <a:srgbClr val="6D28D9"/>
          </a:solidFill>
          <a:ln/>
        </p:spPr>
        <p:txBody>
          <a:bodyPr/>
          <a:lstStyle/>
          <a:p>
            <a:endParaRPr lang="fr-FR"/>
          </a:p>
        </p:txBody>
      </p:sp>
      <p:sp>
        <p:nvSpPr>
          <p:cNvPr id="6" name="Shape 4"/>
          <p:cNvSpPr/>
          <p:nvPr/>
        </p:nvSpPr>
        <p:spPr>
          <a:xfrm>
            <a:off x="941832" y="2130552"/>
            <a:ext cx="603504" cy="603504"/>
          </a:xfrm>
          <a:prstGeom prst="ellipse">
            <a:avLst/>
          </a:prstGeom>
          <a:solidFill>
            <a:srgbClr val="6D28D9"/>
          </a:solidFill>
          <a:ln/>
        </p:spPr>
        <p:txBody>
          <a:bodyPr/>
          <a:lstStyle/>
          <a:p>
            <a:endParaRPr lang="fr-FR"/>
          </a:p>
        </p:txBody>
      </p:sp>
      <p:pic>
        <p:nvPicPr>
          <p:cNvPr id="7" name="anim__3__afterprev__fade__whole" descr="C:\Users\Cedric S. DJIGUIMDE\Desktop\Projet\presentation_fibre\assets_themes\spectra\icons\bolt_w.png"/>
          <p:cNvPicPr>
            <a:picLocks noChangeAspect="1"/>
          </p:cNvPicPr>
          <p:nvPr/>
        </p:nvPicPr>
        <p:blipFill>
          <a:blip r:embed="rId4"/>
          <a:stretch>
            <a:fillRect/>
          </a:stretch>
        </p:blipFill>
        <p:spPr>
          <a:xfrm>
            <a:off x="1104778" y="2293498"/>
            <a:ext cx="277612" cy="277612"/>
          </a:xfrm>
          <a:prstGeom prst="rect">
            <a:avLst/>
          </a:prstGeom>
        </p:spPr>
      </p:pic>
      <p:sp>
        <p:nvSpPr>
          <p:cNvPr id="8" name="anim__4__withprev__fade__whole"/>
          <p:cNvSpPr/>
          <p:nvPr/>
        </p:nvSpPr>
        <p:spPr>
          <a:xfrm>
            <a:off x="1691640" y="2112264"/>
            <a:ext cx="425196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Atténuation</a:t>
            </a:r>
            <a:endParaRPr lang="en-US" sz="1800" dirty="0"/>
          </a:p>
        </p:txBody>
      </p:sp>
      <p:sp>
        <p:nvSpPr>
          <p:cNvPr id="9" name="anim__5__withprev__fade__whole"/>
          <p:cNvSpPr/>
          <p:nvPr/>
        </p:nvSpPr>
        <p:spPr>
          <a:xfrm>
            <a:off x="1691640" y="2441448"/>
            <a:ext cx="4251960" cy="310896"/>
          </a:xfrm>
          <a:prstGeom prst="rect">
            <a:avLst/>
          </a:prstGeom>
          <a:noFill/>
          <a:ln/>
        </p:spPr>
        <p:txBody>
          <a:bodyPr wrap="square" lIns="0" tIns="0" rIns="0" bIns="0" rtlCol="0" anchor="ctr"/>
          <a:lstStyle/>
          <a:p>
            <a:pPr marL="0" indent="0">
              <a:buNone/>
            </a:pPr>
            <a:r>
              <a:rPr lang="en-US" sz="1450" b="1" dirty="0">
                <a:solidFill>
                  <a:srgbClr val="6D28D9"/>
                </a:solidFill>
                <a:latin typeface="Consolas" pitchFamily="34" charset="0"/>
                <a:ea typeface="Consolas" pitchFamily="34" charset="-122"/>
                <a:cs typeface="Consolas" pitchFamily="34" charset="-120"/>
              </a:rPr>
              <a:t>P(L) = P₀ · 10^(−α·L/10)</a:t>
            </a:r>
            <a:endParaRPr lang="en-US" sz="1450" dirty="0"/>
          </a:p>
        </p:txBody>
      </p:sp>
      <p:sp>
        <p:nvSpPr>
          <p:cNvPr id="10" name="anim__6__withprev__fade__whole"/>
          <p:cNvSpPr/>
          <p:nvPr/>
        </p:nvSpPr>
        <p:spPr>
          <a:xfrm>
            <a:off x="941832" y="2843784"/>
            <a:ext cx="4928616" cy="713232"/>
          </a:xfrm>
          <a:prstGeom prst="rect">
            <a:avLst/>
          </a:prstGeom>
          <a:noFill/>
          <a:ln/>
        </p:spPr>
        <p:txBody>
          <a:bodyPr wrap="square" lIns="0" tIns="0" rIns="0" bIns="0" rtlCol="0" anchor="ctr"/>
          <a:lstStyle/>
          <a:p>
            <a:pPr marL="0" indent="0">
              <a:lnSpc>
                <a:spcPct val="114000"/>
              </a:lnSpc>
              <a:buNone/>
            </a:pPr>
            <a:r>
              <a:rPr lang="en-US" sz="1390" dirty="0">
                <a:solidFill>
                  <a:srgbClr val="847FA6"/>
                </a:solidFill>
                <a:latin typeface="Segoe UI" pitchFamily="34" charset="0"/>
                <a:ea typeface="Segoe UI" pitchFamily="34" charset="-122"/>
                <a:cs typeface="Segoe UI" pitchFamily="34" charset="-120"/>
              </a:rPr>
              <a:t>Absorption + diffusion Rayleigh. Fenêtres : 850 (2–3), 1310 (0,35), 1550 nm (0,2 dB/km).</a:t>
            </a:r>
            <a:endParaRPr lang="en-US" sz="1390" dirty="0"/>
          </a:p>
        </p:txBody>
      </p:sp>
      <p:sp>
        <p:nvSpPr>
          <p:cNvPr id="11" name="Shape 8"/>
          <p:cNvSpPr/>
          <p:nvPr/>
        </p:nvSpPr>
        <p:spPr>
          <a:xfrm>
            <a:off x="6291072" y="1874520"/>
            <a:ext cx="5440680" cy="1783080"/>
          </a:xfrm>
          <a:prstGeom prst="roundRect">
            <a:avLst>
              <a:gd name="adj" fmla="val 82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2" name="Shape 9"/>
          <p:cNvSpPr/>
          <p:nvPr/>
        </p:nvSpPr>
        <p:spPr>
          <a:xfrm>
            <a:off x="6291072" y="2020824"/>
            <a:ext cx="64008" cy="1490472"/>
          </a:xfrm>
          <a:prstGeom prst="rect">
            <a:avLst/>
          </a:prstGeom>
          <a:solidFill>
            <a:srgbClr val="6D28D9"/>
          </a:solidFill>
          <a:ln/>
        </p:spPr>
        <p:txBody>
          <a:bodyPr/>
          <a:lstStyle/>
          <a:p>
            <a:endParaRPr lang="fr-FR"/>
          </a:p>
        </p:txBody>
      </p:sp>
      <p:sp>
        <p:nvSpPr>
          <p:cNvPr id="13" name="Shape 10"/>
          <p:cNvSpPr/>
          <p:nvPr/>
        </p:nvSpPr>
        <p:spPr>
          <a:xfrm>
            <a:off x="6547104" y="2130552"/>
            <a:ext cx="603504" cy="603504"/>
          </a:xfrm>
          <a:prstGeom prst="ellipse">
            <a:avLst/>
          </a:prstGeom>
          <a:solidFill>
            <a:srgbClr val="6D28D9"/>
          </a:solidFill>
          <a:ln/>
        </p:spPr>
        <p:txBody>
          <a:bodyPr/>
          <a:lstStyle/>
          <a:p>
            <a:endParaRPr lang="fr-FR"/>
          </a:p>
        </p:txBody>
      </p:sp>
      <p:pic>
        <p:nvPicPr>
          <p:cNvPr id="14" name="anim__7__afterprev__fade__whole" descr="C:\Users\Cedric S. DJIGUIMDE\Desktop\Projet\presentation_fibre\assets_themes\spectra\icons\wave_w.png"/>
          <p:cNvPicPr>
            <a:picLocks noChangeAspect="1"/>
          </p:cNvPicPr>
          <p:nvPr/>
        </p:nvPicPr>
        <p:blipFill>
          <a:blip r:embed="rId5"/>
          <a:stretch>
            <a:fillRect/>
          </a:stretch>
        </p:blipFill>
        <p:spPr>
          <a:xfrm>
            <a:off x="6710050" y="2293498"/>
            <a:ext cx="277612" cy="277612"/>
          </a:xfrm>
          <a:prstGeom prst="rect">
            <a:avLst/>
          </a:prstGeom>
        </p:spPr>
      </p:pic>
      <p:sp>
        <p:nvSpPr>
          <p:cNvPr id="15" name="anim__8__withprev__fade__whole"/>
          <p:cNvSpPr/>
          <p:nvPr/>
        </p:nvSpPr>
        <p:spPr>
          <a:xfrm>
            <a:off x="7296912" y="2112264"/>
            <a:ext cx="425196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Dispersion chromatique</a:t>
            </a:r>
            <a:endParaRPr lang="en-US" sz="1800" dirty="0"/>
          </a:p>
        </p:txBody>
      </p:sp>
      <p:sp>
        <p:nvSpPr>
          <p:cNvPr id="16" name="anim__9__withprev__fade__whole"/>
          <p:cNvSpPr/>
          <p:nvPr/>
        </p:nvSpPr>
        <p:spPr>
          <a:xfrm>
            <a:off x="7296912" y="2441448"/>
            <a:ext cx="4251960" cy="310896"/>
          </a:xfrm>
          <a:prstGeom prst="rect">
            <a:avLst/>
          </a:prstGeom>
          <a:noFill/>
          <a:ln/>
        </p:spPr>
        <p:txBody>
          <a:bodyPr wrap="square" lIns="0" tIns="0" rIns="0" bIns="0" rtlCol="0" anchor="ctr"/>
          <a:lstStyle/>
          <a:p>
            <a:pPr marL="0" indent="0">
              <a:buNone/>
            </a:pPr>
            <a:r>
              <a:rPr lang="en-US" sz="1450" b="1" dirty="0">
                <a:solidFill>
                  <a:srgbClr val="6D28D9"/>
                </a:solidFill>
                <a:latin typeface="Consolas" pitchFamily="34" charset="0"/>
                <a:ea typeface="Consolas" pitchFamily="34" charset="-122"/>
                <a:cs typeface="Consolas" pitchFamily="34" charset="-120"/>
              </a:rPr>
              <a:t>ΔT = D · L · Δλ</a:t>
            </a:r>
            <a:endParaRPr lang="en-US" sz="1450" dirty="0"/>
          </a:p>
        </p:txBody>
      </p:sp>
      <p:sp>
        <p:nvSpPr>
          <p:cNvPr id="17" name="anim__10__withprev__fade__whole"/>
          <p:cNvSpPr/>
          <p:nvPr/>
        </p:nvSpPr>
        <p:spPr>
          <a:xfrm>
            <a:off x="6547104" y="2843784"/>
            <a:ext cx="4928616" cy="713232"/>
          </a:xfrm>
          <a:prstGeom prst="rect">
            <a:avLst/>
          </a:prstGeom>
          <a:noFill/>
          <a:ln/>
        </p:spPr>
        <p:txBody>
          <a:bodyPr wrap="square" lIns="0" tIns="0" rIns="0" bIns="0" rtlCol="0" anchor="ctr"/>
          <a:lstStyle/>
          <a:p>
            <a:pPr marL="0" indent="0">
              <a:lnSpc>
                <a:spcPct val="114000"/>
              </a:lnSpc>
              <a:buNone/>
            </a:pPr>
            <a:r>
              <a:rPr lang="en-US" sz="1390" dirty="0">
                <a:solidFill>
                  <a:srgbClr val="847FA6"/>
                </a:solidFill>
                <a:latin typeface="Segoe UI" pitchFamily="34" charset="0"/>
                <a:ea typeface="Segoe UI" pitchFamily="34" charset="-122"/>
                <a:cs typeface="Segoe UI" pitchFamily="34" charset="-120"/>
              </a:rPr>
              <a:t>Vitesse de groupe variable avec λ → élargissement. G.652 : D ≈ 17 ps/(nm·km).</a:t>
            </a:r>
            <a:endParaRPr lang="en-US" sz="1390" dirty="0"/>
          </a:p>
        </p:txBody>
      </p:sp>
      <p:sp>
        <p:nvSpPr>
          <p:cNvPr id="18" name="Shape 14"/>
          <p:cNvSpPr/>
          <p:nvPr/>
        </p:nvSpPr>
        <p:spPr>
          <a:xfrm>
            <a:off x="685800" y="3822192"/>
            <a:ext cx="5440680" cy="1783080"/>
          </a:xfrm>
          <a:prstGeom prst="roundRect">
            <a:avLst>
              <a:gd name="adj" fmla="val 82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9" name="Shape 15"/>
          <p:cNvSpPr/>
          <p:nvPr/>
        </p:nvSpPr>
        <p:spPr>
          <a:xfrm>
            <a:off x="685800" y="3968496"/>
            <a:ext cx="64008" cy="1490472"/>
          </a:xfrm>
          <a:prstGeom prst="rect">
            <a:avLst/>
          </a:prstGeom>
          <a:solidFill>
            <a:srgbClr val="6D28D9"/>
          </a:solidFill>
          <a:ln/>
        </p:spPr>
        <p:txBody>
          <a:bodyPr/>
          <a:lstStyle/>
          <a:p>
            <a:endParaRPr lang="fr-FR"/>
          </a:p>
        </p:txBody>
      </p:sp>
      <p:sp>
        <p:nvSpPr>
          <p:cNvPr id="20" name="Shape 16"/>
          <p:cNvSpPr/>
          <p:nvPr/>
        </p:nvSpPr>
        <p:spPr>
          <a:xfrm>
            <a:off x="941832" y="4078224"/>
            <a:ext cx="603504" cy="603504"/>
          </a:xfrm>
          <a:prstGeom prst="ellipse">
            <a:avLst/>
          </a:prstGeom>
          <a:solidFill>
            <a:srgbClr val="6D28D9"/>
          </a:solidFill>
          <a:ln/>
        </p:spPr>
        <p:txBody>
          <a:bodyPr/>
          <a:lstStyle/>
          <a:p>
            <a:endParaRPr lang="fr-FR"/>
          </a:p>
        </p:txBody>
      </p:sp>
      <p:pic>
        <p:nvPicPr>
          <p:cNvPr id="21" name="anim__11__afterprev__fade__whole" descr="C:\Users\Cedric S. DJIGUIMDE\Desktop\Projet\presentation_fibre\assets_themes\spectra\icons\random_w.png"/>
          <p:cNvPicPr>
            <a:picLocks noChangeAspect="1"/>
          </p:cNvPicPr>
          <p:nvPr/>
        </p:nvPicPr>
        <p:blipFill>
          <a:blip r:embed="rId6"/>
          <a:stretch>
            <a:fillRect/>
          </a:stretch>
        </p:blipFill>
        <p:spPr>
          <a:xfrm>
            <a:off x="1104778" y="4241170"/>
            <a:ext cx="277612" cy="277612"/>
          </a:xfrm>
          <a:prstGeom prst="rect">
            <a:avLst/>
          </a:prstGeom>
        </p:spPr>
      </p:pic>
      <p:sp>
        <p:nvSpPr>
          <p:cNvPr id="22" name="anim__12__withprev__fade__whole"/>
          <p:cNvSpPr/>
          <p:nvPr/>
        </p:nvSpPr>
        <p:spPr>
          <a:xfrm>
            <a:off x="1691640" y="4059936"/>
            <a:ext cx="425196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Dispersion de polarisation</a:t>
            </a:r>
            <a:endParaRPr lang="en-US" sz="1800" dirty="0"/>
          </a:p>
        </p:txBody>
      </p:sp>
      <p:sp>
        <p:nvSpPr>
          <p:cNvPr id="23" name="anim__13__withprev__fade__whole"/>
          <p:cNvSpPr/>
          <p:nvPr/>
        </p:nvSpPr>
        <p:spPr>
          <a:xfrm>
            <a:off x="1691640" y="4389120"/>
            <a:ext cx="4251960" cy="310896"/>
          </a:xfrm>
          <a:prstGeom prst="rect">
            <a:avLst/>
          </a:prstGeom>
          <a:noFill/>
          <a:ln/>
        </p:spPr>
        <p:txBody>
          <a:bodyPr wrap="square" lIns="0" tIns="0" rIns="0" bIns="0" rtlCol="0" anchor="ctr"/>
          <a:lstStyle/>
          <a:p>
            <a:pPr marL="0" indent="0">
              <a:buNone/>
            </a:pPr>
            <a:r>
              <a:rPr lang="en-US" sz="1450" b="1" dirty="0">
                <a:solidFill>
                  <a:srgbClr val="6D28D9"/>
                </a:solidFill>
                <a:latin typeface="Consolas" pitchFamily="34" charset="0"/>
                <a:ea typeface="Consolas" pitchFamily="34" charset="-122"/>
                <a:cs typeface="Consolas" pitchFamily="34" charset="-120"/>
              </a:rPr>
              <a:t>ΔT = PMD · √L</a:t>
            </a:r>
            <a:endParaRPr lang="en-US" sz="1450" dirty="0"/>
          </a:p>
        </p:txBody>
      </p:sp>
      <p:sp>
        <p:nvSpPr>
          <p:cNvPr id="24" name="anim__14__withprev__fade__whole"/>
          <p:cNvSpPr/>
          <p:nvPr/>
        </p:nvSpPr>
        <p:spPr>
          <a:xfrm>
            <a:off x="941832" y="4791456"/>
            <a:ext cx="4928616" cy="713232"/>
          </a:xfrm>
          <a:prstGeom prst="rect">
            <a:avLst/>
          </a:prstGeom>
          <a:noFill/>
          <a:ln/>
        </p:spPr>
        <p:txBody>
          <a:bodyPr wrap="square" lIns="0" tIns="0" rIns="0" bIns="0" rtlCol="0" anchor="ctr"/>
          <a:lstStyle/>
          <a:p>
            <a:pPr marL="0" indent="0">
              <a:lnSpc>
                <a:spcPct val="114000"/>
              </a:lnSpc>
              <a:buNone/>
            </a:pPr>
            <a:r>
              <a:rPr lang="en-US" sz="1390" dirty="0">
                <a:solidFill>
                  <a:srgbClr val="847FA6"/>
                </a:solidFill>
                <a:latin typeface="Segoe UI" pitchFamily="34" charset="0"/>
                <a:ea typeface="Segoe UI" pitchFamily="34" charset="-122"/>
                <a:cs typeface="Segoe UI" pitchFamily="34" charset="-120"/>
              </a:rPr>
              <a:t>Asymétrie du cœur → retard (DGD). G.652.D : &lt; 0,1 ps/√km. Critique &gt; 10 Gbit/s.</a:t>
            </a:r>
            <a:endParaRPr lang="en-US" sz="1390" dirty="0"/>
          </a:p>
        </p:txBody>
      </p:sp>
      <p:sp>
        <p:nvSpPr>
          <p:cNvPr id="25" name="Shape 20"/>
          <p:cNvSpPr/>
          <p:nvPr/>
        </p:nvSpPr>
        <p:spPr>
          <a:xfrm>
            <a:off x="6291072" y="3822192"/>
            <a:ext cx="5440680" cy="1783080"/>
          </a:xfrm>
          <a:prstGeom prst="roundRect">
            <a:avLst>
              <a:gd name="adj" fmla="val 820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6" name="Shape 21"/>
          <p:cNvSpPr/>
          <p:nvPr/>
        </p:nvSpPr>
        <p:spPr>
          <a:xfrm>
            <a:off x="6291072" y="3968496"/>
            <a:ext cx="64008" cy="1490472"/>
          </a:xfrm>
          <a:prstGeom prst="rect">
            <a:avLst/>
          </a:prstGeom>
          <a:solidFill>
            <a:srgbClr val="6D28D9"/>
          </a:solidFill>
          <a:ln/>
        </p:spPr>
        <p:txBody>
          <a:bodyPr/>
          <a:lstStyle/>
          <a:p>
            <a:endParaRPr lang="fr-FR"/>
          </a:p>
        </p:txBody>
      </p:sp>
      <p:sp>
        <p:nvSpPr>
          <p:cNvPr id="27" name="Shape 22"/>
          <p:cNvSpPr/>
          <p:nvPr/>
        </p:nvSpPr>
        <p:spPr>
          <a:xfrm>
            <a:off x="6547104" y="4078224"/>
            <a:ext cx="603504" cy="603504"/>
          </a:xfrm>
          <a:prstGeom prst="ellipse">
            <a:avLst/>
          </a:prstGeom>
          <a:solidFill>
            <a:srgbClr val="6D28D9"/>
          </a:solidFill>
          <a:ln/>
        </p:spPr>
        <p:txBody>
          <a:bodyPr/>
          <a:lstStyle/>
          <a:p>
            <a:endParaRPr lang="fr-FR"/>
          </a:p>
        </p:txBody>
      </p:sp>
      <p:pic>
        <p:nvPicPr>
          <p:cNvPr id="28" name="anim__15__afterprev__fade__whole" descr="C:\Users\Cedric S. DJIGUIMDE\Desktop\Projet\presentation_fibre\assets_themes\spectra\icons\plug_w.png"/>
          <p:cNvPicPr>
            <a:picLocks noChangeAspect="1"/>
          </p:cNvPicPr>
          <p:nvPr/>
        </p:nvPicPr>
        <p:blipFill>
          <a:blip r:embed="rId7"/>
          <a:stretch>
            <a:fillRect/>
          </a:stretch>
        </p:blipFill>
        <p:spPr>
          <a:xfrm>
            <a:off x="6710050" y="4241170"/>
            <a:ext cx="277612" cy="277612"/>
          </a:xfrm>
          <a:prstGeom prst="rect">
            <a:avLst/>
          </a:prstGeom>
        </p:spPr>
      </p:pic>
      <p:sp>
        <p:nvSpPr>
          <p:cNvPr id="29" name="anim__16__withprev__fade__whole"/>
          <p:cNvSpPr/>
          <p:nvPr/>
        </p:nvSpPr>
        <p:spPr>
          <a:xfrm>
            <a:off x="7296912" y="4059936"/>
            <a:ext cx="4251960" cy="347472"/>
          </a:xfrm>
          <a:prstGeom prst="rect">
            <a:avLst/>
          </a:prstGeom>
          <a:noFill/>
          <a:ln/>
        </p:spPr>
        <p:txBody>
          <a:bodyPr wrap="square" lIns="0" tIns="0" rIns="0" bIns="0" rtlCol="0" anchor="ctr"/>
          <a:lstStyle/>
          <a:p>
            <a:pPr marL="0" indent="0">
              <a:buNone/>
            </a:pPr>
            <a:r>
              <a:rPr lang="en-US" sz="1800" b="1" dirty="0">
                <a:solidFill>
                  <a:srgbClr val="20183F"/>
                </a:solidFill>
                <a:latin typeface="Segoe UI Semibold" pitchFamily="34" charset="0"/>
                <a:ea typeface="Segoe UI Semibold" pitchFamily="34" charset="-122"/>
                <a:cs typeface="Segoe UI Semibold" pitchFamily="34" charset="-120"/>
              </a:rPr>
              <a:t>Éléments passifs</a:t>
            </a:r>
            <a:endParaRPr lang="en-US" sz="1800" dirty="0"/>
          </a:p>
        </p:txBody>
      </p:sp>
      <p:sp>
        <p:nvSpPr>
          <p:cNvPr id="30" name="anim__17__withprev__fade__whole"/>
          <p:cNvSpPr/>
          <p:nvPr/>
        </p:nvSpPr>
        <p:spPr>
          <a:xfrm>
            <a:off x="7296912" y="4389120"/>
            <a:ext cx="4251960" cy="310896"/>
          </a:xfrm>
          <a:prstGeom prst="rect">
            <a:avLst/>
          </a:prstGeom>
          <a:noFill/>
          <a:ln/>
        </p:spPr>
        <p:txBody>
          <a:bodyPr wrap="square" lIns="0" tIns="0" rIns="0" bIns="0" rtlCol="0" anchor="ctr"/>
          <a:lstStyle/>
          <a:p>
            <a:pPr marL="0" indent="0">
              <a:buNone/>
            </a:pPr>
            <a:r>
              <a:rPr lang="en-US" sz="1450" b="1" dirty="0">
                <a:solidFill>
                  <a:srgbClr val="6D28D9"/>
                </a:solidFill>
                <a:latin typeface="Consolas" pitchFamily="34" charset="0"/>
                <a:ea typeface="Consolas" pitchFamily="34" charset="-122"/>
                <a:cs typeface="Consolas" pitchFamily="34" charset="-120"/>
              </a:rPr>
              <a:t>Connecteurs &amp; épissures</a:t>
            </a:r>
            <a:endParaRPr lang="en-US" sz="1450" dirty="0"/>
          </a:p>
        </p:txBody>
      </p:sp>
      <p:sp>
        <p:nvSpPr>
          <p:cNvPr id="31" name="anim__18__withprev__fade__whole"/>
          <p:cNvSpPr/>
          <p:nvPr/>
        </p:nvSpPr>
        <p:spPr>
          <a:xfrm>
            <a:off x="6547104" y="4791456"/>
            <a:ext cx="4928616" cy="713232"/>
          </a:xfrm>
          <a:prstGeom prst="rect">
            <a:avLst/>
          </a:prstGeom>
          <a:noFill/>
          <a:ln/>
        </p:spPr>
        <p:txBody>
          <a:bodyPr wrap="square" lIns="0" tIns="0" rIns="0" bIns="0" rtlCol="0" anchor="ctr"/>
          <a:lstStyle/>
          <a:p>
            <a:pPr marL="0" indent="0">
              <a:lnSpc>
                <a:spcPct val="114000"/>
              </a:lnSpc>
              <a:buNone/>
            </a:pPr>
            <a:r>
              <a:rPr lang="en-US" sz="1390" dirty="0">
                <a:solidFill>
                  <a:srgbClr val="847FA6"/>
                </a:solidFill>
                <a:latin typeface="Segoe UI" pitchFamily="34" charset="0"/>
                <a:ea typeface="Segoe UI" pitchFamily="34" charset="-122"/>
                <a:cs typeface="Segoe UI" pitchFamily="34" charset="-120"/>
              </a:rPr>
              <a:t>Connecteurs : 0,3–0,5 dB. Épissures par fusion : &lt; 0,1 dB. À comptabiliser.</a:t>
            </a:r>
            <a:endParaRPr lang="en-US" sz="1390" dirty="0"/>
          </a:p>
        </p:txBody>
      </p:sp>
      <p:sp>
        <p:nvSpPr>
          <p:cNvPr id="32" name="Text 26"/>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3" name="Text 27"/>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9</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50"/>
                                  <p:tgtEl>
                                    <p:spTgt spid="7"/>
                                  </p:tgtEl>
                                </p:cBhvr>
                              </p:animEffect>
                            </p:childTnLst>
                          </p:cTn>
                        </p:par>
                        <p:par>
                          <p:cTn id="16" presetID="10" presetClass="entr" presetSubtype="0" fill="hold" grpId="3"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50"/>
                                  <p:tgtEl>
                                    <p:spTgt spid="8"/>
                                  </p:tgtEl>
                                </p:cBhvr>
                              </p:animEffect>
                            </p:childTnLst>
                          </p:cTn>
                        </p:par>
                        <p:par>
                          <p:cTn id="19" presetID="10" presetClass="entr" presetSubtype="0" fill="hold" grpId="4"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50"/>
                                  <p:tgtEl>
                                    <p:spTgt spid="9"/>
                                  </p:tgtEl>
                                </p:cBhvr>
                              </p:animEffect>
                            </p:childTnLst>
                          </p:cTn>
                        </p:par>
                        <p:par>
                          <p:cTn id="22" presetID="10" presetClass="entr" presetSubtype="0" fill="hold" grpId="5"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childTnLst>
                          </p:cTn>
                        </p:par>
                      </p:childTnLst>
                    </p:cTn>
                  </p:par>
                  <p:par>
                    <p:cTn id="25" fill="hold">
                      <p:stCondLst>
                        <p:cond delay="70"/>
                      </p:stCondLst>
                      <p:childTnLst>
                        <p:par>
                          <p:cTn id="26" presetID="10" presetClass="entr" presetSubtype="0"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50"/>
                                  <p:tgtEl>
                                    <p:spTgt spid="14"/>
                                  </p:tgtEl>
                                </p:cBhvr>
                              </p:animEffect>
                            </p:childTnLst>
                          </p:cTn>
                        </p:par>
                        <p:par>
                          <p:cTn id="29" presetID="10" presetClass="entr" presetSubtype="0" fill="hold" grpId="7"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50"/>
                                  <p:tgtEl>
                                    <p:spTgt spid="15"/>
                                  </p:tgtEl>
                                </p:cBhvr>
                              </p:animEffect>
                            </p:childTnLst>
                          </p:cTn>
                        </p:par>
                        <p:par>
                          <p:cTn id="32" presetID="10" presetClass="entr" presetSubtype="0" fill="hold" grpId="8"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50"/>
                                  <p:tgtEl>
                                    <p:spTgt spid="16"/>
                                  </p:tgtEl>
                                </p:cBhvr>
                              </p:animEffect>
                            </p:childTnLst>
                          </p:cTn>
                        </p:par>
                        <p:par>
                          <p:cTn id="35" presetID="10" presetClass="entr" presetSubtype="0" fill="hold" grpId="9"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350"/>
                                  <p:tgtEl>
                                    <p:spTgt spid="17"/>
                                  </p:tgtEl>
                                </p:cBhvr>
                              </p:animEffect>
                            </p:childTnLst>
                          </p:cTn>
                        </p:par>
                      </p:childTnLst>
                    </p:cTn>
                  </p:par>
                  <p:par>
                    <p:cTn id="38" fill="hold">
                      <p:stCondLst>
                        <p:cond delay="70"/>
                      </p:stCondLst>
                      <p:childTnLst>
                        <p:par>
                          <p:cTn id="39" presetID="10" presetClass="entr" presetSubtype="0" fill="hold"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350"/>
                                  <p:tgtEl>
                                    <p:spTgt spid="21"/>
                                  </p:tgtEl>
                                </p:cBhvr>
                              </p:animEffect>
                            </p:childTnLst>
                          </p:cTn>
                        </p:par>
                        <p:par>
                          <p:cTn id="42" presetID="10" presetClass="entr" presetSubtype="0" fill="hold" grpId="11"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350"/>
                                  <p:tgtEl>
                                    <p:spTgt spid="22"/>
                                  </p:tgtEl>
                                </p:cBhvr>
                              </p:animEffect>
                            </p:childTnLst>
                          </p:cTn>
                        </p:par>
                        <p:par>
                          <p:cTn id="45" presetID="10" presetClass="entr" presetSubtype="0" fill="hold" grpId="12"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350"/>
                                  <p:tgtEl>
                                    <p:spTgt spid="23"/>
                                  </p:tgtEl>
                                </p:cBhvr>
                              </p:animEffect>
                            </p:childTnLst>
                          </p:cTn>
                        </p:par>
                        <p:par>
                          <p:cTn id="48" presetID="10" presetClass="entr" presetSubtype="0" fill="hold" grpId="13"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350"/>
                                  <p:tgtEl>
                                    <p:spTgt spid="24"/>
                                  </p:tgtEl>
                                </p:cBhvr>
                              </p:animEffect>
                            </p:childTnLst>
                          </p:cTn>
                        </p:par>
                      </p:childTnLst>
                    </p:cTn>
                  </p:par>
                  <p:par>
                    <p:cTn id="51" fill="hold">
                      <p:stCondLst>
                        <p:cond delay="70"/>
                      </p:stCondLst>
                      <p:childTnLst>
                        <p:par>
                          <p:cTn id="52" presetID="10" presetClass="entr" presetSubtype="0" fill="hold"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350"/>
                                  <p:tgtEl>
                                    <p:spTgt spid="28"/>
                                  </p:tgtEl>
                                </p:cBhvr>
                              </p:animEffect>
                            </p:childTnLst>
                          </p:cTn>
                        </p:par>
                        <p:par>
                          <p:cTn id="55" presetID="10" presetClass="entr" presetSubtype="0" fill="hold" grpId="15"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350"/>
                                  <p:tgtEl>
                                    <p:spTgt spid="29"/>
                                  </p:tgtEl>
                                </p:cBhvr>
                              </p:animEffect>
                            </p:childTnLst>
                          </p:cTn>
                        </p:par>
                        <p:par>
                          <p:cTn id="58" presetID="10" presetClass="entr" presetSubtype="0" fill="hold" grpId="16"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350"/>
                                  <p:tgtEl>
                                    <p:spTgt spid="30"/>
                                  </p:tgtEl>
                                </p:cBhvr>
                              </p:animEffect>
                            </p:childTnLst>
                          </p:cTn>
                        </p:par>
                        <p:par>
                          <p:cTn id="61" presetID="10" presetClass="entr" presetSubtype="0" fill="hold" grpId="17"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350"/>
                                  <p:tgtEl>
                                    <p:spTgt spid="3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8" grpId="3" animBg="1"/>
      <p:bldP spid="9" grpId="4" animBg="1"/>
      <p:bldP spid="10" grpId="5" animBg="1"/>
      <p:bldP spid="15" grpId="7" animBg="1"/>
      <p:bldP spid="16" grpId="8" animBg="1"/>
      <p:bldP spid="17" grpId="9" animBg="1"/>
      <p:bldP spid="22" grpId="11" animBg="1"/>
      <p:bldP spid="23" grpId="12" animBg="1"/>
      <p:bldP spid="24" grpId="13" animBg="1"/>
      <p:bldP spid="29" grpId="15" animBg="1"/>
      <p:bldP spid="30" grpId="16" animBg="1"/>
      <p:bldP spid="31" grpId="17"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__1__afterprev__fade__whole" descr="C:\Users\Cedric S. DJIGUIMDE\Desktop\Projet\presentation_fibre\assets_themes\spectra\icons\calc_w.png"/>
          <p:cNvPicPr>
            <a:picLocks noChangeAspect="1"/>
          </p:cNvPicPr>
          <p:nvPr/>
        </p:nvPicPr>
        <p:blipFill>
          <a:blip r:embed="rId4"/>
          <a:stretch>
            <a:fillRect/>
          </a:stretch>
        </p:blipFill>
        <p:spPr>
          <a:xfrm>
            <a:off x="9464040" y="2331720"/>
            <a:ext cx="1737360" cy="1737360"/>
          </a:xfrm>
          <a:prstGeom prst="rect">
            <a:avLst/>
          </a:prstGeom>
        </p:spPr>
      </p:pic>
      <p:sp>
        <p:nvSpPr>
          <p:cNvPr id="3" name="anim__2__afterprev__fade__whole"/>
          <p:cNvSpPr/>
          <p:nvPr/>
        </p:nvSpPr>
        <p:spPr>
          <a:xfrm>
            <a:off x="685800" y="2286000"/>
            <a:ext cx="7315200" cy="457200"/>
          </a:xfrm>
          <a:prstGeom prst="rect">
            <a:avLst/>
          </a:prstGeom>
          <a:noFill/>
          <a:ln/>
        </p:spPr>
        <p:txBody>
          <a:bodyPr wrap="square" lIns="0" tIns="0" rIns="0" bIns="0" rtlCol="0" anchor="ctr"/>
          <a:lstStyle/>
          <a:p>
            <a:pPr marL="0" indent="0">
              <a:buNone/>
            </a:pPr>
            <a:r>
              <a:rPr lang="en-US" sz="1860" b="1" kern="0" spc="400" dirty="0">
                <a:solidFill>
                  <a:srgbClr val="6D28D9"/>
                </a:solidFill>
                <a:latin typeface="Segoe UI Semibold" pitchFamily="34" charset="0"/>
                <a:ea typeface="Segoe UI Semibold" pitchFamily="34" charset="-122"/>
                <a:cs typeface="Segoe UI Semibold" pitchFamily="34" charset="-120"/>
              </a:rPr>
              <a:t>PARTIE II</a:t>
            </a:r>
            <a:endParaRPr lang="en-US" sz="1860" dirty="0"/>
          </a:p>
        </p:txBody>
      </p:sp>
      <p:sp>
        <p:nvSpPr>
          <p:cNvPr id="4" name="anim__3__afterprev__fade__whole"/>
          <p:cNvSpPr/>
          <p:nvPr/>
        </p:nvSpPr>
        <p:spPr>
          <a:xfrm>
            <a:off x="685800" y="2743200"/>
            <a:ext cx="7680960" cy="1188720"/>
          </a:xfrm>
          <a:prstGeom prst="rect">
            <a:avLst/>
          </a:prstGeom>
          <a:noFill/>
          <a:ln/>
        </p:spPr>
        <p:txBody>
          <a:bodyPr wrap="square" lIns="0" tIns="0" rIns="0" bIns="0" rtlCol="0" anchor="ctr"/>
          <a:lstStyle/>
          <a:p>
            <a:pPr marL="0" indent="0">
              <a:buNone/>
            </a:pPr>
            <a:r>
              <a:rPr lang="en-US" sz="4200" b="1" dirty="0">
                <a:solidFill>
                  <a:srgbClr val="20183F"/>
                </a:solidFill>
                <a:latin typeface="Segoe UI Black" pitchFamily="34" charset="0"/>
                <a:ea typeface="Segoe UI Black" pitchFamily="34" charset="-122"/>
                <a:cs typeface="Segoe UI Black" pitchFamily="34" charset="-120"/>
              </a:rPr>
              <a:t>Dimensionnement de la liaison</a:t>
            </a:r>
            <a:endParaRPr lang="en-US" sz="4200" dirty="0"/>
          </a:p>
        </p:txBody>
      </p:sp>
      <p:sp>
        <p:nvSpPr>
          <p:cNvPr id="5" name="Shape 2"/>
          <p:cNvSpPr/>
          <p:nvPr/>
        </p:nvSpPr>
        <p:spPr>
          <a:xfrm>
            <a:off x="685800" y="3913632"/>
            <a:ext cx="2011680" cy="0"/>
          </a:xfrm>
          <a:prstGeom prst="line">
            <a:avLst/>
          </a:prstGeom>
          <a:noFill/>
          <a:ln w="31750">
            <a:solidFill>
              <a:srgbClr val="6D28D9"/>
            </a:solidFill>
            <a:prstDash val="solid"/>
          </a:ln>
        </p:spPr>
        <p:txBody>
          <a:bodyPr/>
          <a:lstStyle/>
          <a:p>
            <a:endParaRPr lang="fr-FR"/>
          </a:p>
        </p:txBody>
      </p:sp>
      <p:sp>
        <p:nvSpPr>
          <p:cNvPr id="6" name="anim__4__afterprev__fade__whole"/>
          <p:cNvSpPr/>
          <p:nvPr/>
        </p:nvSpPr>
        <p:spPr>
          <a:xfrm>
            <a:off x="685800" y="4041648"/>
            <a:ext cx="7315200" cy="640080"/>
          </a:xfrm>
          <a:prstGeom prst="rect">
            <a:avLst/>
          </a:prstGeom>
          <a:noFill/>
          <a:ln/>
        </p:spPr>
        <p:txBody>
          <a:bodyPr wrap="square" lIns="0" tIns="0" rIns="0" bIns="0" rtlCol="0" anchor="ctr"/>
          <a:lstStyle/>
          <a:p>
            <a:pPr marL="0" indent="0">
              <a:lnSpc>
                <a:spcPct val="115000"/>
              </a:lnSpc>
              <a:buNone/>
            </a:pPr>
            <a:r>
              <a:rPr lang="en-US" sz="1740" dirty="0">
                <a:solidFill>
                  <a:srgbClr val="3F3D56"/>
                </a:solidFill>
                <a:latin typeface="Segoe UI" pitchFamily="34" charset="0"/>
                <a:ea typeface="Segoe UI" pitchFamily="34" charset="-122"/>
                <a:cs typeface="Segoe UI" pitchFamily="34" charset="-120"/>
              </a:rPr>
              <a:t>Quantifier les contraintes pour déterminer la portée maximale exploitable.</a:t>
            </a:r>
            <a:endParaRPr lang="en-US" sz="1740" dirty="0"/>
          </a:p>
        </p:txBody>
      </p:sp>
      <p:sp>
        <p:nvSpPr>
          <p:cNvPr id="7" name="anim__5__afterprev__fade__para"/>
          <p:cNvSpPr/>
          <p:nvPr/>
        </p:nvSpPr>
        <p:spPr>
          <a:xfrm>
            <a:off x="685800" y="4754880"/>
            <a:ext cx="7315200" cy="1280160"/>
          </a:xfrm>
          <a:prstGeom prst="rect">
            <a:avLst/>
          </a:prstGeom>
          <a:noFill/>
          <a:ln/>
        </p:spPr>
        <p:txBody>
          <a:bodyPr wrap="square" lIns="0" tIns="0" rIns="0" bIns="0" rtlCol="0" anchor="ctr"/>
          <a:lstStyle/>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Bilan de puissance — budget &amp; portée limitée par l'atténuation</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Bilan de dispersion — chromatique &amp; PMD</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Portée maximale sans régénération</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Comparaison &amp; choix de la fibre</a:t>
            </a:r>
            <a:endParaRPr lang="en-US" sz="1510" dirty="0"/>
          </a:p>
        </p:txBody>
      </p:sp>
      <p:sp>
        <p:nvSpPr>
          <p:cNvPr id="8" name="Text 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9" name="Text 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10</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800">
        <p:cover/>
      </p:transition>
    </mc:Choice>
    <mc:Fallback>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50"/>
                                  <p:tgtEl>
                                    <p:spTgt spid="4"/>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350"/>
                                  <p:tgtEl>
                                    <p:spTgt spid="7">
                                      <p:txEl>
                                        <p:pRg st="0" end="0"/>
                                      </p:txEl>
                                    </p:spTgt>
                                  </p:tgtEl>
                                </p:cBhvr>
                              </p:animEffect>
                            </p:childTnLst>
                          </p:cTn>
                        </p:par>
                      </p:childTnLst>
                    </p:cTn>
                  </p:par>
                  <p:par>
                    <p:cTn id="24" fill="hold">
                      <p:stCondLst>
                        <p:cond delay="70"/>
                      </p:stCondLst>
                      <p:childTnLst>
                        <p:par>
                          <p:cTn id="25" presetID="10" presetClass="entr" presetSubtype="0" fill="hold" grpId="4" nodeType="after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350"/>
                                  <p:tgtEl>
                                    <p:spTgt spid="7">
                                      <p:txEl>
                                        <p:pRg st="1" end="1"/>
                                      </p:txEl>
                                    </p:spTgt>
                                  </p:tgtEl>
                                </p:cBhvr>
                              </p:animEffect>
                            </p:childTnLst>
                          </p:cTn>
                        </p:par>
                      </p:childTnLst>
                    </p:cTn>
                  </p:par>
                  <p:par>
                    <p:cTn id="28" fill="hold">
                      <p:stCondLst>
                        <p:cond delay="70"/>
                      </p:stCondLst>
                      <p:childTnLst>
                        <p:par>
                          <p:cTn id="29" presetID="10" presetClass="entr" presetSubtype="0" fill="hold" grpId="4" nodeType="after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350"/>
                                  <p:tgtEl>
                                    <p:spTgt spid="7">
                                      <p:txEl>
                                        <p:pRg st="2" end="2"/>
                                      </p:txEl>
                                    </p:spTgt>
                                  </p:tgtEl>
                                </p:cBhvr>
                              </p:animEffect>
                            </p:childTnLst>
                          </p:cTn>
                        </p:par>
                      </p:childTnLst>
                    </p:cTn>
                  </p:par>
                  <p:par>
                    <p:cTn id="32" fill="hold">
                      <p:stCondLst>
                        <p:cond delay="70"/>
                      </p:stCondLst>
                      <p:childTnLst>
                        <p:par>
                          <p:cTn id="33" presetID="10" presetClass="entr" presetSubtype="0" fill="hold" grpId="4" nodeType="after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350"/>
                                  <p:tgtEl>
                                    <p:spTgt spid="7">
                                      <p:txEl>
                                        <p:pRg st="3" end="3"/>
                                      </p:txEl>
                                    </p:spTgt>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4" grpId="2" animBg="1"/>
      <p:bldP spid="6" grpId="3" animBg="1"/>
      <p:bldP spid="7" grpId="4" build="p"/>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Bilan de puissance : le principe</a:t>
            </a:r>
            <a:endParaRPr lang="en-US" sz="3100" dirty="0"/>
          </a:p>
        </p:txBody>
      </p:sp>
      <p:sp>
        <p:nvSpPr>
          <p:cNvPr id="4" name="Shape 2"/>
          <p:cNvSpPr/>
          <p:nvPr/>
        </p:nvSpPr>
        <p:spPr>
          <a:xfrm>
            <a:off x="685800" y="1828800"/>
            <a:ext cx="5897880" cy="4114800"/>
          </a:xfrm>
          <a:prstGeom prst="roundRect">
            <a:avLst>
              <a:gd name="adj" fmla="val 35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3822192"/>
          </a:xfrm>
          <a:prstGeom prst="rect">
            <a:avLst/>
          </a:prstGeom>
          <a:solidFill>
            <a:srgbClr val="6D28D9"/>
          </a:solidFill>
          <a:ln/>
        </p:spPr>
        <p:txBody>
          <a:bodyPr/>
          <a:lstStyle/>
          <a:p>
            <a:endParaRPr lang="fr-FR"/>
          </a:p>
        </p:txBody>
      </p:sp>
      <p:sp>
        <p:nvSpPr>
          <p:cNvPr id="6" name="anim__3__afterprev__fade__whole"/>
          <p:cNvSpPr/>
          <p:nvPr/>
        </p:nvSpPr>
        <p:spPr>
          <a:xfrm>
            <a:off x="978408" y="2066544"/>
            <a:ext cx="5349240" cy="914400"/>
          </a:xfrm>
          <a:prstGeom prst="rect">
            <a:avLst/>
          </a:prstGeom>
          <a:noFill/>
          <a:ln/>
        </p:spPr>
        <p:txBody>
          <a:bodyPr wrap="square" lIns="0" tIns="0" rIns="0" bIns="0" rtlCol="0" anchor="ctr"/>
          <a:lstStyle/>
          <a:p>
            <a:pPr marL="0" indent="0">
              <a:lnSpc>
                <a:spcPct val="120000"/>
              </a:lnSpc>
              <a:buNone/>
            </a:pPr>
            <a:r>
              <a:rPr lang="en-US" sz="1620" dirty="0">
                <a:solidFill>
                  <a:srgbClr val="3F3D56"/>
                </a:solidFill>
                <a:latin typeface="Segoe UI" pitchFamily="34" charset="0"/>
                <a:ea typeface="Segoe UI" pitchFamily="34" charset="-122"/>
                <a:cs typeface="Segoe UI" pitchFamily="34" charset="-120"/>
              </a:rPr>
              <a:t>Vérifier que la puissance reçue reste supérieure à la sensibilité du récepteur — un inventaire de toutes les pertes et gains de l'émetteur au récepteur.</a:t>
            </a:r>
            <a:endParaRPr lang="en-US" sz="1620" dirty="0"/>
          </a:p>
        </p:txBody>
      </p:sp>
      <p:sp>
        <p:nvSpPr>
          <p:cNvPr id="7" name="anim__4__afterprev__fade__whole"/>
          <p:cNvSpPr/>
          <p:nvPr/>
        </p:nvSpPr>
        <p:spPr>
          <a:xfrm>
            <a:off x="978408" y="3035808"/>
            <a:ext cx="5349240" cy="274320"/>
          </a:xfrm>
          <a:prstGeom prst="rect">
            <a:avLst/>
          </a:prstGeom>
          <a:noFill/>
          <a:ln/>
        </p:spPr>
        <p:txBody>
          <a:bodyPr wrap="square" lIns="0" tIns="0" rIns="0" bIns="0" rtlCol="0" anchor="ctr"/>
          <a:lstStyle/>
          <a:p>
            <a:pPr marL="0" indent="0">
              <a:buNone/>
            </a:pPr>
            <a:r>
              <a:rPr lang="en-US" sz="1390" b="1" dirty="0">
                <a:solidFill>
                  <a:srgbClr val="6D28D9"/>
                </a:solidFill>
                <a:latin typeface="Segoe UI Semibold" pitchFamily="34" charset="0"/>
                <a:ea typeface="Segoe UI Semibold" pitchFamily="34" charset="-122"/>
                <a:cs typeface="Segoe UI Semibold" pitchFamily="34" charset="-120"/>
              </a:rPr>
              <a:t>Condition de viabilité</a:t>
            </a:r>
            <a:endParaRPr lang="en-US" sz="1390" dirty="0"/>
          </a:p>
        </p:txBody>
      </p:sp>
      <p:sp>
        <p:nvSpPr>
          <p:cNvPr id="8" name="Shape 6"/>
          <p:cNvSpPr/>
          <p:nvPr/>
        </p:nvSpPr>
        <p:spPr>
          <a:xfrm>
            <a:off x="978408" y="3310128"/>
            <a:ext cx="5349240" cy="566928"/>
          </a:xfrm>
          <a:prstGeom prst="roundRect">
            <a:avLst>
              <a:gd name="adj" fmla="val 8065"/>
            </a:avLst>
          </a:prstGeom>
          <a:solidFill>
            <a:srgbClr val="EFE9FF"/>
          </a:solidFill>
          <a:ln w="12700">
            <a:solidFill>
              <a:srgbClr val="6D28D9"/>
            </a:solidFill>
            <a:prstDash val="solid"/>
          </a:ln>
        </p:spPr>
        <p:txBody>
          <a:bodyPr/>
          <a:lstStyle/>
          <a:p>
            <a:endParaRPr lang="fr-FR"/>
          </a:p>
        </p:txBody>
      </p:sp>
      <p:sp>
        <p:nvSpPr>
          <p:cNvPr id="9" name="anim__5__afterprev__fade__whole"/>
          <p:cNvSpPr/>
          <p:nvPr/>
        </p:nvSpPr>
        <p:spPr>
          <a:xfrm>
            <a:off x="978408" y="3310128"/>
            <a:ext cx="5349240" cy="566928"/>
          </a:xfrm>
          <a:prstGeom prst="rect">
            <a:avLst/>
          </a:prstGeom>
          <a:noFill/>
          <a:ln/>
        </p:spPr>
        <p:txBody>
          <a:bodyPr wrap="square" lIns="0" tIns="0" rIns="0" bIns="0" rtlCol="0" anchor="ctr"/>
          <a:lstStyle/>
          <a:p>
            <a:pPr marL="0" indent="0" algn="ctr">
              <a:buNone/>
            </a:pPr>
            <a:r>
              <a:rPr lang="en-US" sz="1680" b="1" dirty="0">
                <a:solidFill>
                  <a:srgbClr val="20183F"/>
                </a:solidFill>
                <a:latin typeface="Consolas" pitchFamily="34" charset="0"/>
                <a:ea typeface="Consolas" pitchFamily="34" charset="-122"/>
                <a:cs typeface="Consolas" pitchFamily="34" charset="-120"/>
              </a:rPr>
              <a:t>Pé − αeff·L − αconn − Msys ≥ Pr min</a:t>
            </a:r>
            <a:endParaRPr lang="en-US" sz="1680" dirty="0"/>
          </a:p>
        </p:txBody>
      </p:sp>
      <p:sp>
        <p:nvSpPr>
          <p:cNvPr id="10" name="anim__6__afterprev__fade__whole"/>
          <p:cNvSpPr/>
          <p:nvPr/>
        </p:nvSpPr>
        <p:spPr>
          <a:xfrm>
            <a:off x="978408" y="4023360"/>
            <a:ext cx="5349240" cy="274320"/>
          </a:xfrm>
          <a:prstGeom prst="rect">
            <a:avLst/>
          </a:prstGeom>
          <a:noFill/>
          <a:ln/>
        </p:spPr>
        <p:txBody>
          <a:bodyPr wrap="square" lIns="0" tIns="0" rIns="0" bIns="0" rtlCol="0" anchor="ctr"/>
          <a:lstStyle/>
          <a:p>
            <a:pPr marL="0" indent="0">
              <a:buNone/>
            </a:pPr>
            <a:r>
              <a:rPr lang="en-US" sz="1450" dirty="0">
                <a:solidFill>
                  <a:srgbClr val="847FA6"/>
                </a:solidFill>
                <a:latin typeface="Segoe UI" pitchFamily="34" charset="0"/>
                <a:ea typeface="Segoe UI" pitchFamily="34" charset="-122"/>
                <a:cs typeface="Segoe UI" pitchFamily="34" charset="-120"/>
              </a:rPr>
              <a:t>Soit, sous forme de budget de liaison :</a:t>
            </a:r>
            <a:endParaRPr lang="en-US" sz="1450" dirty="0"/>
          </a:p>
        </p:txBody>
      </p:sp>
      <p:sp>
        <p:nvSpPr>
          <p:cNvPr id="11" name="Shape 9"/>
          <p:cNvSpPr/>
          <p:nvPr/>
        </p:nvSpPr>
        <p:spPr>
          <a:xfrm>
            <a:off x="978408" y="4315968"/>
            <a:ext cx="5349240" cy="566928"/>
          </a:xfrm>
          <a:prstGeom prst="roundRect">
            <a:avLst>
              <a:gd name="adj" fmla="val 8065"/>
            </a:avLst>
          </a:prstGeom>
          <a:solidFill>
            <a:srgbClr val="EFE9FF"/>
          </a:solidFill>
          <a:ln w="12700">
            <a:solidFill>
              <a:srgbClr val="DB2777"/>
            </a:solidFill>
            <a:prstDash val="solid"/>
          </a:ln>
        </p:spPr>
        <p:txBody>
          <a:bodyPr/>
          <a:lstStyle/>
          <a:p>
            <a:endParaRPr lang="fr-FR"/>
          </a:p>
        </p:txBody>
      </p:sp>
      <p:sp>
        <p:nvSpPr>
          <p:cNvPr id="12" name="anim__7__afterprev__fade__whole"/>
          <p:cNvSpPr/>
          <p:nvPr/>
        </p:nvSpPr>
        <p:spPr>
          <a:xfrm>
            <a:off x="978408" y="4315968"/>
            <a:ext cx="5349240" cy="566928"/>
          </a:xfrm>
          <a:prstGeom prst="rect">
            <a:avLst/>
          </a:prstGeom>
          <a:noFill/>
          <a:ln/>
        </p:spPr>
        <p:txBody>
          <a:bodyPr wrap="square" lIns="0" tIns="0" rIns="0" bIns="0" rtlCol="0" anchor="ctr"/>
          <a:lstStyle/>
          <a:p>
            <a:pPr marL="0" indent="0" algn="ctr">
              <a:buNone/>
            </a:pPr>
            <a:r>
              <a:rPr lang="en-US" sz="1680" b="1" dirty="0">
                <a:solidFill>
                  <a:srgbClr val="20183F"/>
                </a:solidFill>
                <a:latin typeface="Consolas" pitchFamily="34" charset="0"/>
                <a:ea typeface="Consolas" pitchFamily="34" charset="-122"/>
                <a:cs typeface="Consolas" pitchFamily="34" charset="-120"/>
              </a:rPr>
              <a:t>Budget = Pé − Pr min ≥ αeff·L + αconn + Msys</a:t>
            </a:r>
            <a:endParaRPr lang="en-US" sz="1680" dirty="0"/>
          </a:p>
        </p:txBody>
      </p:sp>
      <p:sp>
        <p:nvSpPr>
          <p:cNvPr id="13" name="anim__8__afterprev__fade__whole"/>
          <p:cNvSpPr/>
          <p:nvPr/>
        </p:nvSpPr>
        <p:spPr>
          <a:xfrm>
            <a:off x="978408" y="5074920"/>
            <a:ext cx="5349240" cy="640080"/>
          </a:xfrm>
          <a:prstGeom prst="rect">
            <a:avLst/>
          </a:prstGeom>
          <a:noFill/>
          <a:ln/>
        </p:spPr>
        <p:txBody>
          <a:bodyPr wrap="square" lIns="0" tIns="0" rIns="0" bIns="0" rtlCol="0" anchor="ctr"/>
          <a:lstStyle/>
          <a:p>
            <a:pPr marL="0" indent="0">
              <a:lnSpc>
                <a:spcPct val="115000"/>
              </a:lnSpc>
              <a:buNone/>
            </a:pPr>
            <a:r>
              <a:rPr lang="en-US" sz="1510" i="1" dirty="0">
                <a:solidFill>
                  <a:srgbClr val="3F3D56"/>
                </a:solidFill>
                <a:latin typeface="Segoe UI" pitchFamily="34" charset="0"/>
                <a:ea typeface="Segoe UI" pitchFamily="34" charset="-122"/>
                <a:cs typeface="Segoe UI" pitchFamily="34" charset="-120"/>
              </a:rPr>
              <a:t>C'est cette inégalité qui fixe la portée maximale de la liaison.</a:t>
            </a:r>
            <a:endParaRPr lang="en-US" sz="1510" dirty="0"/>
          </a:p>
        </p:txBody>
      </p:sp>
      <p:sp>
        <p:nvSpPr>
          <p:cNvPr id="14" name="anim__9__afterprev__fade__whole"/>
          <p:cNvSpPr/>
          <p:nvPr/>
        </p:nvSpPr>
        <p:spPr>
          <a:xfrm>
            <a:off x="6903720" y="1828800"/>
            <a:ext cx="4599432" cy="292608"/>
          </a:xfrm>
          <a:prstGeom prst="rect">
            <a:avLst/>
          </a:prstGeom>
          <a:noFill/>
          <a:ln/>
        </p:spPr>
        <p:txBody>
          <a:bodyPr wrap="square" lIns="0" tIns="0" rIns="0" bIns="0" rtlCol="0" anchor="ctr"/>
          <a:lstStyle/>
          <a:p>
            <a:pPr marL="0" indent="0">
              <a:buNone/>
            </a:pPr>
            <a:r>
              <a:rPr lang="en-US" sz="1330" b="1" kern="0" spc="200" dirty="0">
                <a:solidFill>
                  <a:srgbClr val="6D28D9"/>
                </a:solidFill>
                <a:latin typeface="Segoe UI Semibold" pitchFamily="34" charset="0"/>
                <a:ea typeface="Segoe UI Semibold" pitchFamily="34" charset="-122"/>
                <a:cs typeface="Segoe UI Semibold" pitchFamily="34" charset="-120"/>
              </a:rPr>
              <a:t>LES TERMES DU BILAN</a:t>
            </a:r>
            <a:endParaRPr lang="en-US" sz="1330" dirty="0"/>
          </a:p>
        </p:txBody>
      </p:sp>
      <p:sp>
        <p:nvSpPr>
          <p:cNvPr id="15" name="Shape 13"/>
          <p:cNvSpPr/>
          <p:nvPr/>
        </p:nvSpPr>
        <p:spPr>
          <a:xfrm>
            <a:off x="6903720" y="2212848"/>
            <a:ext cx="4599432" cy="530352"/>
          </a:xfrm>
          <a:prstGeom prst="roundRect">
            <a:avLst>
              <a:gd name="adj" fmla="val 27586"/>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6" name="anim__10__afterprev__fade__whole"/>
          <p:cNvSpPr/>
          <p:nvPr/>
        </p:nvSpPr>
        <p:spPr>
          <a:xfrm>
            <a:off x="7068312" y="2212848"/>
            <a:ext cx="1143000" cy="530352"/>
          </a:xfrm>
          <a:prstGeom prst="rect">
            <a:avLst/>
          </a:prstGeom>
          <a:noFill/>
          <a:ln/>
        </p:spPr>
        <p:txBody>
          <a:bodyPr wrap="square" lIns="0" tIns="0" rIns="0" bIns="0" rtlCol="0" anchor="ctr"/>
          <a:lstStyle/>
          <a:p>
            <a:pPr marL="0" indent="0">
              <a:buNone/>
            </a:pPr>
            <a:r>
              <a:rPr lang="en-US" sz="1570" b="1" dirty="0">
                <a:solidFill>
                  <a:srgbClr val="6D28D9"/>
                </a:solidFill>
                <a:latin typeface="Consolas" pitchFamily="34" charset="0"/>
                <a:ea typeface="Consolas" pitchFamily="34" charset="-122"/>
                <a:cs typeface="Consolas" pitchFamily="34" charset="-120"/>
              </a:rPr>
              <a:t>Pé</a:t>
            </a:r>
            <a:endParaRPr lang="en-US" sz="1570" dirty="0"/>
          </a:p>
        </p:txBody>
      </p:sp>
      <p:sp>
        <p:nvSpPr>
          <p:cNvPr id="17" name="anim__11__withprev__fade__whole"/>
          <p:cNvSpPr/>
          <p:nvPr/>
        </p:nvSpPr>
        <p:spPr>
          <a:xfrm>
            <a:off x="8229600" y="2212848"/>
            <a:ext cx="3136392" cy="530352"/>
          </a:xfrm>
          <a:prstGeom prst="rect">
            <a:avLst/>
          </a:prstGeom>
          <a:noFill/>
          <a:ln/>
        </p:spPr>
        <p:txBody>
          <a:bodyPr wrap="square" lIns="0" tIns="0" rIns="0" bIns="0" rtlCol="0" anchor="ctr"/>
          <a:lstStyle/>
          <a:p>
            <a:pPr marL="0" indent="0">
              <a:buNone/>
            </a:pPr>
            <a:r>
              <a:rPr lang="en-US" sz="1280" dirty="0">
                <a:solidFill>
                  <a:srgbClr val="3F3D56"/>
                </a:solidFill>
                <a:latin typeface="Segoe UI" pitchFamily="34" charset="0"/>
                <a:ea typeface="Segoe UI" pitchFamily="34" charset="-122"/>
                <a:cs typeface="Segoe UI" pitchFamily="34" charset="-120"/>
              </a:rPr>
              <a:t>Puissance émise par le laser (dBm)</a:t>
            </a:r>
            <a:endParaRPr lang="en-US" sz="1280" dirty="0"/>
          </a:p>
        </p:txBody>
      </p:sp>
      <p:sp>
        <p:nvSpPr>
          <p:cNvPr id="18" name="Shape 16"/>
          <p:cNvSpPr/>
          <p:nvPr/>
        </p:nvSpPr>
        <p:spPr>
          <a:xfrm>
            <a:off x="6903720" y="2843784"/>
            <a:ext cx="4599432" cy="530352"/>
          </a:xfrm>
          <a:prstGeom prst="roundRect">
            <a:avLst>
              <a:gd name="adj" fmla="val 2758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9" name="anim__12__afterprev__fade__whole"/>
          <p:cNvSpPr/>
          <p:nvPr/>
        </p:nvSpPr>
        <p:spPr>
          <a:xfrm>
            <a:off x="7068312" y="2843784"/>
            <a:ext cx="1143000" cy="530352"/>
          </a:xfrm>
          <a:prstGeom prst="rect">
            <a:avLst/>
          </a:prstGeom>
          <a:noFill/>
          <a:ln/>
        </p:spPr>
        <p:txBody>
          <a:bodyPr wrap="square" lIns="0" tIns="0" rIns="0" bIns="0" rtlCol="0" anchor="ctr"/>
          <a:lstStyle/>
          <a:p>
            <a:pPr marL="0" indent="0">
              <a:buNone/>
            </a:pPr>
            <a:r>
              <a:rPr lang="en-US" sz="1570" b="1" dirty="0">
                <a:solidFill>
                  <a:srgbClr val="6D28D9"/>
                </a:solidFill>
                <a:latin typeface="Consolas" pitchFamily="34" charset="0"/>
                <a:ea typeface="Consolas" pitchFamily="34" charset="-122"/>
                <a:cs typeface="Consolas" pitchFamily="34" charset="-120"/>
              </a:rPr>
              <a:t>αeff</a:t>
            </a:r>
            <a:endParaRPr lang="en-US" sz="1570" dirty="0"/>
          </a:p>
        </p:txBody>
      </p:sp>
      <p:sp>
        <p:nvSpPr>
          <p:cNvPr id="20" name="anim__13__withprev__fade__whole"/>
          <p:cNvSpPr/>
          <p:nvPr/>
        </p:nvSpPr>
        <p:spPr>
          <a:xfrm>
            <a:off x="8229600" y="2843784"/>
            <a:ext cx="3136392" cy="530352"/>
          </a:xfrm>
          <a:prstGeom prst="rect">
            <a:avLst/>
          </a:prstGeom>
          <a:noFill/>
          <a:ln/>
        </p:spPr>
        <p:txBody>
          <a:bodyPr wrap="square" lIns="0" tIns="0" rIns="0" bIns="0" rtlCol="0" anchor="ctr"/>
          <a:lstStyle/>
          <a:p>
            <a:pPr marL="0" indent="0">
              <a:buNone/>
            </a:pPr>
            <a:r>
              <a:rPr lang="en-US" sz="1280" dirty="0">
                <a:solidFill>
                  <a:srgbClr val="3F3D56"/>
                </a:solidFill>
                <a:latin typeface="Segoe UI" pitchFamily="34" charset="0"/>
                <a:ea typeface="Segoe UI" pitchFamily="34" charset="-122"/>
                <a:cs typeface="Segoe UI" pitchFamily="34" charset="-120"/>
              </a:rPr>
              <a:t>Atténuation linéique effective (dB/km)</a:t>
            </a:r>
            <a:endParaRPr lang="en-US" sz="1280" dirty="0"/>
          </a:p>
        </p:txBody>
      </p:sp>
      <p:sp>
        <p:nvSpPr>
          <p:cNvPr id="21" name="Shape 19"/>
          <p:cNvSpPr/>
          <p:nvPr/>
        </p:nvSpPr>
        <p:spPr>
          <a:xfrm>
            <a:off x="6903720" y="3474720"/>
            <a:ext cx="4599432" cy="530352"/>
          </a:xfrm>
          <a:prstGeom prst="roundRect">
            <a:avLst>
              <a:gd name="adj" fmla="val 27586"/>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2" name="anim__14__afterprev__fade__whole"/>
          <p:cNvSpPr/>
          <p:nvPr/>
        </p:nvSpPr>
        <p:spPr>
          <a:xfrm>
            <a:off x="7068312" y="3474720"/>
            <a:ext cx="1143000" cy="530352"/>
          </a:xfrm>
          <a:prstGeom prst="rect">
            <a:avLst/>
          </a:prstGeom>
          <a:noFill/>
          <a:ln/>
        </p:spPr>
        <p:txBody>
          <a:bodyPr wrap="square" lIns="0" tIns="0" rIns="0" bIns="0" rtlCol="0" anchor="ctr"/>
          <a:lstStyle/>
          <a:p>
            <a:pPr marL="0" indent="0">
              <a:buNone/>
            </a:pPr>
            <a:r>
              <a:rPr lang="en-US" sz="1570" b="1" dirty="0">
                <a:solidFill>
                  <a:srgbClr val="6D28D9"/>
                </a:solidFill>
                <a:latin typeface="Consolas" pitchFamily="34" charset="0"/>
                <a:ea typeface="Consolas" pitchFamily="34" charset="-122"/>
                <a:cs typeface="Consolas" pitchFamily="34" charset="-120"/>
              </a:rPr>
              <a:t>L</a:t>
            </a:r>
            <a:endParaRPr lang="en-US" sz="1570" dirty="0"/>
          </a:p>
        </p:txBody>
      </p:sp>
      <p:sp>
        <p:nvSpPr>
          <p:cNvPr id="23" name="anim__15__withprev__fade__whole"/>
          <p:cNvSpPr/>
          <p:nvPr/>
        </p:nvSpPr>
        <p:spPr>
          <a:xfrm>
            <a:off x="8229600" y="3474720"/>
            <a:ext cx="3136392" cy="530352"/>
          </a:xfrm>
          <a:prstGeom prst="rect">
            <a:avLst/>
          </a:prstGeom>
          <a:noFill/>
          <a:ln/>
        </p:spPr>
        <p:txBody>
          <a:bodyPr wrap="square" lIns="0" tIns="0" rIns="0" bIns="0" rtlCol="0" anchor="ctr"/>
          <a:lstStyle/>
          <a:p>
            <a:pPr marL="0" indent="0">
              <a:buNone/>
            </a:pPr>
            <a:r>
              <a:rPr lang="en-US" sz="1280" dirty="0">
                <a:solidFill>
                  <a:srgbClr val="3F3D56"/>
                </a:solidFill>
                <a:latin typeface="Segoe UI" pitchFamily="34" charset="0"/>
                <a:ea typeface="Segoe UI" pitchFamily="34" charset="-122"/>
                <a:cs typeface="Segoe UI" pitchFamily="34" charset="-120"/>
              </a:rPr>
              <a:t>Longueur de la liaison (km)</a:t>
            </a:r>
            <a:endParaRPr lang="en-US" sz="1280" dirty="0"/>
          </a:p>
        </p:txBody>
      </p:sp>
      <p:sp>
        <p:nvSpPr>
          <p:cNvPr id="24" name="Shape 22"/>
          <p:cNvSpPr/>
          <p:nvPr/>
        </p:nvSpPr>
        <p:spPr>
          <a:xfrm>
            <a:off x="6903720" y="4105656"/>
            <a:ext cx="4599432" cy="530352"/>
          </a:xfrm>
          <a:prstGeom prst="roundRect">
            <a:avLst>
              <a:gd name="adj" fmla="val 2758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5" name="anim__16__afterprev__fade__whole"/>
          <p:cNvSpPr/>
          <p:nvPr/>
        </p:nvSpPr>
        <p:spPr>
          <a:xfrm>
            <a:off x="7068312" y="4105656"/>
            <a:ext cx="1143000" cy="530352"/>
          </a:xfrm>
          <a:prstGeom prst="rect">
            <a:avLst/>
          </a:prstGeom>
          <a:noFill/>
          <a:ln/>
        </p:spPr>
        <p:txBody>
          <a:bodyPr wrap="square" lIns="0" tIns="0" rIns="0" bIns="0" rtlCol="0" anchor="ctr"/>
          <a:lstStyle/>
          <a:p>
            <a:pPr marL="0" indent="0">
              <a:buNone/>
            </a:pPr>
            <a:r>
              <a:rPr lang="en-US" sz="1570" b="1" dirty="0">
                <a:solidFill>
                  <a:srgbClr val="6D28D9"/>
                </a:solidFill>
                <a:latin typeface="Consolas" pitchFamily="34" charset="0"/>
                <a:ea typeface="Consolas" pitchFamily="34" charset="-122"/>
                <a:cs typeface="Consolas" pitchFamily="34" charset="-120"/>
              </a:rPr>
              <a:t>αconn</a:t>
            </a:r>
            <a:endParaRPr lang="en-US" sz="1570" dirty="0"/>
          </a:p>
        </p:txBody>
      </p:sp>
      <p:sp>
        <p:nvSpPr>
          <p:cNvPr id="26" name="anim__17__withprev__fade__whole"/>
          <p:cNvSpPr/>
          <p:nvPr/>
        </p:nvSpPr>
        <p:spPr>
          <a:xfrm>
            <a:off x="8229600" y="4105656"/>
            <a:ext cx="3136392" cy="530352"/>
          </a:xfrm>
          <a:prstGeom prst="rect">
            <a:avLst/>
          </a:prstGeom>
          <a:noFill/>
          <a:ln/>
        </p:spPr>
        <p:txBody>
          <a:bodyPr wrap="square" lIns="0" tIns="0" rIns="0" bIns="0" rtlCol="0" anchor="ctr"/>
          <a:lstStyle/>
          <a:p>
            <a:pPr marL="0" indent="0">
              <a:buNone/>
            </a:pPr>
            <a:r>
              <a:rPr lang="en-US" sz="1280" dirty="0">
                <a:solidFill>
                  <a:srgbClr val="3F3D56"/>
                </a:solidFill>
                <a:latin typeface="Segoe UI" pitchFamily="34" charset="0"/>
                <a:ea typeface="Segoe UI" pitchFamily="34" charset="-122"/>
                <a:cs typeface="Segoe UI" pitchFamily="34" charset="-120"/>
              </a:rPr>
              <a:t>Pertes des connecteurs (dB)</a:t>
            </a:r>
            <a:endParaRPr lang="en-US" sz="1280" dirty="0"/>
          </a:p>
        </p:txBody>
      </p:sp>
      <p:sp>
        <p:nvSpPr>
          <p:cNvPr id="27" name="Shape 25"/>
          <p:cNvSpPr/>
          <p:nvPr/>
        </p:nvSpPr>
        <p:spPr>
          <a:xfrm>
            <a:off x="6903720" y="4736592"/>
            <a:ext cx="4599432" cy="530352"/>
          </a:xfrm>
          <a:prstGeom prst="roundRect">
            <a:avLst>
              <a:gd name="adj" fmla="val 27586"/>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8" name="anim__18__afterprev__fade__whole"/>
          <p:cNvSpPr/>
          <p:nvPr/>
        </p:nvSpPr>
        <p:spPr>
          <a:xfrm>
            <a:off x="7068312" y="4736592"/>
            <a:ext cx="1143000" cy="530352"/>
          </a:xfrm>
          <a:prstGeom prst="rect">
            <a:avLst/>
          </a:prstGeom>
          <a:noFill/>
          <a:ln/>
        </p:spPr>
        <p:txBody>
          <a:bodyPr wrap="square" lIns="0" tIns="0" rIns="0" bIns="0" rtlCol="0" anchor="ctr"/>
          <a:lstStyle/>
          <a:p>
            <a:pPr marL="0" indent="0">
              <a:buNone/>
            </a:pPr>
            <a:r>
              <a:rPr lang="en-US" sz="1570" b="1" dirty="0">
                <a:solidFill>
                  <a:srgbClr val="6D28D9"/>
                </a:solidFill>
                <a:latin typeface="Consolas" pitchFamily="34" charset="0"/>
                <a:ea typeface="Consolas" pitchFamily="34" charset="-122"/>
                <a:cs typeface="Consolas" pitchFamily="34" charset="-120"/>
              </a:rPr>
              <a:t>Msys</a:t>
            </a:r>
            <a:endParaRPr lang="en-US" sz="1570" dirty="0"/>
          </a:p>
        </p:txBody>
      </p:sp>
      <p:sp>
        <p:nvSpPr>
          <p:cNvPr id="29" name="anim__19__withprev__fade__whole"/>
          <p:cNvSpPr/>
          <p:nvPr/>
        </p:nvSpPr>
        <p:spPr>
          <a:xfrm>
            <a:off x="8229600" y="4736592"/>
            <a:ext cx="3136392" cy="530352"/>
          </a:xfrm>
          <a:prstGeom prst="rect">
            <a:avLst/>
          </a:prstGeom>
          <a:noFill/>
          <a:ln/>
        </p:spPr>
        <p:txBody>
          <a:bodyPr wrap="square" lIns="0" tIns="0" rIns="0" bIns="0" rtlCol="0" anchor="ctr"/>
          <a:lstStyle/>
          <a:p>
            <a:pPr marL="0" indent="0">
              <a:buNone/>
            </a:pPr>
            <a:r>
              <a:rPr lang="en-US" sz="1280" dirty="0">
                <a:solidFill>
                  <a:srgbClr val="3F3D56"/>
                </a:solidFill>
                <a:latin typeface="Segoe UI" pitchFamily="34" charset="0"/>
                <a:ea typeface="Segoe UI" pitchFamily="34" charset="-122"/>
                <a:cs typeface="Segoe UI" pitchFamily="34" charset="-120"/>
              </a:rPr>
              <a:t>Marge système — vieillissement, maintenance (dB)</a:t>
            </a:r>
            <a:endParaRPr lang="en-US" sz="1280" dirty="0"/>
          </a:p>
        </p:txBody>
      </p:sp>
      <p:sp>
        <p:nvSpPr>
          <p:cNvPr id="30" name="Shape 28"/>
          <p:cNvSpPr/>
          <p:nvPr/>
        </p:nvSpPr>
        <p:spPr>
          <a:xfrm>
            <a:off x="6903720" y="5367528"/>
            <a:ext cx="4599432" cy="530352"/>
          </a:xfrm>
          <a:prstGeom prst="roundRect">
            <a:avLst>
              <a:gd name="adj" fmla="val 2758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31" name="anim__20__afterprev__fade__whole"/>
          <p:cNvSpPr/>
          <p:nvPr/>
        </p:nvSpPr>
        <p:spPr>
          <a:xfrm>
            <a:off x="7068312" y="5367528"/>
            <a:ext cx="1143000" cy="530352"/>
          </a:xfrm>
          <a:prstGeom prst="rect">
            <a:avLst/>
          </a:prstGeom>
          <a:noFill/>
          <a:ln/>
        </p:spPr>
        <p:txBody>
          <a:bodyPr wrap="square" lIns="0" tIns="0" rIns="0" bIns="0" rtlCol="0" anchor="ctr"/>
          <a:lstStyle/>
          <a:p>
            <a:pPr marL="0" indent="0">
              <a:buNone/>
            </a:pPr>
            <a:r>
              <a:rPr lang="en-US" sz="1570" b="1" dirty="0">
                <a:solidFill>
                  <a:srgbClr val="6D28D9"/>
                </a:solidFill>
                <a:latin typeface="Consolas" pitchFamily="34" charset="0"/>
                <a:ea typeface="Consolas" pitchFamily="34" charset="-122"/>
                <a:cs typeface="Consolas" pitchFamily="34" charset="-120"/>
              </a:rPr>
              <a:t>Pr min</a:t>
            </a:r>
            <a:endParaRPr lang="en-US" sz="1570" dirty="0"/>
          </a:p>
        </p:txBody>
      </p:sp>
      <p:sp>
        <p:nvSpPr>
          <p:cNvPr id="32" name="anim__21__withprev__fade__whole"/>
          <p:cNvSpPr/>
          <p:nvPr/>
        </p:nvSpPr>
        <p:spPr>
          <a:xfrm>
            <a:off x="8229600" y="5367528"/>
            <a:ext cx="3136392" cy="530352"/>
          </a:xfrm>
          <a:prstGeom prst="rect">
            <a:avLst/>
          </a:prstGeom>
          <a:noFill/>
          <a:ln/>
        </p:spPr>
        <p:txBody>
          <a:bodyPr wrap="square" lIns="0" tIns="0" rIns="0" bIns="0" rtlCol="0" anchor="ctr"/>
          <a:lstStyle/>
          <a:p>
            <a:pPr marL="0" indent="0">
              <a:buNone/>
            </a:pPr>
            <a:r>
              <a:rPr lang="en-US" sz="1280" dirty="0">
                <a:solidFill>
                  <a:srgbClr val="3F3D56"/>
                </a:solidFill>
                <a:latin typeface="Segoe UI" pitchFamily="34" charset="0"/>
                <a:ea typeface="Segoe UI" pitchFamily="34" charset="-122"/>
                <a:cs typeface="Segoe UI" pitchFamily="34" charset="-120"/>
              </a:rPr>
              <a:t>Sensibilité minimale du récepteur (dBm)</a:t>
            </a:r>
            <a:endParaRPr lang="en-US" sz="1280" dirty="0"/>
          </a:p>
        </p:txBody>
      </p:sp>
      <p:sp>
        <p:nvSpPr>
          <p:cNvPr id="33" name="Text 31"/>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4" name="Text 32"/>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11</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childTnLst>
                    </p:cTn>
                  </p:par>
                  <p:par>
                    <p:cTn id="28" fill="hold">
                      <p:stCondLst>
                        <p:cond delay="70"/>
                      </p:stCondLst>
                      <p:childTnLst>
                        <p:par>
                          <p:cTn id="29" presetID="10" presetClass="entr" presetSubtype="0" fill="hold" grpId="6"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childTnLst>
                          </p:cTn>
                        </p:par>
                      </p:childTnLst>
                    </p:cTn>
                  </p:par>
                  <p:par>
                    <p:cTn id="32" fill="hold">
                      <p:stCondLst>
                        <p:cond delay="70"/>
                      </p:stCondLst>
                      <p:childTnLst>
                        <p:par>
                          <p:cTn id="33" presetID="10" presetClass="entr" presetSubtype="0" fill="hold" grpId="7"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childTnLst>
                    </p:cTn>
                  </p:par>
                  <p:par>
                    <p:cTn id="36" fill="hold">
                      <p:stCondLst>
                        <p:cond delay="70"/>
                      </p:stCondLst>
                      <p:childTnLst>
                        <p:par>
                          <p:cTn id="37" presetID="10" presetClass="entr" presetSubtype="0" fill="hold" grpId="8"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childTnLst>
                    </p:cTn>
                  </p:par>
                  <p:par>
                    <p:cTn id="40" fill="hold">
                      <p:stCondLst>
                        <p:cond delay="70"/>
                      </p:stCondLst>
                      <p:childTnLst>
                        <p:par>
                          <p:cTn id="41" presetID="10" presetClass="entr" presetSubtype="0" fill="hold" grpId="9"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50"/>
                                  <p:tgtEl>
                                    <p:spTgt spid="16"/>
                                  </p:tgtEl>
                                </p:cBhvr>
                              </p:animEffect>
                            </p:childTnLst>
                          </p:cTn>
                        </p:par>
                        <p:par>
                          <p:cTn id="44" presetID="10" presetClass="entr" presetSubtype="0" fill="hold" grpId="1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350"/>
                                  <p:tgtEl>
                                    <p:spTgt spid="17"/>
                                  </p:tgtEl>
                                </p:cBhvr>
                              </p:animEffect>
                            </p:childTnLst>
                          </p:cTn>
                        </p:par>
                      </p:childTnLst>
                    </p:cTn>
                  </p:par>
                  <p:par>
                    <p:cTn id="47" fill="hold">
                      <p:stCondLst>
                        <p:cond delay="70"/>
                      </p:stCondLst>
                      <p:childTnLst>
                        <p:par>
                          <p:cTn id="48" presetID="10" presetClass="entr" presetSubtype="0" fill="hold" grpId="11"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50"/>
                                  <p:tgtEl>
                                    <p:spTgt spid="19"/>
                                  </p:tgtEl>
                                </p:cBhvr>
                              </p:animEffect>
                            </p:childTnLst>
                          </p:cTn>
                        </p:par>
                        <p:par>
                          <p:cTn id="51" presetID="10" presetClass="entr" presetSubtype="0" fill="hold" grpId="12"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50"/>
                                  <p:tgtEl>
                                    <p:spTgt spid="20"/>
                                  </p:tgtEl>
                                </p:cBhvr>
                              </p:animEffect>
                            </p:childTnLst>
                          </p:cTn>
                        </p:par>
                      </p:childTnLst>
                    </p:cTn>
                  </p:par>
                  <p:par>
                    <p:cTn id="54" fill="hold">
                      <p:stCondLst>
                        <p:cond delay="70"/>
                      </p:stCondLst>
                      <p:childTnLst>
                        <p:par>
                          <p:cTn id="55" presetID="10" presetClass="entr" presetSubtype="0" fill="hold" grpId="13"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350"/>
                                  <p:tgtEl>
                                    <p:spTgt spid="22"/>
                                  </p:tgtEl>
                                </p:cBhvr>
                              </p:animEffect>
                            </p:childTnLst>
                          </p:cTn>
                        </p:par>
                        <p:par>
                          <p:cTn id="58" presetID="10" presetClass="entr" presetSubtype="0" fill="hold" grpId="14"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50"/>
                                  <p:tgtEl>
                                    <p:spTgt spid="23"/>
                                  </p:tgtEl>
                                </p:cBhvr>
                              </p:animEffect>
                            </p:childTnLst>
                          </p:cTn>
                        </p:par>
                      </p:childTnLst>
                    </p:cTn>
                  </p:par>
                  <p:par>
                    <p:cTn id="61" fill="hold">
                      <p:stCondLst>
                        <p:cond delay="70"/>
                      </p:stCondLst>
                      <p:childTnLst>
                        <p:par>
                          <p:cTn id="62" presetID="10" presetClass="entr" presetSubtype="0" fill="hold" grpId="15"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par>
                          <p:cTn id="65" presetID="10" presetClass="entr" presetSubtype="0" fill="hold" grpId="16"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50"/>
                                  <p:tgtEl>
                                    <p:spTgt spid="26"/>
                                  </p:tgtEl>
                                </p:cBhvr>
                              </p:animEffect>
                            </p:childTnLst>
                          </p:cTn>
                        </p:par>
                      </p:childTnLst>
                    </p:cTn>
                  </p:par>
                  <p:par>
                    <p:cTn id="68" fill="hold">
                      <p:stCondLst>
                        <p:cond delay="70"/>
                      </p:stCondLst>
                      <p:childTnLst>
                        <p:par>
                          <p:cTn id="69" presetID="10" presetClass="entr" presetSubtype="0" fill="hold" grpId="17"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350"/>
                                  <p:tgtEl>
                                    <p:spTgt spid="28"/>
                                  </p:tgtEl>
                                </p:cBhvr>
                              </p:animEffect>
                            </p:childTnLst>
                          </p:cTn>
                        </p:par>
                        <p:par>
                          <p:cTn id="72" presetID="10" presetClass="entr" presetSubtype="0" fill="hold" grpId="18"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350"/>
                                  <p:tgtEl>
                                    <p:spTgt spid="29"/>
                                  </p:tgtEl>
                                </p:cBhvr>
                              </p:animEffect>
                            </p:childTnLst>
                          </p:cTn>
                        </p:par>
                      </p:childTnLst>
                    </p:cTn>
                  </p:par>
                  <p:par>
                    <p:cTn id="75" fill="hold">
                      <p:stCondLst>
                        <p:cond delay="70"/>
                      </p:stCondLst>
                      <p:childTnLst>
                        <p:par>
                          <p:cTn id="76" presetID="10" presetClass="entr" presetSubtype="0" fill="hold" grpId="19" nodeType="after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350"/>
                                  <p:tgtEl>
                                    <p:spTgt spid="31"/>
                                  </p:tgtEl>
                                </p:cBhvr>
                              </p:animEffect>
                            </p:childTnLst>
                          </p:cTn>
                        </p:par>
                        <p:par>
                          <p:cTn id="79" presetID="10" presetClass="entr" presetSubtype="0" fill="hold" grpId="2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35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9" grpId="4" animBg="1"/>
      <p:bldP spid="10" grpId="5" animBg="1"/>
      <p:bldP spid="12" grpId="6" animBg="1"/>
      <p:bldP spid="13" grpId="7" animBg="1"/>
      <p:bldP spid="14" grpId="8" animBg="1"/>
      <p:bldP spid="16" grpId="9" animBg="1"/>
      <p:bldP spid="17" grpId="10" animBg="1"/>
      <p:bldP spid="19" grpId="11" animBg="1"/>
      <p:bldP spid="20" grpId="12" animBg="1"/>
      <p:bldP spid="22" grpId="13" animBg="1"/>
      <p:bldP spid="23" grpId="14" animBg="1"/>
      <p:bldP spid="25" grpId="15" animBg="1"/>
      <p:bldP spid="26" grpId="16" animBg="1"/>
      <p:bldP spid="28" grpId="17" animBg="1"/>
      <p:bldP spid="29" grpId="18" animBg="1"/>
      <p:bldP spid="31" grpId="19" animBg="1"/>
      <p:bldP spid="32" grpId="2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Bilan de puissance : application numérique</a:t>
            </a:r>
            <a:endParaRPr lang="en-US" sz="3100" dirty="0"/>
          </a:p>
        </p:txBody>
      </p:sp>
      <p:sp>
        <p:nvSpPr>
          <p:cNvPr id="4" name="Shape 2"/>
          <p:cNvSpPr/>
          <p:nvPr/>
        </p:nvSpPr>
        <p:spPr>
          <a:xfrm>
            <a:off x="685800" y="1874520"/>
            <a:ext cx="2679192" cy="1234440"/>
          </a:xfrm>
          <a:prstGeom prst="roundRect">
            <a:avLst>
              <a:gd name="adj" fmla="val 11852"/>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2020824"/>
            <a:ext cx="64008" cy="941832"/>
          </a:xfrm>
          <a:prstGeom prst="rect">
            <a:avLst/>
          </a:prstGeom>
          <a:solidFill>
            <a:srgbClr val="6D28D9"/>
          </a:solidFill>
          <a:ln/>
        </p:spPr>
        <p:txBody>
          <a:bodyPr/>
          <a:lstStyle/>
          <a:p>
            <a:endParaRPr lang="fr-FR"/>
          </a:p>
        </p:txBody>
      </p:sp>
      <p:sp>
        <p:nvSpPr>
          <p:cNvPr id="6" name="anim__3__afterprev__fade__whole"/>
          <p:cNvSpPr/>
          <p:nvPr/>
        </p:nvSpPr>
        <p:spPr>
          <a:xfrm>
            <a:off x="868680" y="2057400"/>
            <a:ext cx="2313432" cy="502920"/>
          </a:xfrm>
          <a:prstGeom prst="rect">
            <a:avLst/>
          </a:prstGeom>
          <a:noFill/>
          <a:ln/>
        </p:spPr>
        <p:txBody>
          <a:bodyPr wrap="square" lIns="0" tIns="0" rIns="0" bIns="0" rtlCol="0" anchor="ctr"/>
          <a:lstStyle/>
          <a:p>
            <a:pPr marL="0" indent="0">
              <a:buNone/>
            </a:pPr>
            <a:r>
              <a:rPr lang="en-US" sz="2440" b="1" dirty="0">
                <a:solidFill>
                  <a:srgbClr val="6D28D9"/>
                </a:solidFill>
                <a:latin typeface="Segoe UI Black" pitchFamily="34" charset="0"/>
                <a:ea typeface="Segoe UI Black" pitchFamily="34" charset="-122"/>
                <a:cs typeface="Segoe UI Black" pitchFamily="34" charset="-120"/>
              </a:rPr>
              <a:t>+3 / −28 dBm</a:t>
            </a:r>
            <a:endParaRPr lang="en-US" sz="2440" dirty="0"/>
          </a:p>
        </p:txBody>
      </p:sp>
      <p:sp>
        <p:nvSpPr>
          <p:cNvPr id="7" name="anim__4__withprev__fade__whole"/>
          <p:cNvSpPr/>
          <p:nvPr/>
        </p:nvSpPr>
        <p:spPr>
          <a:xfrm>
            <a:off x="868680" y="2587752"/>
            <a:ext cx="2313432" cy="457200"/>
          </a:xfrm>
          <a:prstGeom prst="rect">
            <a:avLst/>
          </a:prstGeom>
          <a:noFill/>
          <a:ln/>
        </p:spPr>
        <p:txBody>
          <a:bodyPr wrap="square" lIns="0" tIns="0" rIns="0" bIns="0" rtlCol="0" anchor="ctr"/>
          <a:lstStyle/>
          <a:p>
            <a:pPr marL="0" indent="0">
              <a:lnSpc>
                <a:spcPct val="105000"/>
              </a:lnSpc>
              <a:buNone/>
            </a:pPr>
            <a:r>
              <a:rPr lang="en-US" sz="1220" dirty="0">
                <a:solidFill>
                  <a:srgbClr val="847FA6"/>
                </a:solidFill>
                <a:latin typeface="Segoe UI" pitchFamily="34" charset="0"/>
                <a:ea typeface="Segoe UI" pitchFamily="34" charset="-122"/>
                <a:cs typeface="Segoe UI" pitchFamily="34" charset="-120"/>
              </a:rPr>
              <a:t>Pé (laser DFB) / Pr min (PIN)</a:t>
            </a:r>
            <a:endParaRPr lang="en-US" sz="1220" dirty="0"/>
          </a:p>
        </p:txBody>
      </p:sp>
      <p:sp>
        <p:nvSpPr>
          <p:cNvPr id="8" name="Shape 6"/>
          <p:cNvSpPr/>
          <p:nvPr/>
        </p:nvSpPr>
        <p:spPr>
          <a:xfrm>
            <a:off x="3511296" y="1874520"/>
            <a:ext cx="2679192" cy="1234440"/>
          </a:xfrm>
          <a:prstGeom prst="roundRect">
            <a:avLst>
              <a:gd name="adj" fmla="val 11852"/>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9" name="Shape 7"/>
          <p:cNvSpPr/>
          <p:nvPr/>
        </p:nvSpPr>
        <p:spPr>
          <a:xfrm>
            <a:off x="3511296" y="2020824"/>
            <a:ext cx="64008" cy="941832"/>
          </a:xfrm>
          <a:prstGeom prst="rect">
            <a:avLst/>
          </a:prstGeom>
          <a:solidFill>
            <a:srgbClr val="DB2777"/>
          </a:solidFill>
          <a:ln/>
        </p:spPr>
        <p:txBody>
          <a:bodyPr/>
          <a:lstStyle/>
          <a:p>
            <a:endParaRPr lang="fr-FR"/>
          </a:p>
        </p:txBody>
      </p:sp>
      <p:sp>
        <p:nvSpPr>
          <p:cNvPr id="10" name="anim__5__afterprev__fade__whole"/>
          <p:cNvSpPr/>
          <p:nvPr/>
        </p:nvSpPr>
        <p:spPr>
          <a:xfrm>
            <a:off x="3694176" y="2057400"/>
            <a:ext cx="2313432" cy="502920"/>
          </a:xfrm>
          <a:prstGeom prst="rect">
            <a:avLst/>
          </a:prstGeom>
          <a:noFill/>
          <a:ln/>
        </p:spPr>
        <p:txBody>
          <a:bodyPr wrap="square" lIns="0" tIns="0" rIns="0" bIns="0" rtlCol="0" anchor="ctr"/>
          <a:lstStyle/>
          <a:p>
            <a:pPr marL="0" indent="0">
              <a:buNone/>
            </a:pPr>
            <a:r>
              <a:rPr lang="en-US" sz="2440" b="1" dirty="0">
                <a:solidFill>
                  <a:srgbClr val="DB2777"/>
                </a:solidFill>
                <a:latin typeface="Segoe UI Black" pitchFamily="34" charset="0"/>
                <a:ea typeface="Segoe UI Black" pitchFamily="34" charset="-122"/>
                <a:cs typeface="Segoe UI Black" pitchFamily="34" charset="-120"/>
              </a:rPr>
              <a:t>31 dB</a:t>
            </a:r>
            <a:endParaRPr lang="en-US" sz="2440" dirty="0"/>
          </a:p>
        </p:txBody>
      </p:sp>
      <p:sp>
        <p:nvSpPr>
          <p:cNvPr id="11" name="anim__6__withprev__fade__whole"/>
          <p:cNvSpPr/>
          <p:nvPr/>
        </p:nvSpPr>
        <p:spPr>
          <a:xfrm>
            <a:off x="3694176" y="2587752"/>
            <a:ext cx="2313432" cy="457200"/>
          </a:xfrm>
          <a:prstGeom prst="rect">
            <a:avLst/>
          </a:prstGeom>
          <a:noFill/>
          <a:ln/>
        </p:spPr>
        <p:txBody>
          <a:bodyPr wrap="square" lIns="0" tIns="0" rIns="0" bIns="0" rtlCol="0" anchor="ctr"/>
          <a:lstStyle/>
          <a:p>
            <a:pPr marL="0" indent="0">
              <a:lnSpc>
                <a:spcPct val="105000"/>
              </a:lnSpc>
              <a:buNone/>
            </a:pPr>
            <a:r>
              <a:rPr lang="en-US" sz="1220" dirty="0">
                <a:solidFill>
                  <a:srgbClr val="847FA6"/>
                </a:solidFill>
                <a:latin typeface="Segoe UI" pitchFamily="34" charset="0"/>
                <a:ea typeface="Segoe UI" pitchFamily="34" charset="-122"/>
                <a:cs typeface="Segoe UI" pitchFamily="34" charset="-120"/>
              </a:rPr>
              <a:t>Budget de liaison</a:t>
            </a:r>
            <a:endParaRPr lang="en-US" sz="1220" dirty="0"/>
          </a:p>
        </p:txBody>
      </p:sp>
      <p:sp>
        <p:nvSpPr>
          <p:cNvPr id="12" name="Shape 10"/>
          <p:cNvSpPr/>
          <p:nvPr/>
        </p:nvSpPr>
        <p:spPr>
          <a:xfrm>
            <a:off x="6336792" y="1874520"/>
            <a:ext cx="2679192" cy="1234440"/>
          </a:xfrm>
          <a:prstGeom prst="roundRect">
            <a:avLst>
              <a:gd name="adj" fmla="val 11852"/>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3" name="Shape 11"/>
          <p:cNvSpPr/>
          <p:nvPr/>
        </p:nvSpPr>
        <p:spPr>
          <a:xfrm>
            <a:off x="6336792" y="2020824"/>
            <a:ext cx="64008" cy="941832"/>
          </a:xfrm>
          <a:prstGeom prst="rect">
            <a:avLst/>
          </a:prstGeom>
          <a:solidFill>
            <a:srgbClr val="DB2777"/>
          </a:solidFill>
          <a:ln/>
        </p:spPr>
        <p:txBody>
          <a:bodyPr/>
          <a:lstStyle/>
          <a:p>
            <a:endParaRPr lang="fr-FR"/>
          </a:p>
        </p:txBody>
      </p:sp>
      <p:sp>
        <p:nvSpPr>
          <p:cNvPr id="14" name="anim__7__afterprev__fade__whole"/>
          <p:cNvSpPr/>
          <p:nvPr/>
        </p:nvSpPr>
        <p:spPr>
          <a:xfrm>
            <a:off x="6519672" y="2057400"/>
            <a:ext cx="2313432" cy="502920"/>
          </a:xfrm>
          <a:prstGeom prst="rect">
            <a:avLst/>
          </a:prstGeom>
          <a:noFill/>
          <a:ln/>
        </p:spPr>
        <p:txBody>
          <a:bodyPr wrap="square" lIns="0" tIns="0" rIns="0" bIns="0" rtlCol="0" anchor="ctr"/>
          <a:lstStyle/>
          <a:p>
            <a:pPr marL="0" indent="0">
              <a:buNone/>
            </a:pPr>
            <a:r>
              <a:rPr lang="en-US" sz="2440" b="1" dirty="0">
                <a:solidFill>
                  <a:srgbClr val="DB2777"/>
                </a:solidFill>
                <a:latin typeface="Segoe UI Black" pitchFamily="34" charset="0"/>
                <a:ea typeface="Segoe UI Black" pitchFamily="34" charset="-122"/>
                <a:cs typeface="Segoe UI Black" pitchFamily="34" charset="-120"/>
              </a:rPr>
              <a:t>4,2 dB</a:t>
            </a:r>
            <a:endParaRPr lang="en-US" sz="2440" dirty="0"/>
          </a:p>
        </p:txBody>
      </p:sp>
      <p:sp>
        <p:nvSpPr>
          <p:cNvPr id="15" name="anim__8__withprev__fade__whole"/>
          <p:cNvSpPr/>
          <p:nvPr/>
        </p:nvSpPr>
        <p:spPr>
          <a:xfrm>
            <a:off x="6519672" y="2587752"/>
            <a:ext cx="2313432" cy="457200"/>
          </a:xfrm>
          <a:prstGeom prst="rect">
            <a:avLst/>
          </a:prstGeom>
          <a:noFill/>
          <a:ln/>
        </p:spPr>
        <p:txBody>
          <a:bodyPr wrap="square" lIns="0" tIns="0" rIns="0" bIns="0" rtlCol="0" anchor="ctr"/>
          <a:lstStyle/>
          <a:p>
            <a:pPr marL="0" indent="0">
              <a:lnSpc>
                <a:spcPct val="105000"/>
              </a:lnSpc>
              <a:buNone/>
            </a:pPr>
            <a:r>
              <a:rPr lang="en-US" sz="1220" dirty="0">
                <a:solidFill>
                  <a:srgbClr val="847FA6"/>
                </a:solidFill>
                <a:latin typeface="Segoe UI" pitchFamily="34" charset="0"/>
                <a:ea typeface="Segoe UI" pitchFamily="34" charset="-122"/>
                <a:cs typeface="Segoe UI" pitchFamily="34" charset="-120"/>
              </a:rPr>
              <a:t>Pertes fixes (connecteurs + marge)</a:t>
            </a:r>
            <a:endParaRPr lang="en-US" sz="1220" dirty="0"/>
          </a:p>
        </p:txBody>
      </p:sp>
      <p:sp>
        <p:nvSpPr>
          <p:cNvPr id="16" name="Shape 14"/>
          <p:cNvSpPr/>
          <p:nvPr/>
        </p:nvSpPr>
        <p:spPr>
          <a:xfrm>
            <a:off x="9162288" y="1874520"/>
            <a:ext cx="2679192" cy="1234440"/>
          </a:xfrm>
          <a:prstGeom prst="roundRect">
            <a:avLst>
              <a:gd name="adj" fmla="val 11852"/>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7" name="Shape 15"/>
          <p:cNvSpPr/>
          <p:nvPr/>
        </p:nvSpPr>
        <p:spPr>
          <a:xfrm>
            <a:off x="9162288" y="2020824"/>
            <a:ext cx="64008" cy="941832"/>
          </a:xfrm>
          <a:prstGeom prst="rect">
            <a:avLst/>
          </a:prstGeom>
          <a:solidFill>
            <a:srgbClr val="6D28D9"/>
          </a:solidFill>
          <a:ln/>
        </p:spPr>
        <p:txBody>
          <a:bodyPr/>
          <a:lstStyle/>
          <a:p>
            <a:endParaRPr lang="fr-FR"/>
          </a:p>
        </p:txBody>
      </p:sp>
      <p:sp>
        <p:nvSpPr>
          <p:cNvPr id="18" name="anim__9__afterprev__fade__whole"/>
          <p:cNvSpPr/>
          <p:nvPr/>
        </p:nvSpPr>
        <p:spPr>
          <a:xfrm>
            <a:off x="9345168" y="2057400"/>
            <a:ext cx="2313432" cy="502920"/>
          </a:xfrm>
          <a:prstGeom prst="rect">
            <a:avLst/>
          </a:prstGeom>
          <a:noFill/>
          <a:ln/>
        </p:spPr>
        <p:txBody>
          <a:bodyPr wrap="square" lIns="0" tIns="0" rIns="0" bIns="0" rtlCol="0" anchor="ctr"/>
          <a:lstStyle/>
          <a:p>
            <a:pPr marL="0" indent="0">
              <a:buNone/>
            </a:pPr>
            <a:r>
              <a:rPr lang="en-US" sz="2440" b="1" dirty="0">
                <a:solidFill>
                  <a:srgbClr val="6D28D9"/>
                </a:solidFill>
                <a:latin typeface="Segoe UI Black" pitchFamily="34" charset="0"/>
                <a:ea typeface="Segoe UI Black" pitchFamily="34" charset="-122"/>
                <a:cs typeface="Segoe UI Black" pitchFamily="34" charset="-120"/>
              </a:rPr>
              <a:t>0,2125 dB/km</a:t>
            </a:r>
            <a:endParaRPr lang="en-US" sz="2440" dirty="0"/>
          </a:p>
        </p:txBody>
      </p:sp>
      <p:sp>
        <p:nvSpPr>
          <p:cNvPr id="19" name="anim__10__withprev__fade__whole"/>
          <p:cNvSpPr/>
          <p:nvPr/>
        </p:nvSpPr>
        <p:spPr>
          <a:xfrm>
            <a:off x="9345168" y="2587752"/>
            <a:ext cx="2313432" cy="457200"/>
          </a:xfrm>
          <a:prstGeom prst="rect">
            <a:avLst/>
          </a:prstGeom>
          <a:noFill/>
          <a:ln/>
        </p:spPr>
        <p:txBody>
          <a:bodyPr wrap="square" lIns="0" tIns="0" rIns="0" bIns="0" rtlCol="0" anchor="ctr"/>
          <a:lstStyle/>
          <a:p>
            <a:pPr marL="0" indent="0">
              <a:lnSpc>
                <a:spcPct val="105000"/>
              </a:lnSpc>
              <a:buNone/>
            </a:pPr>
            <a:r>
              <a:rPr lang="en-US" sz="1220" dirty="0">
                <a:solidFill>
                  <a:srgbClr val="847FA6"/>
                </a:solidFill>
                <a:latin typeface="Segoe UI" pitchFamily="34" charset="0"/>
                <a:ea typeface="Segoe UI" pitchFamily="34" charset="-122"/>
                <a:cs typeface="Segoe UI" pitchFamily="34" charset="-120"/>
              </a:rPr>
              <a:t>Atténuation effective αeff</a:t>
            </a:r>
            <a:endParaRPr lang="en-US" sz="1220" dirty="0"/>
          </a:p>
        </p:txBody>
      </p:sp>
      <p:sp>
        <p:nvSpPr>
          <p:cNvPr id="20" name="Shape 18"/>
          <p:cNvSpPr/>
          <p:nvPr/>
        </p:nvSpPr>
        <p:spPr>
          <a:xfrm>
            <a:off x="685800" y="3337560"/>
            <a:ext cx="10820095" cy="1234440"/>
          </a:xfrm>
          <a:prstGeom prst="roundRect">
            <a:avLst>
              <a:gd name="adj" fmla="val 11852"/>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1" name="anim__11__afterprev__fade__whole"/>
          <p:cNvSpPr/>
          <p:nvPr/>
        </p:nvSpPr>
        <p:spPr>
          <a:xfrm>
            <a:off x="960120" y="3474720"/>
            <a:ext cx="5486400" cy="274320"/>
          </a:xfrm>
          <a:prstGeom prst="rect">
            <a:avLst/>
          </a:prstGeom>
          <a:noFill/>
          <a:ln/>
        </p:spPr>
        <p:txBody>
          <a:bodyPr wrap="square" lIns="0" tIns="0" rIns="0" bIns="0" rtlCol="0" anchor="ctr"/>
          <a:lstStyle/>
          <a:p>
            <a:pPr marL="0" indent="0">
              <a:buNone/>
            </a:pPr>
            <a:r>
              <a:rPr lang="en-US" sz="1330" b="1" kern="0" spc="150" dirty="0">
                <a:solidFill>
                  <a:srgbClr val="6D28D9"/>
                </a:solidFill>
                <a:latin typeface="Segoe UI Semibold" pitchFamily="34" charset="0"/>
                <a:ea typeface="Segoe UI Semibold" pitchFamily="34" charset="-122"/>
                <a:cs typeface="Segoe UI Semibold" pitchFamily="34" charset="-120"/>
              </a:rPr>
              <a:t>RÉPARTITION DU BUDGET (31 DB)</a:t>
            </a:r>
            <a:endParaRPr lang="en-US" sz="1330" dirty="0"/>
          </a:p>
        </p:txBody>
      </p:sp>
      <p:sp>
        <p:nvSpPr>
          <p:cNvPr id="22" name="anim__12__afterprev__fade__whole"/>
          <p:cNvSpPr/>
          <p:nvPr/>
        </p:nvSpPr>
        <p:spPr>
          <a:xfrm>
            <a:off x="960120" y="3886200"/>
            <a:ext cx="8879839" cy="457200"/>
          </a:xfrm>
          <a:prstGeom prst="rect">
            <a:avLst/>
          </a:prstGeom>
          <a:solidFill>
            <a:srgbClr val="6D28D9"/>
          </a:solidFill>
          <a:ln/>
        </p:spPr>
        <p:txBody>
          <a:bodyPr/>
          <a:lstStyle/>
          <a:p>
            <a:endParaRPr lang="fr-FR"/>
          </a:p>
        </p:txBody>
      </p:sp>
      <p:sp>
        <p:nvSpPr>
          <p:cNvPr id="23" name="anim__13__withprev__fade__whole"/>
          <p:cNvSpPr/>
          <p:nvPr/>
        </p:nvSpPr>
        <p:spPr>
          <a:xfrm>
            <a:off x="9839959" y="3886200"/>
            <a:ext cx="1391617" cy="457200"/>
          </a:xfrm>
          <a:prstGeom prst="rect">
            <a:avLst/>
          </a:prstGeom>
          <a:solidFill>
            <a:srgbClr val="DB2777"/>
          </a:solidFill>
          <a:ln/>
        </p:spPr>
        <p:txBody>
          <a:bodyPr/>
          <a:lstStyle/>
          <a:p>
            <a:endParaRPr lang="fr-FR"/>
          </a:p>
        </p:txBody>
      </p:sp>
      <p:sp>
        <p:nvSpPr>
          <p:cNvPr id="24" name="anim__14__withprev__fade__whole"/>
          <p:cNvSpPr/>
          <p:nvPr/>
        </p:nvSpPr>
        <p:spPr>
          <a:xfrm>
            <a:off x="1051560" y="3886200"/>
            <a:ext cx="8696959" cy="45720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Propagation dans la fibre = 26,8 dB</a:t>
            </a:r>
            <a:endParaRPr lang="en-US" sz="1450" dirty="0"/>
          </a:p>
        </p:txBody>
      </p:sp>
      <p:sp>
        <p:nvSpPr>
          <p:cNvPr id="25" name="anim__15__withprev__fade__whole"/>
          <p:cNvSpPr/>
          <p:nvPr/>
        </p:nvSpPr>
        <p:spPr>
          <a:xfrm>
            <a:off x="8376919" y="4389120"/>
            <a:ext cx="3037537" cy="274320"/>
          </a:xfrm>
          <a:prstGeom prst="rect">
            <a:avLst/>
          </a:prstGeom>
          <a:noFill/>
          <a:ln/>
        </p:spPr>
        <p:txBody>
          <a:bodyPr wrap="square" lIns="0" tIns="0" rIns="0" bIns="0" rtlCol="0" anchor="ctr"/>
          <a:lstStyle/>
          <a:p>
            <a:pPr marL="0" indent="0" algn="r">
              <a:buNone/>
            </a:pPr>
            <a:r>
              <a:rPr lang="en-US" sz="1220" dirty="0">
                <a:solidFill>
                  <a:srgbClr val="DB2777"/>
                </a:solidFill>
                <a:latin typeface="Segoe UI" pitchFamily="34" charset="0"/>
                <a:ea typeface="Segoe UI" pitchFamily="34" charset="-122"/>
                <a:cs typeface="Segoe UI" pitchFamily="34" charset="-120"/>
              </a:rPr>
              <a:t>Pertes fixes 4,2 dB</a:t>
            </a:r>
            <a:endParaRPr lang="en-US" sz="1220" dirty="0"/>
          </a:p>
        </p:txBody>
      </p:sp>
      <p:sp>
        <p:nvSpPr>
          <p:cNvPr id="26" name="Shape 24"/>
          <p:cNvSpPr/>
          <p:nvPr/>
        </p:nvSpPr>
        <p:spPr>
          <a:xfrm>
            <a:off x="685800" y="4800600"/>
            <a:ext cx="10820095" cy="1143000"/>
          </a:xfrm>
          <a:prstGeom prst="roundRect">
            <a:avLst>
              <a:gd name="adj" fmla="val 12800"/>
            </a:avLst>
          </a:prstGeom>
          <a:solidFill>
            <a:srgbClr val="FFFFFF"/>
          </a:solidFill>
          <a:ln w="12700">
            <a:solidFill>
              <a:srgbClr val="6D28D9"/>
            </a:solidFill>
            <a:prstDash val="solid"/>
          </a:ln>
          <a:effectLst>
            <a:outerShdw blurRad="127000" dist="50800" dir="5400000" algn="bl" rotWithShape="0">
              <a:srgbClr val="1A2A3A">
                <a:alpha val="14000"/>
              </a:srgbClr>
            </a:outerShdw>
          </a:effectLst>
        </p:spPr>
        <p:txBody>
          <a:bodyPr/>
          <a:lstStyle/>
          <a:p>
            <a:endParaRPr lang="fr-FR"/>
          </a:p>
        </p:txBody>
      </p:sp>
      <p:sp>
        <p:nvSpPr>
          <p:cNvPr id="27" name="anim__16__afterprev__fade__whole"/>
          <p:cNvSpPr/>
          <p:nvPr/>
        </p:nvSpPr>
        <p:spPr>
          <a:xfrm>
            <a:off x="1005840" y="4983480"/>
            <a:ext cx="6583680" cy="457200"/>
          </a:xfrm>
          <a:prstGeom prst="rect">
            <a:avLst/>
          </a:prstGeom>
          <a:noFill/>
          <a:ln/>
        </p:spPr>
        <p:txBody>
          <a:bodyPr wrap="square" lIns="0" tIns="0" rIns="0" bIns="0" rtlCol="0" anchor="ctr"/>
          <a:lstStyle/>
          <a:p>
            <a:pPr marL="0" indent="0">
              <a:buNone/>
            </a:pPr>
            <a:r>
              <a:rPr lang="en-US" sz="1680" dirty="0">
                <a:solidFill>
                  <a:srgbClr val="3F3D56"/>
                </a:solidFill>
                <a:latin typeface="Consolas" pitchFamily="34" charset="0"/>
                <a:ea typeface="Consolas" pitchFamily="34" charset="-122"/>
                <a:cs typeface="Consolas" pitchFamily="34" charset="-120"/>
              </a:rPr>
              <a:t>L att = Budget propagation / αeff = 26,8 / 0,2125</a:t>
            </a:r>
            <a:endParaRPr lang="en-US" sz="1680" dirty="0"/>
          </a:p>
        </p:txBody>
      </p:sp>
      <p:sp>
        <p:nvSpPr>
          <p:cNvPr id="28" name="anim__17__afterprev__fade__whole"/>
          <p:cNvSpPr/>
          <p:nvPr/>
        </p:nvSpPr>
        <p:spPr>
          <a:xfrm>
            <a:off x="1005840" y="5440680"/>
            <a:ext cx="6583680" cy="411480"/>
          </a:xfrm>
          <a:prstGeom prst="rect">
            <a:avLst/>
          </a:prstGeom>
          <a:noFill/>
          <a:ln/>
        </p:spPr>
        <p:txBody>
          <a:bodyPr wrap="square" lIns="0" tIns="0" rIns="0" bIns="0" rtlCol="0" anchor="ctr"/>
          <a:lstStyle/>
          <a:p>
            <a:pPr marL="0" indent="0">
              <a:buNone/>
            </a:pPr>
            <a:r>
              <a:rPr lang="en-US" sz="1450" i="1" dirty="0">
                <a:solidFill>
                  <a:srgbClr val="847FA6"/>
                </a:solidFill>
                <a:latin typeface="Segoe UI" pitchFamily="34" charset="0"/>
                <a:ea typeface="Segoe UI" pitchFamily="34" charset="-122"/>
                <a:cs typeface="Segoe UI" pitchFamily="34" charset="-120"/>
              </a:rPr>
              <a:t>Transmission à 10 Gbit/s sans amplificateur ni régénérateur sur cette distance.</a:t>
            </a:r>
            <a:endParaRPr lang="en-US" sz="1450" dirty="0"/>
          </a:p>
        </p:txBody>
      </p:sp>
      <p:sp>
        <p:nvSpPr>
          <p:cNvPr id="29" name="anim__18__afterprev__fade__whole"/>
          <p:cNvSpPr/>
          <p:nvPr/>
        </p:nvSpPr>
        <p:spPr>
          <a:xfrm>
            <a:off x="8229600" y="4937760"/>
            <a:ext cx="3017520" cy="868680"/>
          </a:xfrm>
          <a:prstGeom prst="rect">
            <a:avLst/>
          </a:prstGeom>
          <a:noFill/>
          <a:ln/>
        </p:spPr>
        <p:txBody>
          <a:bodyPr wrap="square" lIns="0" tIns="0" rIns="0" bIns="0" rtlCol="0" anchor="ctr"/>
          <a:lstStyle/>
          <a:p>
            <a:pPr marL="0" indent="0" algn="ctr">
              <a:buNone/>
            </a:pPr>
            <a:r>
              <a:rPr lang="en-US" sz="3800" b="1" dirty="0">
                <a:solidFill>
                  <a:srgbClr val="6D28D9"/>
                </a:solidFill>
                <a:latin typeface="Segoe UI Black" pitchFamily="34" charset="0"/>
                <a:ea typeface="Segoe UI Black" pitchFamily="34" charset="-122"/>
                <a:cs typeface="Segoe UI Black" pitchFamily="34" charset="-120"/>
              </a:rPr>
              <a:t>≈ 126 km</a:t>
            </a:r>
            <a:endParaRPr lang="en-US" sz="3800" dirty="0"/>
          </a:p>
        </p:txBody>
      </p:sp>
      <p:sp>
        <p:nvSpPr>
          <p:cNvPr id="30" name="Text 28"/>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1" name="Text 29"/>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12</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grpId="3"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par>
                    <p:cTn id="19" fill="hold">
                      <p:stCondLst>
                        <p:cond delay="70"/>
                      </p:stCondLst>
                      <p:childTnLst>
                        <p:par>
                          <p:cTn id="20" presetID="10" presetClass="entr" presetSubtype="0" fill="hold" grpId="4"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par>
                          <p:cTn id="23" presetID="10" presetClass="entr" presetSubtype="0" fill="hold" grpId="5"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350"/>
                                  <p:tgtEl>
                                    <p:spTgt spid="11"/>
                                  </p:tgtEl>
                                </p:cBhvr>
                              </p:animEffect>
                            </p:childTnLst>
                          </p:cTn>
                        </p:par>
                      </p:childTnLst>
                    </p:cTn>
                  </p:par>
                  <p:par>
                    <p:cTn id="26" fill="hold">
                      <p:stCondLst>
                        <p:cond delay="70"/>
                      </p:stCondLst>
                      <p:childTnLst>
                        <p:par>
                          <p:cTn id="27" presetID="10" presetClass="entr" presetSubtype="0" fill="hold" grpId="6"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par>
                          <p:cTn id="30" presetID="10" presetClass="entr" presetSubtype="0" fill="hold" grpId="7"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50"/>
                                  <p:tgtEl>
                                    <p:spTgt spid="15"/>
                                  </p:tgtEl>
                                </p:cBhvr>
                              </p:animEffect>
                            </p:childTnLst>
                          </p:cTn>
                        </p:par>
                      </p:childTnLst>
                    </p:cTn>
                  </p:par>
                  <p:par>
                    <p:cTn id="33" fill="hold">
                      <p:stCondLst>
                        <p:cond delay="70"/>
                      </p:stCondLst>
                      <p:childTnLst>
                        <p:par>
                          <p:cTn id="34" presetID="10" presetClass="entr" presetSubtype="0" fill="hold" grpId="8"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350"/>
                                  <p:tgtEl>
                                    <p:spTgt spid="18"/>
                                  </p:tgtEl>
                                </p:cBhvr>
                              </p:animEffect>
                            </p:childTnLst>
                          </p:cTn>
                        </p:par>
                        <p:par>
                          <p:cTn id="37" presetID="10" presetClass="entr" presetSubtype="0" fill="hold" grpId="9"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350"/>
                                  <p:tgtEl>
                                    <p:spTgt spid="19"/>
                                  </p:tgtEl>
                                </p:cBhvr>
                              </p:animEffect>
                            </p:childTnLst>
                          </p:cTn>
                        </p:par>
                      </p:childTnLst>
                    </p:cTn>
                  </p:par>
                  <p:par>
                    <p:cTn id="40" fill="hold">
                      <p:stCondLst>
                        <p:cond delay="70"/>
                      </p:stCondLst>
                      <p:childTnLst>
                        <p:par>
                          <p:cTn id="41" presetID="10" presetClass="entr" presetSubtype="0" fill="hold" grpId="1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350"/>
                                  <p:tgtEl>
                                    <p:spTgt spid="21"/>
                                  </p:tgtEl>
                                </p:cBhvr>
                              </p:animEffect>
                            </p:childTnLst>
                          </p:cTn>
                        </p:par>
                      </p:childTnLst>
                    </p:cTn>
                  </p:par>
                  <p:par>
                    <p:cTn id="44" fill="hold">
                      <p:stCondLst>
                        <p:cond delay="70"/>
                      </p:stCondLst>
                      <p:childTnLst>
                        <p:par>
                          <p:cTn id="45" presetID="10" presetClass="entr" presetSubtype="0" fill="hold" grpId="11"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350"/>
                                  <p:tgtEl>
                                    <p:spTgt spid="22"/>
                                  </p:tgtEl>
                                </p:cBhvr>
                              </p:animEffect>
                            </p:childTnLst>
                          </p:cTn>
                        </p:par>
                        <p:par>
                          <p:cTn id="48" presetID="10" presetClass="entr" presetSubtype="0" fill="hold" grpId="12"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350"/>
                                  <p:tgtEl>
                                    <p:spTgt spid="23"/>
                                  </p:tgtEl>
                                </p:cBhvr>
                              </p:animEffect>
                            </p:childTnLst>
                          </p:cTn>
                        </p:par>
                        <p:par>
                          <p:cTn id="51" presetID="10" presetClass="entr" presetSubtype="0" fill="hold" grpId="13"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350"/>
                                  <p:tgtEl>
                                    <p:spTgt spid="24"/>
                                  </p:tgtEl>
                                </p:cBhvr>
                              </p:animEffect>
                            </p:childTnLst>
                          </p:cTn>
                        </p:par>
                        <p:par>
                          <p:cTn id="54" presetID="10" presetClass="entr" presetSubtype="0" fill="hold" grpId="14"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350"/>
                                  <p:tgtEl>
                                    <p:spTgt spid="25"/>
                                  </p:tgtEl>
                                </p:cBhvr>
                              </p:animEffect>
                            </p:childTnLst>
                          </p:cTn>
                        </p:par>
                      </p:childTnLst>
                    </p:cTn>
                  </p:par>
                  <p:par>
                    <p:cTn id="57" fill="hold">
                      <p:stCondLst>
                        <p:cond delay="70"/>
                      </p:stCondLst>
                      <p:childTnLst>
                        <p:par>
                          <p:cTn id="58" presetID="10" presetClass="entr" presetSubtype="0" fill="hold" grpId="15"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350"/>
                                  <p:tgtEl>
                                    <p:spTgt spid="27"/>
                                  </p:tgtEl>
                                </p:cBhvr>
                              </p:animEffect>
                            </p:childTnLst>
                          </p:cTn>
                        </p:par>
                      </p:childTnLst>
                    </p:cTn>
                  </p:par>
                  <p:par>
                    <p:cTn id="61" fill="hold">
                      <p:stCondLst>
                        <p:cond delay="70"/>
                      </p:stCondLst>
                      <p:childTnLst>
                        <p:par>
                          <p:cTn id="62" presetID="10" presetClass="entr" presetSubtype="0" fill="hold" grpId="16" nodeType="after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350"/>
                                  <p:tgtEl>
                                    <p:spTgt spid="28"/>
                                  </p:tgtEl>
                                </p:cBhvr>
                              </p:animEffect>
                            </p:childTnLst>
                          </p:cTn>
                        </p:par>
                      </p:childTnLst>
                    </p:cTn>
                  </p:par>
                  <p:par>
                    <p:cTn id="65" fill="hold">
                      <p:stCondLst>
                        <p:cond delay="70"/>
                      </p:stCondLst>
                      <p:childTnLst>
                        <p:par>
                          <p:cTn id="66" presetID="10" presetClass="entr" presetSubtype="0" fill="hold" grpId="17" nodeType="after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10" grpId="4" animBg="1"/>
      <p:bldP spid="11" grpId="5" animBg="1"/>
      <p:bldP spid="14" grpId="6" animBg="1"/>
      <p:bldP spid="15" grpId="7" animBg="1"/>
      <p:bldP spid="18" grpId="8" animBg="1"/>
      <p:bldP spid="19" grpId="9" animBg="1"/>
      <p:bldP spid="21" grpId="10" animBg="1"/>
      <p:bldP spid="22" grpId="11" animBg="1"/>
      <p:bldP spid="23" grpId="12" animBg="1"/>
      <p:bldP spid="24" grpId="13" animBg="1"/>
      <p:bldP spid="25" grpId="14" animBg="1"/>
      <p:bldP spid="27" grpId="15" animBg="1"/>
      <p:bldP spid="28" grpId="16" animBg="1"/>
      <p:bldP spid="29" grpId="17"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Bilan de dispersion : dispersion chromatique</a:t>
            </a:r>
            <a:endParaRPr lang="en-US" sz="3100" dirty="0"/>
          </a:p>
        </p:txBody>
      </p:sp>
      <p:sp>
        <p:nvSpPr>
          <p:cNvPr id="4" name="Shape 2"/>
          <p:cNvSpPr/>
          <p:nvPr/>
        </p:nvSpPr>
        <p:spPr>
          <a:xfrm>
            <a:off x="685800" y="1828800"/>
            <a:ext cx="5852160" cy="4114800"/>
          </a:xfrm>
          <a:prstGeom prst="roundRect">
            <a:avLst>
              <a:gd name="adj" fmla="val 35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3822192"/>
          </a:xfrm>
          <a:prstGeom prst="rect">
            <a:avLst/>
          </a:prstGeom>
          <a:solidFill>
            <a:srgbClr val="6D28D9"/>
          </a:solidFill>
          <a:ln/>
        </p:spPr>
        <p:txBody>
          <a:bodyPr/>
          <a:lstStyle/>
          <a:p>
            <a:endParaRPr lang="fr-FR"/>
          </a:p>
        </p:txBody>
      </p:sp>
      <p:sp>
        <p:nvSpPr>
          <p:cNvPr id="6" name="anim__3__afterprev__fade__whole"/>
          <p:cNvSpPr/>
          <p:nvPr/>
        </p:nvSpPr>
        <p:spPr>
          <a:xfrm>
            <a:off x="978408" y="2066544"/>
            <a:ext cx="5303520" cy="1143000"/>
          </a:xfrm>
          <a:prstGeom prst="rect">
            <a:avLst/>
          </a:prstGeom>
          <a:noFill/>
          <a:ln/>
        </p:spPr>
        <p:txBody>
          <a:bodyPr wrap="square" lIns="0" tIns="0" rIns="0" bIns="0" rtlCol="0" anchor="ctr"/>
          <a:lstStyle/>
          <a:p>
            <a:pPr marL="0" indent="0">
              <a:lnSpc>
                <a:spcPct val="118000"/>
              </a:lnSpc>
              <a:buNone/>
            </a:pPr>
            <a:r>
              <a:rPr lang="en-US" sz="1570" dirty="0">
                <a:solidFill>
                  <a:srgbClr val="3F3D56"/>
                </a:solidFill>
                <a:latin typeface="Segoe UI" pitchFamily="34" charset="0"/>
                <a:ea typeface="Segoe UI" pitchFamily="34" charset="-122"/>
                <a:cs typeface="Segoe UI" pitchFamily="34" charset="-120"/>
              </a:rPr>
              <a:t>La source laser n'est pas parfaitement monochromatique (largeur Δλ). Les composantes spectrales arrivent décalées → élargissement de l'impulsion et interférence entre symboles (ISI).</a:t>
            </a:r>
            <a:endParaRPr lang="en-US" sz="1570" dirty="0"/>
          </a:p>
        </p:txBody>
      </p:sp>
      <p:sp>
        <p:nvSpPr>
          <p:cNvPr id="7" name="anim__4__afterprev__fade__whole"/>
          <p:cNvSpPr/>
          <p:nvPr/>
        </p:nvSpPr>
        <p:spPr>
          <a:xfrm>
            <a:off x="978408" y="3291840"/>
            <a:ext cx="2788920" cy="502920"/>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Durée d'un bit (10 Gbit/s, NRZ)</a:t>
            </a:r>
            <a:endParaRPr lang="en-US" sz="1330" dirty="0"/>
          </a:p>
        </p:txBody>
      </p:sp>
      <p:sp>
        <p:nvSpPr>
          <p:cNvPr id="8" name="Shape 6"/>
          <p:cNvSpPr/>
          <p:nvPr/>
        </p:nvSpPr>
        <p:spPr>
          <a:xfrm>
            <a:off x="3794760" y="3319272"/>
            <a:ext cx="2514600" cy="457200"/>
          </a:xfrm>
          <a:prstGeom prst="roundRect">
            <a:avLst>
              <a:gd name="adj" fmla="val 10000"/>
            </a:avLst>
          </a:prstGeom>
          <a:solidFill>
            <a:srgbClr val="EFE9FF"/>
          </a:solidFill>
          <a:ln w="12700">
            <a:solidFill>
              <a:srgbClr val="E5DEF6"/>
            </a:solidFill>
            <a:prstDash val="solid"/>
          </a:ln>
        </p:spPr>
        <p:txBody>
          <a:bodyPr/>
          <a:lstStyle/>
          <a:p>
            <a:endParaRPr lang="fr-FR"/>
          </a:p>
        </p:txBody>
      </p:sp>
      <p:sp>
        <p:nvSpPr>
          <p:cNvPr id="9" name="anim__5__withprev__fade__whole"/>
          <p:cNvSpPr/>
          <p:nvPr/>
        </p:nvSpPr>
        <p:spPr>
          <a:xfrm>
            <a:off x="3794760" y="3319272"/>
            <a:ext cx="2514600" cy="457200"/>
          </a:xfrm>
          <a:prstGeom prst="rect">
            <a:avLst/>
          </a:prstGeom>
          <a:noFill/>
          <a:ln/>
        </p:spPr>
        <p:txBody>
          <a:bodyPr wrap="square" lIns="0" tIns="0" rIns="0" bIns="0" rtlCol="0" anchor="ctr"/>
          <a:lstStyle/>
          <a:p>
            <a:pPr marL="0" indent="0" algn="ctr">
              <a:buNone/>
            </a:pPr>
            <a:r>
              <a:rPr lang="en-US" sz="1450" b="1" dirty="0">
                <a:solidFill>
                  <a:srgbClr val="6D28D9"/>
                </a:solidFill>
                <a:latin typeface="Consolas" pitchFamily="34" charset="0"/>
                <a:ea typeface="Consolas" pitchFamily="34" charset="-122"/>
                <a:cs typeface="Consolas" pitchFamily="34" charset="-120"/>
              </a:rPr>
              <a:t>T = 1/B = 100 ps</a:t>
            </a:r>
            <a:endParaRPr lang="en-US" sz="1450" dirty="0"/>
          </a:p>
        </p:txBody>
      </p:sp>
      <p:sp>
        <p:nvSpPr>
          <p:cNvPr id="10" name="anim__6__afterprev__fade__whole"/>
          <p:cNvSpPr/>
          <p:nvPr/>
        </p:nvSpPr>
        <p:spPr>
          <a:xfrm>
            <a:off x="978408" y="3895344"/>
            <a:ext cx="2788920" cy="502920"/>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Critère admissible</a:t>
            </a:r>
            <a:endParaRPr lang="en-US" sz="1330" dirty="0"/>
          </a:p>
        </p:txBody>
      </p:sp>
      <p:sp>
        <p:nvSpPr>
          <p:cNvPr id="11" name="Shape 9"/>
          <p:cNvSpPr/>
          <p:nvPr/>
        </p:nvSpPr>
        <p:spPr>
          <a:xfrm>
            <a:off x="3794760" y="3922776"/>
            <a:ext cx="2514600" cy="457200"/>
          </a:xfrm>
          <a:prstGeom prst="roundRect">
            <a:avLst>
              <a:gd name="adj" fmla="val 10000"/>
            </a:avLst>
          </a:prstGeom>
          <a:solidFill>
            <a:srgbClr val="EFE9FF"/>
          </a:solidFill>
          <a:ln w="12700">
            <a:solidFill>
              <a:srgbClr val="E5DEF6"/>
            </a:solidFill>
            <a:prstDash val="solid"/>
          </a:ln>
        </p:spPr>
        <p:txBody>
          <a:bodyPr/>
          <a:lstStyle/>
          <a:p>
            <a:endParaRPr lang="fr-FR"/>
          </a:p>
        </p:txBody>
      </p:sp>
      <p:sp>
        <p:nvSpPr>
          <p:cNvPr id="12" name="anim__7__withprev__fade__whole"/>
          <p:cNvSpPr/>
          <p:nvPr/>
        </p:nvSpPr>
        <p:spPr>
          <a:xfrm>
            <a:off x="3794760" y="3922776"/>
            <a:ext cx="2514600" cy="457200"/>
          </a:xfrm>
          <a:prstGeom prst="rect">
            <a:avLst/>
          </a:prstGeom>
          <a:noFill/>
          <a:ln/>
        </p:spPr>
        <p:txBody>
          <a:bodyPr wrap="square" lIns="0" tIns="0" rIns="0" bIns="0" rtlCol="0" anchor="ctr"/>
          <a:lstStyle/>
          <a:p>
            <a:pPr marL="0" indent="0" algn="ctr">
              <a:buNone/>
            </a:pPr>
            <a:r>
              <a:rPr lang="en-US" sz="1450" b="1" dirty="0">
                <a:solidFill>
                  <a:srgbClr val="6D28D9"/>
                </a:solidFill>
                <a:latin typeface="Consolas" pitchFamily="34" charset="0"/>
                <a:ea typeface="Consolas" pitchFamily="34" charset="-122"/>
                <a:cs typeface="Consolas" pitchFamily="34" charset="-120"/>
              </a:rPr>
              <a:t>ΔT_CD ≤ T/4 = 25 ps</a:t>
            </a:r>
            <a:endParaRPr lang="en-US" sz="1450" dirty="0"/>
          </a:p>
        </p:txBody>
      </p:sp>
      <p:sp>
        <p:nvSpPr>
          <p:cNvPr id="13" name="anim__8__afterprev__fade__whole"/>
          <p:cNvSpPr/>
          <p:nvPr/>
        </p:nvSpPr>
        <p:spPr>
          <a:xfrm>
            <a:off x="978408" y="4498848"/>
            <a:ext cx="2788920" cy="502920"/>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Élargissement</a:t>
            </a:r>
            <a:endParaRPr lang="en-US" sz="1330" dirty="0"/>
          </a:p>
        </p:txBody>
      </p:sp>
      <p:sp>
        <p:nvSpPr>
          <p:cNvPr id="14" name="Shape 12"/>
          <p:cNvSpPr/>
          <p:nvPr/>
        </p:nvSpPr>
        <p:spPr>
          <a:xfrm>
            <a:off x="3794760" y="4526280"/>
            <a:ext cx="2514600" cy="457200"/>
          </a:xfrm>
          <a:prstGeom prst="roundRect">
            <a:avLst>
              <a:gd name="adj" fmla="val 10000"/>
            </a:avLst>
          </a:prstGeom>
          <a:solidFill>
            <a:srgbClr val="EFE9FF"/>
          </a:solidFill>
          <a:ln w="12700">
            <a:solidFill>
              <a:srgbClr val="E5DEF6"/>
            </a:solidFill>
            <a:prstDash val="solid"/>
          </a:ln>
        </p:spPr>
        <p:txBody>
          <a:bodyPr/>
          <a:lstStyle/>
          <a:p>
            <a:endParaRPr lang="fr-FR"/>
          </a:p>
        </p:txBody>
      </p:sp>
      <p:sp>
        <p:nvSpPr>
          <p:cNvPr id="15" name="anim__9__withprev__fade__whole"/>
          <p:cNvSpPr/>
          <p:nvPr/>
        </p:nvSpPr>
        <p:spPr>
          <a:xfrm>
            <a:off x="3794760" y="4526280"/>
            <a:ext cx="2514600" cy="457200"/>
          </a:xfrm>
          <a:prstGeom prst="rect">
            <a:avLst/>
          </a:prstGeom>
          <a:noFill/>
          <a:ln/>
        </p:spPr>
        <p:txBody>
          <a:bodyPr wrap="square" lIns="0" tIns="0" rIns="0" bIns="0" rtlCol="0" anchor="ctr"/>
          <a:lstStyle/>
          <a:p>
            <a:pPr marL="0" indent="0" algn="ctr">
              <a:buNone/>
            </a:pPr>
            <a:r>
              <a:rPr lang="en-US" sz="1450" b="1" dirty="0">
                <a:solidFill>
                  <a:srgbClr val="6D28D9"/>
                </a:solidFill>
                <a:latin typeface="Consolas" pitchFamily="34" charset="0"/>
                <a:ea typeface="Consolas" pitchFamily="34" charset="-122"/>
                <a:cs typeface="Consolas" pitchFamily="34" charset="-120"/>
              </a:rPr>
              <a:t>ΔT_CD = D · L · Δλ</a:t>
            </a:r>
            <a:endParaRPr lang="en-US" sz="1450" dirty="0"/>
          </a:p>
        </p:txBody>
      </p:sp>
      <p:sp>
        <p:nvSpPr>
          <p:cNvPr id="16" name="Shape 14"/>
          <p:cNvSpPr/>
          <p:nvPr/>
        </p:nvSpPr>
        <p:spPr>
          <a:xfrm>
            <a:off x="6858000" y="1828800"/>
            <a:ext cx="4645152" cy="4114800"/>
          </a:xfrm>
          <a:prstGeom prst="roundRect">
            <a:avLst>
              <a:gd name="adj" fmla="val 3556"/>
            </a:avLst>
          </a:prstGeom>
          <a:solidFill>
            <a:srgbClr val="F6F2FF"/>
          </a:solidFill>
          <a:ln w="12700">
            <a:solidFill>
              <a:srgbClr val="6D28D9"/>
            </a:solidFill>
            <a:prstDash val="solid"/>
          </a:ln>
          <a:effectLst>
            <a:outerShdw blurRad="127000" dist="50800" dir="5400000" algn="bl" rotWithShape="0">
              <a:srgbClr val="1A2A3A">
                <a:alpha val="14000"/>
              </a:srgbClr>
            </a:outerShdw>
          </a:effectLst>
        </p:spPr>
        <p:txBody>
          <a:bodyPr/>
          <a:lstStyle/>
          <a:p>
            <a:endParaRPr lang="fr-FR"/>
          </a:p>
        </p:txBody>
      </p:sp>
      <p:sp>
        <p:nvSpPr>
          <p:cNvPr id="17" name="anim__10__afterprev__fade__whole"/>
          <p:cNvSpPr/>
          <p:nvPr/>
        </p:nvSpPr>
        <p:spPr>
          <a:xfrm>
            <a:off x="7178040" y="2103120"/>
            <a:ext cx="4005072" cy="292608"/>
          </a:xfrm>
          <a:prstGeom prst="rect">
            <a:avLst/>
          </a:prstGeom>
          <a:noFill/>
          <a:ln/>
        </p:spPr>
        <p:txBody>
          <a:bodyPr wrap="square" lIns="0" tIns="0" rIns="0" bIns="0" rtlCol="0" anchor="ctr"/>
          <a:lstStyle/>
          <a:p>
            <a:pPr marL="0" indent="0">
              <a:buNone/>
            </a:pPr>
            <a:r>
              <a:rPr lang="en-US" sz="1390" b="1" kern="0" spc="200" dirty="0">
                <a:solidFill>
                  <a:srgbClr val="6D28D9"/>
                </a:solidFill>
                <a:latin typeface="Segoe UI Semibold" pitchFamily="34" charset="0"/>
                <a:ea typeface="Segoe UI Semibold" pitchFamily="34" charset="-122"/>
                <a:cs typeface="Segoe UI Semibold" pitchFamily="34" charset="-120"/>
              </a:rPr>
              <a:t>PORTÉE LIMITÉE PAR LA CD</a:t>
            </a:r>
            <a:endParaRPr lang="en-US" sz="1390" dirty="0"/>
          </a:p>
        </p:txBody>
      </p:sp>
      <p:sp>
        <p:nvSpPr>
          <p:cNvPr id="18" name="anim__11__afterprev__fade__whole"/>
          <p:cNvSpPr/>
          <p:nvPr/>
        </p:nvSpPr>
        <p:spPr>
          <a:xfrm>
            <a:off x="7178040" y="2514600"/>
            <a:ext cx="4005072" cy="457200"/>
          </a:xfrm>
          <a:prstGeom prst="rect">
            <a:avLst/>
          </a:prstGeom>
          <a:noFill/>
          <a:ln/>
        </p:spPr>
        <p:txBody>
          <a:bodyPr wrap="square" lIns="0" tIns="0" rIns="0" bIns="0" rtlCol="0" anchor="ctr"/>
          <a:lstStyle/>
          <a:p>
            <a:pPr marL="0" indent="0" algn="ctr">
              <a:buNone/>
            </a:pPr>
            <a:r>
              <a:rPr lang="en-US" sz="1740" b="1" dirty="0">
                <a:solidFill>
                  <a:srgbClr val="20183F"/>
                </a:solidFill>
                <a:latin typeface="Consolas" pitchFamily="34" charset="0"/>
                <a:ea typeface="Consolas" pitchFamily="34" charset="-122"/>
                <a:cs typeface="Consolas" pitchFamily="34" charset="-120"/>
              </a:rPr>
              <a:t>L_CD = ΔT_CD / (D · Δλ) = 25 / 0,17</a:t>
            </a:r>
            <a:endParaRPr lang="en-US" sz="1740" dirty="0"/>
          </a:p>
        </p:txBody>
      </p:sp>
      <p:sp>
        <p:nvSpPr>
          <p:cNvPr id="19" name="anim__12__afterprev__fade__whole"/>
          <p:cNvSpPr/>
          <p:nvPr/>
        </p:nvSpPr>
        <p:spPr>
          <a:xfrm>
            <a:off x="7178040" y="3108960"/>
            <a:ext cx="4005072" cy="914400"/>
          </a:xfrm>
          <a:prstGeom prst="rect">
            <a:avLst/>
          </a:prstGeom>
          <a:noFill/>
          <a:ln/>
        </p:spPr>
        <p:txBody>
          <a:bodyPr wrap="square" lIns="0" tIns="0" rIns="0" bIns="0" rtlCol="0" anchor="ctr"/>
          <a:lstStyle/>
          <a:p>
            <a:pPr marL="0" indent="0" algn="ctr">
              <a:buNone/>
            </a:pPr>
            <a:r>
              <a:rPr lang="en-US" sz="4600" b="1" dirty="0">
                <a:solidFill>
                  <a:srgbClr val="6D28D9"/>
                </a:solidFill>
                <a:latin typeface="Segoe UI Black" pitchFamily="34" charset="0"/>
                <a:ea typeface="Segoe UI Black" pitchFamily="34" charset="-122"/>
                <a:cs typeface="Segoe UI Black" pitchFamily="34" charset="-120"/>
              </a:rPr>
              <a:t>≈ 147 km</a:t>
            </a:r>
            <a:endParaRPr lang="en-US" sz="4600" dirty="0"/>
          </a:p>
        </p:txBody>
      </p:sp>
      <p:sp>
        <p:nvSpPr>
          <p:cNvPr id="20" name="Shape 18"/>
          <p:cNvSpPr/>
          <p:nvPr/>
        </p:nvSpPr>
        <p:spPr>
          <a:xfrm>
            <a:off x="7315200" y="4224528"/>
            <a:ext cx="3730752" cy="0"/>
          </a:xfrm>
          <a:prstGeom prst="line">
            <a:avLst/>
          </a:prstGeom>
          <a:noFill/>
          <a:ln w="12700">
            <a:solidFill>
              <a:srgbClr val="E5DEF6"/>
            </a:solidFill>
            <a:prstDash val="solid"/>
          </a:ln>
        </p:spPr>
        <p:txBody>
          <a:bodyPr/>
          <a:lstStyle/>
          <a:p>
            <a:endParaRPr lang="fr-FR"/>
          </a:p>
        </p:txBody>
      </p:sp>
      <p:sp>
        <p:nvSpPr>
          <p:cNvPr id="21" name="anim__13__afterprev__fade__whole"/>
          <p:cNvSpPr/>
          <p:nvPr/>
        </p:nvSpPr>
        <p:spPr>
          <a:xfrm>
            <a:off x="7178040" y="4389120"/>
            <a:ext cx="4005072" cy="1371600"/>
          </a:xfrm>
          <a:prstGeom prst="rect">
            <a:avLst/>
          </a:prstGeom>
          <a:noFill/>
          <a:ln/>
        </p:spPr>
        <p:txBody>
          <a:bodyPr wrap="square" lIns="0" tIns="0" rIns="0" bIns="0" rtlCol="0" anchor="ctr"/>
          <a:lstStyle/>
          <a:p>
            <a:pPr marL="0" indent="0">
              <a:lnSpc>
                <a:spcPct val="118000"/>
              </a:lnSpc>
              <a:buNone/>
            </a:pPr>
            <a:r>
              <a:rPr lang="en-US" sz="1450" dirty="0">
                <a:solidFill>
                  <a:srgbClr val="3F3D56"/>
                </a:solidFill>
                <a:latin typeface="Segoe UI" pitchFamily="34" charset="0"/>
                <a:ea typeface="Segoe UI" pitchFamily="34" charset="-122"/>
                <a:cs typeface="Segoe UI" pitchFamily="34" charset="-120"/>
              </a:rPr>
              <a:t>Marge de +21 km vs l'atténuation (126 km). La CD n'est pas la contrainte dominante, grâce à la faible largeur spectrale de la source DFB.</a:t>
            </a:r>
            <a:endParaRPr lang="en-US" sz="1450" dirty="0"/>
          </a:p>
        </p:txBody>
      </p:sp>
      <p:sp>
        <p:nvSpPr>
          <p:cNvPr id="22" name="Text 20"/>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3" name="Text 21"/>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13</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par>
                          <p:cTn id="20" presetID="10" presetClass="entr" presetSubtype="0" fill="hold" grpId="4"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childTnLst>
                    </p:cTn>
                  </p:par>
                  <p:par>
                    <p:cTn id="23" fill="hold">
                      <p:stCondLst>
                        <p:cond delay="70"/>
                      </p:stCondLst>
                      <p:childTnLst>
                        <p:par>
                          <p:cTn id="24" presetID="10" presetClass="entr" presetSubtype="0" fill="hold" grpId="5"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6"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childTnLst>
                    </p:cTn>
                  </p:par>
                  <p:par>
                    <p:cTn id="30" fill="hold">
                      <p:stCondLst>
                        <p:cond delay="70"/>
                      </p:stCondLst>
                      <p:childTnLst>
                        <p:par>
                          <p:cTn id="31" presetID="10" presetClass="entr" presetSubtype="0" fill="hold" grpId="7"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350"/>
                                  <p:tgtEl>
                                    <p:spTgt spid="13"/>
                                  </p:tgtEl>
                                </p:cBhvr>
                              </p:animEffect>
                            </p:childTnLst>
                          </p:cTn>
                        </p:par>
                        <p:par>
                          <p:cTn id="34" presetID="10" presetClass="entr" presetSubtype="0" fill="hold" grpId="8"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childTnLst>
                    </p:cTn>
                  </p:par>
                  <p:par>
                    <p:cTn id="37" fill="hold">
                      <p:stCondLst>
                        <p:cond delay="70"/>
                      </p:stCondLst>
                      <p:childTnLst>
                        <p:par>
                          <p:cTn id="38" presetID="10" presetClass="entr" presetSubtype="0" fill="hold" grpId="9"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childTnLst>
                    </p:cTn>
                  </p:par>
                  <p:par>
                    <p:cTn id="41" fill="hold">
                      <p:stCondLst>
                        <p:cond delay="70"/>
                      </p:stCondLst>
                      <p:childTnLst>
                        <p:par>
                          <p:cTn id="42" presetID="10" presetClass="entr" presetSubtype="0" fill="hold" grpId="1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50"/>
                                  <p:tgtEl>
                                    <p:spTgt spid="18"/>
                                  </p:tgtEl>
                                </p:cBhvr>
                              </p:animEffect>
                            </p:childTnLst>
                          </p:cTn>
                        </p:par>
                      </p:childTnLst>
                    </p:cTn>
                  </p:par>
                  <p:par>
                    <p:cTn id="45" fill="hold">
                      <p:stCondLst>
                        <p:cond delay="70"/>
                      </p:stCondLst>
                      <p:childTnLst>
                        <p:par>
                          <p:cTn id="46" presetID="10" presetClass="entr" presetSubtype="0" fill="hold" grpId="11"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childTnLst>
                    </p:cTn>
                  </p:par>
                  <p:par>
                    <p:cTn id="49" fill="hold">
                      <p:stCondLst>
                        <p:cond delay="70"/>
                      </p:stCondLst>
                      <p:childTnLst>
                        <p:par>
                          <p:cTn id="50" presetID="10" presetClass="entr" presetSubtype="0" fill="hold" grpId="12" nodeType="after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9" grpId="4" animBg="1"/>
      <p:bldP spid="10" grpId="5" animBg="1"/>
      <p:bldP spid="12" grpId="6" animBg="1"/>
      <p:bldP spid="13" grpId="7" animBg="1"/>
      <p:bldP spid="15" grpId="8" animBg="1"/>
      <p:bldP spid="17" grpId="9" animBg="1"/>
      <p:bldP spid="18" grpId="10" animBg="1"/>
      <p:bldP spid="19" grpId="11" animBg="1"/>
      <p:bldP spid="21" grpId="12"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Bilan de dispersion : la PMD</a:t>
            </a:r>
            <a:endParaRPr lang="en-US" sz="3100" dirty="0"/>
          </a:p>
        </p:txBody>
      </p:sp>
      <p:sp>
        <p:nvSpPr>
          <p:cNvPr id="4" name="Shape 2"/>
          <p:cNvSpPr/>
          <p:nvPr/>
        </p:nvSpPr>
        <p:spPr>
          <a:xfrm>
            <a:off x="685800" y="1828800"/>
            <a:ext cx="5852160" cy="4114800"/>
          </a:xfrm>
          <a:prstGeom prst="roundRect">
            <a:avLst>
              <a:gd name="adj" fmla="val 35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3822192"/>
          </a:xfrm>
          <a:prstGeom prst="rect">
            <a:avLst/>
          </a:prstGeom>
          <a:solidFill>
            <a:srgbClr val="6D28D9"/>
          </a:solidFill>
          <a:ln/>
        </p:spPr>
        <p:txBody>
          <a:bodyPr/>
          <a:lstStyle/>
          <a:p>
            <a:endParaRPr lang="fr-FR"/>
          </a:p>
        </p:txBody>
      </p:sp>
      <p:sp>
        <p:nvSpPr>
          <p:cNvPr id="6" name="anim__3__afterprev__fade__whole"/>
          <p:cNvSpPr/>
          <p:nvPr/>
        </p:nvSpPr>
        <p:spPr>
          <a:xfrm>
            <a:off x="978408" y="2066544"/>
            <a:ext cx="5303520" cy="1143000"/>
          </a:xfrm>
          <a:prstGeom prst="rect">
            <a:avLst/>
          </a:prstGeom>
          <a:noFill/>
          <a:ln/>
        </p:spPr>
        <p:txBody>
          <a:bodyPr wrap="square" lIns="0" tIns="0" rIns="0" bIns="0" rtlCol="0" anchor="ctr"/>
          <a:lstStyle/>
          <a:p>
            <a:pPr marL="0" indent="0">
              <a:lnSpc>
                <a:spcPct val="118000"/>
              </a:lnSpc>
              <a:buNone/>
            </a:pPr>
            <a:r>
              <a:rPr lang="en-US" sz="1570" dirty="0">
                <a:solidFill>
                  <a:srgbClr val="3F3D56"/>
                </a:solidFill>
                <a:latin typeface="Segoe UI" pitchFamily="34" charset="0"/>
                <a:ea typeface="Segoe UI" pitchFamily="34" charset="-122"/>
                <a:cs typeface="Segoe UI" pitchFamily="34" charset="-120"/>
              </a:rPr>
              <a:t>Les imperfections géométriques du cœur (ellipticité, contraintes) décomposent le signal en deux polarisations de vitesses différentes → retard différentiel de groupe (DGD). Phénomène statistique, accumulé en √L.</a:t>
            </a:r>
            <a:endParaRPr lang="en-US" sz="1570" dirty="0"/>
          </a:p>
        </p:txBody>
      </p:sp>
      <p:sp>
        <p:nvSpPr>
          <p:cNvPr id="7" name="anim__4__afterprev__fade__whole"/>
          <p:cNvSpPr/>
          <p:nvPr/>
        </p:nvSpPr>
        <p:spPr>
          <a:xfrm>
            <a:off x="978408" y="3291840"/>
            <a:ext cx="2788920" cy="502920"/>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Critère (plus sévère)</a:t>
            </a:r>
            <a:endParaRPr lang="en-US" sz="1330" dirty="0"/>
          </a:p>
        </p:txBody>
      </p:sp>
      <p:sp>
        <p:nvSpPr>
          <p:cNvPr id="8" name="Shape 6"/>
          <p:cNvSpPr/>
          <p:nvPr/>
        </p:nvSpPr>
        <p:spPr>
          <a:xfrm>
            <a:off x="3794760" y="3319272"/>
            <a:ext cx="2514600" cy="457200"/>
          </a:xfrm>
          <a:prstGeom prst="roundRect">
            <a:avLst>
              <a:gd name="adj" fmla="val 10000"/>
            </a:avLst>
          </a:prstGeom>
          <a:solidFill>
            <a:srgbClr val="EFE9FF"/>
          </a:solidFill>
          <a:ln w="12700">
            <a:solidFill>
              <a:srgbClr val="E5DEF6"/>
            </a:solidFill>
            <a:prstDash val="solid"/>
          </a:ln>
        </p:spPr>
        <p:txBody>
          <a:bodyPr/>
          <a:lstStyle/>
          <a:p>
            <a:endParaRPr lang="fr-FR"/>
          </a:p>
        </p:txBody>
      </p:sp>
      <p:sp>
        <p:nvSpPr>
          <p:cNvPr id="9" name="anim__5__withprev__fade__whole"/>
          <p:cNvSpPr/>
          <p:nvPr/>
        </p:nvSpPr>
        <p:spPr>
          <a:xfrm>
            <a:off x="3794760" y="3319272"/>
            <a:ext cx="2514600" cy="457200"/>
          </a:xfrm>
          <a:prstGeom prst="rect">
            <a:avLst/>
          </a:prstGeom>
          <a:noFill/>
          <a:ln/>
        </p:spPr>
        <p:txBody>
          <a:bodyPr wrap="square" lIns="0" tIns="0" rIns="0" bIns="0" rtlCol="0" anchor="ctr"/>
          <a:lstStyle/>
          <a:p>
            <a:pPr marL="0" indent="0" algn="ctr">
              <a:buNone/>
            </a:pPr>
            <a:r>
              <a:rPr lang="en-US" sz="1450" b="1" dirty="0">
                <a:solidFill>
                  <a:srgbClr val="6D28D9"/>
                </a:solidFill>
                <a:latin typeface="Consolas" pitchFamily="34" charset="0"/>
                <a:ea typeface="Consolas" pitchFamily="34" charset="-122"/>
                <a:cs typeface="Consolas" pitchFamily="34" charset="-120"/>
              </a:rPr>
              <a:t>ΔT_PMD ≤ T/10 = 10 ps</a:t>
            </a:r>
            <a:endParaRPr lang="en-US" sz="1450" dirty="0"/>
          </a:p>
        </p:txBody>
      </p:sp>
      <p:sp>
        <p:nvSpPr>
          <p:cNvPr id="10" name="anim__6__afterprev__fade__whole"/>
          <p:cNvSpPr/>
          <p:nvPr/>
        </p:nvSpPr>
        <p:spPr>
          <a:xfrm>
            <a:off x="978408" y="3895344"/>
            <a:ext cx="2788920" cy="502920"/>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Élargissement statistique</a:t>
            </a:r>
            <a:endParaRPr lang="en-US" sz="1330" dirty="0"/>
          </a:p>
        </p:txBody>
      </p:sp>
      <p:sp>
        <p:nvSpPr>
          <p:cNvPr id="11" name="Shape 9"/>
          <p:cNvSpPr/>
          <p:nvPr/>
        </p:nvSpPr>
        <p:spPr>
          <a:xfrm>
            <a:off x="3794760" y="3922776"/>
            <a:ext cx="2514600" cy="457200"/>
          </a:xfrm>
          <a:prstGeom prst="roundRect">
            <a:avLst>
              <a:gd name="adj" fmla="val 10000"/>
            </a:avLst>
          </a:prstGeom>
          <a:solidFill>
            <a:srgbClr val="EFE9FF"/>
          </a:solidFill>
          <a:ln w="12700">
            <a:solidFill>
              <a:srgbClr val="E5DEF6"/>
            </a:solidFill>
            <a:prstDash val="solid"/>
          </a:ln>
        </p:spPr>
        <p:txBody>
          <a:bodyPr/>
          <a:lstStyle/>
          <a:p>
            <a:endParaRPr lang="fr-FR"/>
          </a:p>
        </p:txBody>
      </p:sp>
      <p:sp>
        <p:nvSpPr>
          <p:cNvPr id="12" name="anim__7__withprev__fade__whole"/>
          <p:cNvSpPr/>
          <p:nvPr/>
        </p:nvSpPr>
        <p:spPr>
          <a:xfrm>
            <a:off x="3794760" y="3922776"/>
            <a:ext cx="2514600" cy="457200"/>
          </a:xfrm>
          <a:prstGeom prst="rect">
            <a:avLst/>
          </a:prstGeom>
          <a:noFill/>
          <a:ln/>
        </p:spPr>
        <p:txBody>
          <a:bodyPr wrap="square" lIns="0" tIns="0" rIns="0" bIns="0" rtlCol="0" anchor="ctr"/>
          <a:lstStyle/>
          <a:p>
            <a:pPr marL="0" indent="0" algn="ctr">
              <a:buNone/>
            </a:pPr>
            <a:r>
              <a:rPr lang="en-US" sz="1450" b="1" dirty="0">
                <a:solidFill>
                  <a:srgbClr val="6D28D9"/>
                </a:solidFill>
                <a:latin typeface="Consolas" pitchFamily="34" charset="0"/>
                <a:ea typeface="Consolas" pitchFamily="34" charset="-122"/>
                <a:cs typeface="Consolas" pitchFamily="34" charset="-120"/>
              </a:rPr>
              <a:t>ΔT_PMD = PMD · √L</a:t>
            </a:r>
            <a:endParaRPr lang="en-US" sz="1450" dirty="0"/>
          </a:p>
        </p:txBody>
      </p:sp>
      <p:sp>
        <p:nvSpPr>
          <p:cNvPr id="13" name="anim__8__afterprev__fade__whole"/>
          <p:cNvSpPr/>
          <p:nvPr/>
        </p:nvSpPr>
        <p:spPr>
          <a:xfrm>
            <a:off x="978408" y="4498848"/>
            <a:ext cx="2788920" cy="502920"/>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Coefficient G.652.D</a:t>
            </a:r>
            <a:endParaRPr lang="en-US" sz="1330" dirty="0"/>
          </a:p>
        </p:txBody>
      </p:sp>
      <p:sp>
        <p:nvSpPr>
          <p:cNvPr id="14" name="Shape 12"/>
          <p:cNvSpPr/>
          <p:nvPr/>
        </p:nvSpPr>
        <p:spPr>
          <a:xfrm>
            <a:off x="3794760" y="4526280"/>
            <a:ext cx="2514600" cy="457200"/>
          </a:xfrm>
          <a:prstGeom prst="roundRect">
            <a:avLst>
              <a:gd name="adj" fmla="val 10000"/>
            </a:avLst>
          </a:prstGeom>
          <a:solidFill>
            <a:srgbClr val="EFE9FF"/>
          </a:solidFill>
          <a:ln w="12700">
            <a:solidFill>
              <a:srgbClr val="E5DEF6"/>
            </a:solidFill>
            <a:prstDash val="solid"/>
          </a:ln>
        </p:spPr>
        <p:txBody>
          <a:bodyPr/>
          <a:lstStyle/>
          <a:p>
            <a:endParaRPr lang="fr-FR"/>
          </a:p>
        </p:txBody>
      </p:sp>
      <p:sp>
        <p:nvSpPr>
          <p:cNvPr id="15" name="anim__9__withprev__fade__whole"/>
          <p:cNvSpPr/>
          <p:nvPr/>
        </p:nvSpPr>
        <p:spPr>
          <a:xfrm>
            <a:off x="3794760" y="4526280"/>
            <a:ext cx="2514600" cy="457200"/>
          </a:xfrm>
          <a:prstGeom prst="rect">
            <a:avLst/>
          </a:prstGeom>
          <a:noFill/>
          <a:ln/>
        </p:spPr>
        <p:txBody>
          <a:bodyPr wrap="square" lIns="0" tIns="0" rIns="0" bIns="0" rtlCol="0" anchor="ctr"/>
          <a:lstStyle/>
          <a:p>
            <a:pPr marL="0" indent="0" algn="ctr">
              <a:buNone/>
            </a:pPr>
            <a:r>
              <a:rPr lang="en-US" sz="1450" b="1" dirty="0">
                <a:solidFill>
                  <a:srgbClr val="6D28D9"/>
                </a:solidFill>
                <a:latin typeface="Consolas" pitchFamily="34" charset="0"/>
                <a:ea typeface="Consolas" pitchFamily="34" charset="-122"/>
                <a:cs typeface="Consolas" pitchFamily="34" charset="-120"/>
              </a:rPr>
              <a:t>PMD = 0,05 ps/√km</a:t>
            </a:r>
            <a:endParaRPr lang="en-US" sz="1450" dirty="0"/>
          </a:p>
        </p:txBody>
      </p:sp>
      <p:sp>
        <p:nvSpPr>
          <p:cNvPr id="16" name="Shape 14"/>
          <p:cNvSpPr/>
          <p:nvPr/>
        </p:nvSpPr>
        <p:spPr>
          <a:xfrm>
            <a:off x="6858000" y="1828800"/>
            <a:ext cx="4645152" cy="4114800"/>
          </a:xfrm>
          <a:prstGeom prst="roundRect">
            <a:avLst>
              <a:gd name="adj" fmla="val 3556"/>
            </a:avLst>
          </a:prstGeom>
          <a:solidFill>
            <a:srgbClr val="F6F2FF"/>
          </a:solidFill>
          <a:ln w="12700">
            <a:solidFill>
              <a:srgbClr val="6D28D9"/>
            </a:solidFill>
            <a:prstDash val="solid"/>
          </a:ln>
          <a:effectLst>
            <a:outerShdw blurRad="127000" dist="50800" dir="5400000" algn="bl" rotWithShape="0">
              <a:srgbClr val="1A2A3A">
                <a:alpha val="14000"/>
              </a:srgbClr>
            </a:outerShdw>
          </a:effectLst>
        </p:spPr>
        <p:txBody>
          <a:bodyPr/>
          <a:lstStyle/>
          <a:p>
            <a:endParaRPr lang="fr-FR"/>
          </a:p>
        </p:txBody>
      </p:sp>
      <p:sp>
        <p:nvSpPr>
          <p:cNvPr id="17" name="anim__10__afterprev__fade__whole"/>
          <p:cNvSpPr/>
          <p:nvPr/>
        </p:nvSpPr>
        <p:spPr>
          <a:xfrm>
            <a:off x="7178040" y="2103120"/>
            <a:ext cx="4005072" cy="292608"/>
          </a:xfrm>
          <a:prstGeom prst="rect">
            <a:avLst/>
          </a:prstGeom>
          <a:noFill/>
          <a:ln/>
        </p:spPr>
        <p:txBody>
          <a:bodyPr wrap="square" lIns="0" tIns="0" rIns="0" bIns="0" rtlCol="0" anchor="ctr"/>
          <a:lstStyle/>
          <a:p>
            <a:pPr marL="0" indent="0">
              <a:buNone/>
            </a:pPr>
            <a:r>
              <a:rPr lang="en-US" sz="1390" b="1" kern="0" spc="200" dirty="0">
                <a:solidFill>
                  <a:srgbClr val="6D28D9"/>
                </a:solidFill>
                <a:latin typeface="Segoe UI Semibold" pitchFamily="34" charset="0"/>
                <a:ea typeface="Segoe UI Semibold" pitchFamily="34" charset="-122"/>
                <a:cs typeface="Segoe UI Semibold" pitchFamily="34" charset="-120"/>
              </a:rPr>
              <a:t>PORTÉE LIMITÉE PAR LA PMD</a:t>
            </a:r>
            <a:endParaRPr lang="en-US" sz="1390" dirty="0"/>
          </a:p>
        </p:txBody>
      </p:sp>
      <p:sp>
        <p:nvSpPr>
          <p:cNvPr id="18" name="anim__11__afterprev__fade__whole"/>
          <p:cNvSpPr/>
          <p:nvPr/>
        </p:nvSpPr>
        <p:spPr>
          <a:xfrm>
            <a:off x="7178040" y="2514600"/>
            <a:ext cx="4005072" cy="457200"/>
          </a:xfrm>
          <a:prstGeom prst="rect">
            <a:avLst/>
          </a:prstGeom>
          <a:noFill/>
          <a:ln/>
        </p:spPr>
        <p:txBody>
          <a:bodyPr wrap="square" lIns="0" tIns="0" rIns="0" bIns="0" rtlCol="0" anchor="ctr"/>
          <a:lstStyle/>
          <a:p>
            <a:pPr marL="0" indent="0" algn="ctr">
              <a:buNone/>
            </a:pPr>
            <a:r>
              <a:rPr lang="en-US" sz="1740" b="1" dirty="0">
                <a:solidFill>
                  <a:srgbClr val="20183F"/>
                </a:solidFill>
                <a:latin typeface="Consolas" pitchFamily="34" charset="0"/>
                <a:ea typeface="Consolas" pitchFamily="34" charset="-122"/>
                <a:cs typeface="Consolas" pitchFamily="34" charset="-120"/>
              </a:rPr>
              <a:t>L_PMD = (ΔT_PMD / PMD)² = (200)²</a:t>
            </a:r>
            <a:endParaRPr lang="en-US" sz="1740" dirty="0"/>
          </a:p>
        </p:txBody>
      </p:sp>
      <p:sp>
        <p:nvSpPr>
          <p:cNvPr id="19" name="anim__12__afterprev__fade__whole"/>
          <p:cNvSpPr/>
          <p:nvPr/>
        </p:nvSpPr>
        <p:spPr>
          <a:xfrm>
            <a:off x="7178040" y="3108960"/>
            <a:ext cx="4005072" cy="914400"/>
          </a:xfrm>
          <a:prstGeom prst="rect">
            <a:avLst/>
          </a:prstGeom>
          <a:noFill/>
          <a:ln/>
        </p:spPr>
        <p:txBody>
          <a:bodyPr wrap="square" lIns="0" tIns="0" rIns="0" bIns="0" rtlCol="0" anchor="ctr"/>
          <a:lstStyle/>
          <a:p>
            <a:pPr marL="0" indent="0" algn="ctr">
              <a:buNone/>
            </a:pPr>
            <a:r>
              <a:rPr lang="en-US" sz="4600" b="1" dirty="0">
                <a:solidFill>
                  <a:srgbClr val="6D28D9"/>
                </a:solidFill>
                <a:latin typeface="Segoe UI Black" pitchFamily="34" charset="0"/>
                <a:ea typeface="Segoe UI Black" pitchFamily="34" charset="-122"/>
                <a:cs typeface="Segoe UI Black" pitchFamily="34" charset="-120"/>
              </a:rPr>
              <a:t>≈ 40 000 km</a:t>
            </a:r>
            <a:endParaRPr lang="en-US" sz="4600" dirty="0"/>
          </a:p>
        </p:txBody>
      </p:sp>
      <p:sp>
        <p:nvSpPr>
          <p:cNvPr id="20" name="Shape 18"/>
          <p:cNvSpPr/>
          <p:nvPr/>
        </p:nvSpPr>
        <p:spPr>
          <a:xfrm>
            <a:off x="7315200" y="4224528"/>
            <a:ext cx="3730752" cy="0"/>
          </a:xfrm>
          <a:prstGeom prst="line">
            <a:avLst/>
          </a:prstGeom>
          <a:noFill/>
          <a:ln w="12700">
            <a:solidFill>
              <a:srgbClr val="E5DEF6"/>
            </a:solidFill>
            <a:prstDash val="solid"/>
          </a:ln>
        </p:spPr>
        <p:txBody>
          <a:bodyPr/>
          <a:lstStyle/>
          <a:p>
            <a:endParaRPr lang="fr-FR"/>
          </a:p>
        </p:txBody>
      </p:sp>
      <p:sp>
        <p:nvSpPr>
          <p:cNvPr id="21" name="anim__13__afterprev__fade__whole"/>
          <p:cNvSpPr/>
          <p:nvPr/>
        </p:nvSpPr>
        <p:spPr>
          <a:xfrm>
            <a:off x="7178040" y="4389120"/>
            <a:ext cx="4005072" cy="1371600"/>
          </a:xfrm>
          <a:prstGeom prst="rect">
            <a:avLst/>
          </a:prstGeom>
          <a:noFill/>
          <a:ln/>
        </p:spPr>
        <p:txBody>
          <a:bodyPr wrap="square" lIns="0" tIns="0" rIns="0" bIns="0" rtlCol="0" anchor="ctr"/>
          <a:lstStyle/>
          <a:p>
            <a:pPr marL="0" indent="0">
              <a:lnSpc>
                <a:spcPct val="118000"/>
              </a:lnSpc>
              <a:buNone/>
            </a:pPr>
            <a:r>
              <a:rPr lang="en-US" sz="1450" dirty="0">
                <a:solidFill>
                  <a:srgbClr val="3F3D56"/>
                </a:solidFill>
                <a:latin typeface="Segoe UI" pitchFamily="34" charset="0"/>
                <a:ea typeface="Segoe UI" pitchFamily="34" charset="-122"/>
                <a:cs typeface="Segoe UI" pitchFamily="34" charset="-120"/>
              </a:rPr>
              <a:t>Totalement non contraignante à 10 Gbit/s. Devient critique au-delà de 40–100 Gbit/s (fibres à très faible PMD ou compensation électronique).</a:t>
            </a:r>
            <a:endParaRPr lang="en-US" sz="1450" dirty="0"/>
          </a:p>
        </p:txBody>
      </p:sp>
      <p:sp>
        <p:nvSpPr>
          <p:cNvPr id="22" name="Text 20"/>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3" name="Text 21"/>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14</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par>
                          <p:cTn id="20" presetID="10" presetClass="entr" presetSubtype="0" fill="hold" grpId="4"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childTnLst>
                    </p:cTn>
                  </p:par>
                  <p:par>
                    <p:cTn id="23" fill="hold">
                      <p:stCondLst>
                        <p:cond delay="70"/>
                      </p:stCondLst>
                      <p:childTnLst>
                        <p:par>
                          <p:cTn id="24" presetID="10" presetClass="entr" presetSubtype="0" fill="hold" grpId="5"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6"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childTnLst>
                    </p:cTn>
                  </p:par>
                  <p:par>
                    <p:cTn id="30" fill="hold">
                      <p:stCondLst>
                        <p:cond delay="70"/>
                      </p:stCondLst>
                      <p:childTnLst>
                        <p:par>
                          <p:cTn id="31" presetID="10" presetClass="entr" presetSubtype="0" fill="hold" grpId="7"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350"/>
                                  <p:tgtEl>
                                    <p:spTgt spid="13"/>
                                  </p:tgtEl>
                                </p:cBhvr>
                              </p:animEffect>
                            </p:childTnLst>
                          </p:cTn>
                        </p:par>
                        <p:par>
                          <p:cTn id="34" presetID="10" presetClass="entr" presetSubtype="0" fill="hold" grpId="8"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childTnLst>
                    </p:cTn>
                  </p:par>
                  <p:par>
                    <p:cTn id="37" fill="hold">
                      <p:stCondLst>
                        <p:cond delay="70"/>
                      </p:stCondLst>
                      <p:childTnLst>
                        <p:par>
                          <p:cTn id="38" presetID="10" presetClass="entr" presetSubtype="0" fill="hold" grpId="9"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childTnLst>
                    </p:cTn>
                  </p:par>
                  <p:par>
                    <p:cTn id="41" fill="hold">
                      <p:stCondLst>
                        <p:cond delay="70"/>
                      </p:stCondLst>
                      <p:childTnLst>
                        <p:par>
                          <p:cTn id="42" presetID="10" presetClass="entr" presetSubtype="0" fill="hold" grpId="1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50"/>
                                  <p:tgtEl>
                                    <p:spTgt spid="18"/>
                                  </p:tgtEl>
                                </p:cBhvr>
                              </p:animEffect>
                            </p:childTnLst>
                          </p:cTn>
                        </p:par>
                      </p:childTnLst>
                    </p:cTn>
                  </p:par>
                  <p:par>
                    <p:cTn id="45" fill="hold">
                      <p:stCondLst>
                        <p:cond delay="70"/>
                      </p:stCondLst>
                      <p:childTnLst>
                        <p:par>
                          <p:cTn id="46" presetID="10" presetClass="entr" presetSubtype="0" fill="hold" grpId="11"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childTnLst>
                    </p:cTn>
                  </p:par>
                  <p:par>
                    <p:cTn id="49" fill="hold">
                      <p:stCondLst>
                        <p:cond delay="70"/>
                      </p:stCondLst>
                      <p:childTnLst>
                        <p:par>
                          <p:cTn id="50" presetID="10" presetClass="entr" presetSubtype="0" fill="hold" grpId="12" nodeType="after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9" grpId="4" animBg="1"/>
      <p:bldP spid="10" grpId="5" animBg="1"/>
      <p:bldP spid="12" grpId="6" animBg="1"/>
      <p:bldP spid="13" grpId="7" animBg="1"/>
      <p:bldP spid="15" grpId="8" animBg="1"/>
      <p:bldP spid="17" grpId="9" animBg="1"/>
      <p:bldP spid="18" grpId="10" animBg="1"/>
      <p:bldP spid="19" grpId="11" animBg="1"/>
      <p:bldP spid="21" grpId="12"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Portée maximale sans régénération</a:t>
            </a:r>
            <a:endParaRPr lang="en-US" sz="3100" dirty="0"/>
          </a:p>
        </p:txBody>
      </p:sp>
      <p:sp>
        <p:nvSpPr>
          <p:cNvPr id="4" name="Shape 2"/>
          <p:cNvSpPr/>
          <p:nvPr/>
        </p:nvSpPr>
        <p:spPr>
          <a:xfrm>
            <a:off x="685800" y="1828800"/>
            <a:ext cx="5029200" cy="4114800"/>
          </a:xfrm>
          <a:prstGeom prst="roundRect">
            <a:avLst>
              <a:gd name="adj" fmla="val 3556"/>
            </a:avLst>
          </a:prstGeom>
          <a:solidFill>
            <a:srgbClr val="F6F2FF"/>
          </a:solidFill>
          <a:ln w="12700">
            <a:solidFill>
              <a:srgbClr val="6D28D9"/>
            </a:solidFill>
            <a:prstDash val="solid"/>
          </a:ln>
          <a:effectLst>
            <a:outerShdw blurRad="127000" dist="50800" dir="5400000" algn="bl" rotWithShape="0">
              <a:srgbClr val="1A2A3A">
                <a:alpha val="14000"/>
              </a:srgbClr>
            </a:outerShdw>
          </a:effectLst>
        </p:spPr>
        <p:txBody>
          <a:bodyPr/>
          <a:lstStyle/>
          <a:p>
            <a:endParaRPr lang="fr-FR"/>
          </a:p>
        </p:txBody>
      </p:sp>
      <p:sp>
        <p:nvSpPr>
          <p:cNvPr id="5" name="anim__3__afterprev__fade__whole"/>
          <p:cNvSpPr/>
          <p:nvPr/>
        </p:nvSpPr>
        <p:spPr>
          <a:xfrm>
            <a:off x="978408" y="2066544"/>
            <a:ext cx="4480560" cy="457200"/>
          </a:xfrm>
          <a:prstGeom prst="rect">
            <a:avLst/>
          </a:prstGeom>
          <a:noFill/>
          <a:ln/>
        </p:spPr>
        <p:txBody>
          <a:bodyPr wrap="square" lIns="0" tIns="0" rIns="0" bIns="0" rtlCol="0" anchor="ctr"/>
          <a:lstStyle/>
          <a:p>
            <a:pPr marL="0" indent="0">
              <a:buNone/>
            </a:pPr>
            <a:r>
              <a:rPr lang="en-US" sz="1570" dirty="0">
                <a:solidFill>
                  <a:srgbClr val="3F3D56"/>
                </a:solidFill>
                <a:latin typeface="Segoe UI" pitchFamily="34" charset="0"/>
                <a:ea typeface="Segoe UI" pitchFamily="34" charset="-122"/>
                <a:cs typeface="Segoe UI" pitchFamily="34" charset="-120"/>
              </a:rPr>
              <a:t>La contrainte la plus restrictive fixe la portée réelle :</a:t>
            </a:r>
            <a:endParaRPr lang="en-US" sz="1570" dirty="0"/>
          </a:p>
        </p:txBody>
      </p:sp>
      <p:sp>
        <p:nvSpPr>
          <p:cNvPr id="6" name="Shape 4"/>
          <p:cNvSpPr/>
          <p:nvPr/>
        </p:nvSpPr>
        <p:spPr>
          <a:xfrm>
            <a:off x="978408" y="2606040"/>
            <a:ext cx="4443984" cy="548640"/>
          </a:xfrm>
          <a:prstGeom prst="roundRect">
            <a:avLst>
              <a:gd name="adj" fmla="val 8333"/>
            </a:avLst>
          </a:prstGeom>
          <a:solidFill>
            <a:srgbClr val="FFFFFF"/>
          </a:solidFill>
          <a:ln w="12700">
            <a:solidFill>
              <a:srgbClr val="6D28D9"/>
            </a:solidFill>
            <a:prstDash val="solid"/>
          </a:ln>
        </p:spPr>
        <p:txBody>
          <a:bodyPr/>
          <a:lstStyle/>
          <a:p>
            <a:endParaRPr lang="fr-FR"/>
          </a:p>
        </p:txBody>
      </p:sp>
      <p:sp>
        <p:nvSpPr>
          <p:cNvPr id="7" name="anim__4__afterprev__fade__whole"/>
          <p:cNvSpPr/>
          <p:nvPr/>
        </p:nvSpPr>
        <p:spPr>
          <a:xfrm>
            <a:off x="978408" y="2606040"/>
            <a:ext cx="4443984" cy="548640"/>
          </a:xfrm>
          <a:prstGeom prst="rect">
            <a:avLst/>
          </a:prstGeom>
          <a:noFill/>
          <a:ln/>
        </p:spPr>
        <p:txBody>
          <a:bodyPr wrap="square" lIns="0" tIns="0" rIns="0" bIns="0" rtlCol="0" anchor="ctr"/>
          <a:lstStyle/>
          <a:p>
            <a:pPr marL="0" indent="0" algn="ctr">
              <a:buNone/>
            </a:pPr>
            <a:r>
              <a:rPr lang="en-US" sz="1620" b="1" dirty="0">
                <a:solidFill>
                  <a:srgbClr val="20183F"/>
                </a:solidFill>
                <a:latin typeface="Consolas" pitchFamily="34" charset="0"/>
                <a:ea typeface="Consolas" pitchFamily="34" charset="-122"/>
                <a:cs typeface="Consolas" pitchFamily="34" charset="-120"/>
              </a:rPr>
              <a:t>L_max = min(L_att, L_CD, L_PMD)</a:t>
            </a:r>
            <a:endParaRPr lang="en-US" sz="1620" dirty="0"/>
          </a:p>
        </p:txBody>
      </p:sp>
      <p:sp>
        <p:nvSpPr>
          <p:cNvPr id="8" name="anim__5__withprev__fade__whole"/>
          <p:cNvSpPr/>
          <p:nvPr/>
        </p:nvSpPr>
        <p:spPr>
          <a:xfrm>
            <a:off x="978408" y="3246120"/>
            <a:ext cx="4443984" cy="365760"/>
          </a:xfrm>
          <a:prstGeom prst="rect">
            <a:avLst/>
          </a:prstGeom>
          <a:noFill/>
          <a:ln/>
        </p:spPr>
        <p:txBody>
          <a:bodyPr wrap="square" lIns="0" tIns="0" rIns="0" bIns="0" rtlCol="0" anchor="ctr"/>
          <a:lstStyle/>
          <a:p>
            <a:pPr marL="0" indent="0" algn="ctr">
              <a:buNone/>
            </a:pPr>
            <a:r>
              <a:rPr lang="en-US" sz="1510" dirty="0">
                <a:solidFill>
                  <a:srgbClr val="847FA6"/>
                </a:solidFill>
                <a:latin typeface="Consolas" pitchFamily="34" charset="0"/>
                <a:ea typeface="Consolas" pitchFamily="34" charset="-122"/>
                <a:cs typeface="Consolas" pitchFamily="34" charset="-120"/>
              </a:rPr>
              <a:t>= min(126 ; 147 ; 40 000)</a:t>
            </a:r>
            <a:endParaRPr lang="en-US" sz="1510" dirty="0"/>
          </a:p>
        </p:txBody>
      </p:sp>
      <p:sp>
        <p:nvSpPr>
          <p:cNvPr id="9" name="anim__6__afterprev__fade__whole"/>
          <p:cNvSpPr/>
          <p:nvPr/>
        </p:nvSpPr>
        <p:spPr>
          <a:xfrm>
            <a:off x="978408" y="3657600"/>
            <a:ext cx="4443984" cy="1005840"/>
          </a:xfrm>
          <a:prstGeom prst="rect">
            <a:avLst/>
          </a:prstGeom>
          <a:noFill/>
          <a:ln/>
        </p:spPr>
        <p:txBody>
          <a:bodyPr wrap="square" lIns="0" tIns="0" rIns="0" bIns="0" rtlCol="0" anchor="ctr"/>
          <a:lstStyle/>
          <a:p>
            <a:pPr marL="0" indent="0" algn="ctr">
              <a:buNone/>
            </a:pPr>
            <a:r>
              <a:rPr lang="en-US" sz="5600" b="1" dirty="0">
                <a:solidFill>
                  <a:srgbClr val="DB2777"/>
                </a:solidFill>
                <a:latin typeface="Segoe UI Black" pitchFamily="34" charset="0"/>
                <a:ea typeface="Segoe UI Black" pitchFamily="34" charset="-122"/>
                <a:cs typeface="Segoe UI Black" pitchFamily="34" charset="-120"/>
              </a:rPr>
              <a:t>126 km</a:t>
            </a:r>
            <a:endParaRPr lang="en-US" sz="5600" dirty="0"/>
          </a:p>
        </p:txBody>
      </p:sp>
      <p:sp>
        <p:nvSpPr>
          <p:cNvPr id="10" name="anim__7__afterprev__fade__whole"/>
          <p:cNvSpPr/>
          <p:nvPr/>
        </p:nvSpPr>
        <p:spPr>
          <a:xfrm>
            <a:off x="978408" y="4754880"/>
            <a:ext cx="4443984" cy="914400"/>
          </a:xfrm>
          <a:prstGeom prst="rect">
            <a:avLst/>
          </a:prstGeom>
          <a:noFill/>
          <a:ln/>
        </p:spPr>
        <p:txBody>
          <a:bodyPr wrap="square" lIns="0" tIns="0" rIns="0" bIns="0" rtlCol="0" anchor="ctr"/>
          <a:lstStyle/>
          <a:p>
            <a:pPr marL="0" indent="0" algn="ctr">
              <a:lnSpc>
                <a:spcPct val="115000"/>
              </a:lnSpc>
              <a:buNone/>
            </a:pPr>
            <a:r>
              <a:rPr lang="en-US" sz="1450" i="1" dirty="0">
                <a:solidFill>
                  <a:srgbClr val="3F3D56"/>
                </a:solidFill>
                <a:latin typeface="Segoe UI" pitchFamily="34" charset="0"/>
                <a:ea typeface="Segoe UI" pitchFamily="34" charset="-122"/>
                <a:cs typeface="Segoe UI" pitchFamily="34" charset="-120"/>
              </a:rPr>
              <a:t>limités par l'atténuation — sans aucun amplificateur ni régénérateur, à 10 Gbit/s.</a:t>
            </a:r>
            <a:endParaRPr lang="en-US" sz="1450" dirty="0"/>
          </a:p>
        </p:txBody>
      </p:sp>
      <p:sp>
        <p:nvSpPr>
          <p:cNvPr id="11" name="anim__8__afterprev__fade__whole"/>
          <p:cNvSpPr/>
          <p:nvPr/>
        </p:nvSpPr>
        <p:spPr>
          <a:xfrm>
            <a:off x="6035040" y="1828800"/>
            <a:ext cx="5486400" cy="292608"/>
          </a:xfrm>
          <a:prstGeom prst="rect">
            <a:avLst/>
          </a:prstGeom>
          <a:noFill/>
          <a:ln/>
        </p:spPr>
        <p:txBody>
          <a:bodyPr wrap="square" lIns="0" tIns="0" rIns="0" bIns="0" rtlCol="0" anchor="ctr"/>
          <a:lstStyle/>
          <a:p>
            <a:pPr marL="0" indent="0">
              <a:buNone/>
            </a:pPr>
            <a:r>
              <a:rPr lang="en-US" sz="1330" b="1" kern="0" spc="200" dirty="0">
                <a:solidFill>
                  <a:srgbClr val="6D28D9"/>
                </a:solidFill>
                <a:latin typeface="Segoe UI Semibold" pitchFamily="34" charset="0"/>
                <a:ea typeface="Segoe UI Semibold" pitchFamily="34" charset="-122"/>
                <a:cs typeface="Segoe UI Semibold" pitchFamily="34" charset="-120"/>
              </a:rPr>
              <a:t>LES TROIS CONTRAINTES (km)</a:t>
            </a:r>
            <a:endParaRPr lang="en-US" sz="1330" dirty="0"/>
          </a:p>
        </p:txBody>
      </p:sp>
      <p:sp>
        <p:nvSpPr>
          <p:cNvPr id="12" name="anim__9__afterprev__fade__whole"/>
          <p:cNvSpPr/>
          <p:nvPr/>
        </p:nvSpPr>
        <p:spPr>
          <a:xfrm>
            <a:off x="6035040" y="2331720"/>
            <a:ext cx="5486400" cy="274320"/>
          </a:xfrm>
          <a:prstGeom prst="rect">
            <a:avLst/>
          </a:prstGeom>
          <a:noFill/>
          <a:ln/>
        </p:spPr>
        <p:txBody>
          <a:bodyPr wrap="square" lIns="0" tIns="0" rIns="0" bIns="0" rtlCol="0" anchor="ctr"/>
          <a:lstStyle/>
          <a:p>
            <a:pPr marL="0" indent="0">
              <a:buNone/>
            </a:pPr>
            <a:r>
              <a:rPr lang="en-US" sz="1510" b="1" dirty="0">
                <a:solidFill>
                  <a:srgbClr val="20183F"/>
                </a:solidFill>
                <a:latin typeface="Segoe UI Semibold" pitchFamily="34" charset="0"/>
                <a:ea typeface="Segoe UI Semibold" pitchFamily="34" charset="-122"/>
                <a:cs typeface="Segoe UI Semibold" pitchFamily="34" charset="-120"/>
              </a:rPr>
              <a:t>Atténuation</a:t>
            </a:r>
            <a:endParaRPr lang="en-US" sz="1510" dirty="0"/>
          </a:p>
        </p:txBody>
      </p:sp>
      <p:sp>
        <p:nvSpPr>
          <p:cNvPr id="13" name="Shape 11"/>
          <p:cNvSpPr/>
          <p:nvPr/>
        </p:nvSpPr>
        <p:spPr>
          <a:xfrm>
            <a:off x="6035040" y="2660904"/>
            <a:ext cx="5486400" cy="457200"/>
          </a:xfrm>
          <a:prstGeom prst="rect">
            <a:avLst/>
          </a:prstGeom>
          <a:solidFill>
            <a:srgbClr val="EFE9FF"/>
          </a:solidFill>
          <a:ln w="12700">
            <a:solidFill>
              <a:srgbClr val="E5DEF6"/>
            </a:solidFill>
            <a:prstDash val="solid"/>
          </a:ln>
        </p:spPr>
        <p:txBody>
          <a:bodyPr/>
          <a:lstStyle/>
          <a:p>
            <a:endParaRPr lang="fr-FR"/>
          </a:p>
        </p:txBody>
      </p:sp>
      <p:sp>
        <p:nvSpPr>
          <p:cNvPr id="14" name="anim__10__afterprev__fade__whole"/>
          <p:cNvSpPr/>
          <p:nvPr/>
        </p:nvSpPr>
        <p:spPr>
          <a:xfrm>
            <a:off x="6035040" y="2660904"/>
            <a:ext cx="4702629" cy="457200"/>
          </a:xfrm>
          <a:prstGeom prst="rect">
            <a:avLst/>
          </a:prstGeom>
          <a:solidFill>
            <a:srgbClr val="DB2777"/>
          </a:solidFill>
          <a:ln/>
        </p:spPr>
        <p:txBody>
          <a:bodyPr/>
          <a:lstStyle/>
          <a:p>
            <a:endParaRPr lang="fr-FR"/>
          </a:p>
        </p:txBody>
      </p:sp>
      <p:sp>
        <p:nvSpPr>
          <p:cNvPr id="15" name="anim__11__withprev__fade__whole"/>
          <p:cNvSpPr/>
          <p:nvPr/>
        </p:nvSpPr>
        <p:spPr>
          <a:xfrm>
            <a:off x="6144768" y="2660904"/>
            <a:ext cx="5266944" cy="45720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126 km</a:t>
            </a:r>
            <a:endParaRPr lang="en-US" sz="1450" dirty="0"/>
          </a:p>
        </p:txBody>
      </p:sp>
      <p:sp>
        <p:nvSpPr>
          <p:cNvPr id="16" name="anim__12__withprev__fade__whole"/>
          <p:cNvSpPr/>
          <p:nvPr/>
        </p:nvSpPr>
        <p:spPr>
          <a:xfrm>
            <a:off x="6035040" y="3136392"/>
            <a:ext cx="5486400" cy="256032"/>
          </a:xfrm>
          <a:prstGeom prst="rect">
            <a:avLst/>
          </a:prstGeom>
          <a:noFill/>
          <a:ln/>
        </p:spPr>
        <p:txBody>
          <a:bodyPr wrap="square" lIns="0" tIns="0" rIns="0" bIns="0" rtlCol="0" anchor="ctr"/>
          <a:lstStyle/>
          <a:p>
            <a:pPr marL="0" indent="0">
              <a:buNone/>
            </a:pPr>
            <a:r>
              <a:rPr lang="en-US" sz="1220" dirty="0">
                <a:solidFill>
                  <a:srgbClr val="847FA6"/>
                </a:solidFill>
                <a:latin typeface="Segoe UI" pitchFamily="34" charset="0"/>
                <a:ea typeface="Segoe UI" pitchFamily="34" charset="-122"/>
                <a:cs typeface="Segoe UI" pitchFamily="34" charset="-120"/>
              </a:rPr>
              <a:t>OUI — contrainte principale</a:t>
            </a:r>
            <a:endParaRPr lang="en-US" sz="1220" dirty="0"/>
          </a:p>
        </p:txBody>
      </p:sp>
      <p:sp>
        <p:nvSpPr>
          <p:cNvPr id="17" name="anim__13__afterprev__fade__whole"/>
          <p:cNvSpPr/>
          <p:nvPr/>
        </p:nvSpPr>
        <p:spPr>
          <a:xfrm>
            <a:off x="6035040" y="3429000"/>
            <a:ext cx="5486400" cy="274320"/>
          </a:xfrm>
          <a:prstGeom prst="rect">
            <a:avLst/>
          </a:prstGeom>
          <a:noFill/>
          <a:ln/>
        </p:spPr>
        <p:txBody>
          <a:bodyPr wrap="square" lIns="0" tIns="0" rIns="0" bIns="0" rtlCol="0" anchor="ctr"/>
          <a:lstStyle/>
          <a:p>
            <a:pPr marL="0" indent="0">
              <a:buNone/>
            </a:pPr>
            <a:r>
              <a:rPr lang="en-US" sz="1510" b="1" dirty="0">
                <a:solidFill>
                  <a:srgbClr val="20183F"/>
                </a:solidFill>
                <a:latin typeface="Segoe UI Semibold" pitchFamily="34" charset="0"/>
                <a:ea typeface="Segoe UI Semibold" pitchFamily="34" charset="-122"/>
                <a:cs typeface="Segoe UI Semibold" pitchFamily="34" charset="-120"/>
              </a:rPr>
              <a:t>Dispersion chromatique</a:t>
            </a:r>
            <a:endParaRPr lang="en-US" sz="1510" dirty="0"/>
          </a:p>
        </p:txBody>
      </p:sp>
      <p:sp>
        <p:nvSpPr>
          <p:cNvPr id="18" name="Shape 16"/>
          <p:cNvSpPr/>
          <p:nvPr/>
        </p:nvSpPr>
        <p:spPr>
          <a:xfrm>
            <a:off x="6035040" y="3758184"/>
            <a:ext cx="5486400" cy="457200"/>
          </a:xfrm>
          <a:prstGeom prst="rect">
            <a:avLst/>
          </a:prstGeom>
          <a:solidFill>
            <a:srgbClr val="EFE9FF"/>
          </a:solidFill>
          <a:ln w="12700">
            <a:solidFill>
              <a:srgbClr val="E5DEF6"/>
            </a:solidFill>
            <a:prstDash val="solid"/>
          </a:ln>
        </p:spPr>
        <p:txBody>
          <a:bodyPr/>
          <a:lstStyle/>
          <a:p>
            <a:endParaRPr lang="fr-FR"/>
          </a:p>
        </p:txBody>
      </p:sp>
      <p:sp>
        <p:nvSpPr>
          <p:cNvPr id="19" name="anim__14__afterprev__fade__whole"/>
          <p:cNvSpPr/>
          <p:nvPr/>
        </p:nvSpPr>
        <p:spPr>
          <a:xfrm>
            <a:off x="6035040" y="3758184"/>
            <a:ext cx="5486400" cy="457200"/>
          </a:xfrm>
          <a:prstGeom prst="rect">
            <a:avLst/>
          </a:prstGeom>
          <a:solidFill>
            <a:srgbClr val="6D28D9"/>
          </a:solidFill>
          <a:ln/>
        </p:spPr>
        <p:txBody>
          <a:bodyPr/>
          <a:lstStyle/>
          <a:p>
            <a:endParaRPr lang="fr-FR"/>
          </a:p>
        </p:txBody>
      </p:sp>
      <p:sp>
        <p:nvSpPr>
          <p:cNvPr id="20" name="anim__15__withprev__fade__whole"/>
          <p:cNvSpPr/>
          <p:nvPr/>
        </p:nvSpPr>
        <p:spPr>
          <a:xfrm>
            <a:off x="6144768" y="3758184"/>
            <a:ext cx="5266944" cy="45720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147 km</a:t>
            </a:r>
            <a:endParaRPr lang="en-US" sz="1450" dirty="0"/>
          </a:p>
        </p:txBody>
      </p:sp>
      <p:sp>
        <p:nvSpPr>
          <p:cNvPr id="21" name="anim__16__withprev__fade__whole"/>
          <p:cNvSpPr/>
          <p:nvPr/>
        </p:nvSpPr>
        <p:spPr>
          <a:xfrm>
            <a:off x="6035040" y="4233672"/>
            <a:ext cx="5486400" cy="256032"/>
          </a:xfrm>
          <a:prstGeom prst="rect">
            <a:avLst/>
          </a:prstGeom>
          <a:noFill/>
          <a:ln/>
        </p:spPr>
        <p:txBody>
          <a:bodyPr wrap="square" lIns="0" tIns="0" rIns="0" bIns="0" rtlCol="0" anchor="ctr"/>
          <a:lstStyle/>
          <a:p>
            <a:pPr marL="0" indent="0">
              <a:buNone/>
            </a:pPr>
            <a:r>
              <a:rPr lang="en-US" sz="1220" dirty="0">
                <a:solidFill>
                  <a:srgbClr val="847FA6"/>
                </a:solidFill>
                <a:latin typeface="Segoe UI" pitchFamily="34" charset="0"/>
                <a:ea typeface="Segoe UI" pitchFamily="34" charset="-122"/>
                <a:cs typeface="Segoe UI" pitchFamily="34" charset="-120"/>
              </a:rPr>
              <a:t>Non (marge 21 km)</a:t>
            </a:r>
            <a:endParaRPr lang="en-US" sz="1220" dirty="0"/>
          </a:p>
        </p:txBody>
      </p:sp>
      <p:sp>
        <p:nvSpPr>
          <p:cNvPr id="22" name="anim__17__afterprev__fade__whole"/>
          <p:cNvSpPr/>
          <p:nvPr/>
        </p:nvSpPr>
        <p:spPr>
          <a:xfrm>
            <a:off x="6035040" y="4526280"/>
            <a:ext cx="5486400" cy="274320"/>
          </a:xfrm>
          <a:prstGeom prst="rect">
            <a:avLst/>
          </a:prstGeom>
          <a:noFill/>
          <a:ln/>
        </p:spPr>
        <p:txBody>
          <a:bodyPr wrap="square" lIns="0" tIns="0" rIns="0" bIns="0" rtlCol="0" anchor="ctr"/>
          <a:lstStyle/>
          <a:p>
            <a:pPr marL="0" indent="0">
              <a:buNone/>
            </a:pPr>
            <a:r>
              <a:rPr lang="en-US" sz="1510" b="1" dirty="0">
                <a:solidFill>
                  <a:srgbClr val="20183F"/>
                </a:solidFill>
                <a:latin typeface="Segoe UI Semibold" pitchFamily="34" charset="0"/>
                <a:ea typeface="Segoe UI Semibold" pitchFamily="34" charset="-122"/>
                <a:cs typeface="Segoe UI Semibold" pitchFamily="34" charset="-120"/>
              </a:rPr>
              <a:t>PMD</a:t>
            </a:r>
            <a:endParaRPr lang="en-US" sz="1510" dirty="0"/>
          </a:p>
        </p:txBody>
      </p:sp>
      <p:sp>
        <p:nvSpPr>
          <p:cNvPr id="23" name="Shape 21"/>
          <p:cNvSpPr/>
          <p:nvPr/>
        </p:nvSpPr>
        <p:spPr>
          <a:xfrm>
            <a:off x="6035040" y="4855464"/>
            <a:ext cx="5486400" cy="457200"/>
          </a:xfrm>
          <a:prstGeom prst="rect">
            <a:avLst/>
          </a:prstGeom>
          <a:solidFill>
            <a:srgbClr val="EFE9FF"/>
          </a:solidFill>
          <a:ln w="12700">
            <a:solidFill>
              <a:srgbClr val="E5DEF6"/>
            </a:solidFill>
            <a:prstDash val="solid"/>
          </a:ln>
        </p:spPr>
        <p:txBody>
          <a:bodyPr/>
          <a:lstStyle/>
          <a:p>
            <a:endParaRPr lang="fr-FR"/>
          </a:p>
        </p:txBody>
      </p:sp>
      <p:sp>
        <p:nvSpPr>
          <p:cNvPr id="24" name="anim__18__afterprev__fade__whole"/>
          <p:cNvSpPr/>
          <p:nvPr/>
        </p:nvSpPr>
        <p:spPr>
          <a:xfrm>
            <a:off x="6035040" y="4855464"/>
            <a:ext cx="5486400" cy="457200"/>
          </a:xfrm>
          <a:prstGeom prst="rect">
            <a:avLst/>
          </a:prstGeom>
          <a:solidFill>
            <a:srgbClr val="DB2777"/>
          </a:solidFill>
          <a:ln/>
        </p:spPr>
        <p:txBody>
          <a:bodyPr/>
          <a:lstStyle/>
          <a:p>
            <a:endParaRPr lang="fr-FR"/>
          </a:p>
        </p:txBody>
      </p:sp>
      <p:sp>
        <p:nvSpPr>
          <p:cNvPr id="25" name="anim__19__withprev__fade__whole"/>
          <p:cNvSpPr/>
          <p:nvPr/>
        </p:nvSpPr>
        <p:spPr>
          <a:xfrm>
            <a:off x="6144768" y="4855464"/>
            <a:ext cx="5266944" cy="45720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40 000 km</a:t>
            </a:r>
            <a:endParaRPr lang="en-US" sz="1450" dirty="0"/>
          </a:p>
        </p:txBody>
      </p:sp>
      <p:sp>
        <p:nvSpPr>
          <p:cNvPr id="26" name="anim__20__withprev__fade__whole"/>
          <p:cNvSpPr/>
          <p:nvPr/>
        </p:nvSpPr>
        <p:spPr>
          <a:xfrm>
            <a:off x="6035040" y="5330952"/>
            <a:ext cx="5486400" cy="256032"/>
          </a:xfrm>
          <a:prstGeom prst="rect">
            <a:avLst/>
          </a:prstGeom>
          <a:noFill/>
          <a:ln/>
        </p:spPr>
        <p:txBody>
          <a:bodyPr wrap="square" lIns="0" tIns="0" rIns="0" bIns="0" rtlCol="0" anchor="ctr"/>
          <a:lstStyle/>
          <a:p>
            <a:pPr marL="0" indent="0">
              <a:buNone/>
            </a:pPr>
            <a:r>
              <a:rPr lang="en-US" sz="1220" dirty="0">
                <a:solidFill>
                  <a:srgbClr val="847FA6"/>
                </a:solidFill>
                <a:latin typeface="Segoe UI" pitchFamily="34" charset="0"/>
                <a:ea typeface="Segoe UI" pitchFamily="34" charset="-122"/>
                <a:cs typeface="Segoe UI" pitchFamily="34" charset="-120"/>
              </a:rPr>
              <a:t>Non — 40 000 km</a:t>
            </a:r>
            <a:endParaRPr lang="en-US" sz="1220" dirty="0"/>
          </a:p>
        </p:txBody>
      </p:sp>
      <p:sp>
        <p:nvSpPr>
          <p:cNvPr id="27" name="Text 2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8" name="Text 2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15</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50"/>
                                  <p:tgtEl>
                                    <p:spTgt spid="5"/>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par>
                          <p:cTn id="20" presetID="10" presetClass="entr" presetSubtype="0" fill="hold" grpId="4"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50"/>
                                  <p:tgtEl>
                                    <p:spTgt spid="8"/>
                                  </p:tgtEl>
                                </p:cBhvr>
                              </p:animEffect>
                            </p:childTnLst>
                          </p:cTn>
                        </p:par>
                      </p:childTnLst>
                    </p:cTn>
                  </p:par>
                  <p:par>
                    <p:cTn id="23" fill="hold">
                      <p:stCondLst>
                        <p:cond delay="70"/>
                      </p:stCondLst>
                      <p:childTnLst>
                        <p:par>
                          <p:cTn id="24" presetID="10" presetClass="entr" presetSubtype="0" fill="hold" grpId="5"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50"/>
                                  <p:tgtEl>
                                    <p:spTgt spid="9"/>
                                  </p:tgtEl>
                                </p:cBhvr>
                              </p:animEffect>
                            </p:childTnLst>
                          </p:cTn>
                        </p:par>
                      </p:childTnLst>
                    </p:cTn>
                  </p:par>
                  <p:par>
                    <p:cTn id="27" fill="hold">
                      <p:stCondLst>
                        <p:cond delay="70"/>
                      </p:stCondLst>
                      <p:childTnLst>
                        <p:par>
                          <p:cTn id="28" presetID="10" presetClass="entr" presetSubtype="0" fill="hold" grpId="6"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50"/>
                                  <p:tgtEl>
                                    <p:spTgt spid="10"/>
                                  </p:tgtEl>
                                </p:cBhvr>
                              </p:animEffect>
                            </p:childTnLst>
                          </p:cTn>
                        </p:par>
                      </p:childTnLst>
                    </p:cTn>
                  </p:par>
                  <p:par>
                    <p:cTn id="31" fill="hold">
                      <p:stCondLst>
                        <p:cond delay="70"/>
                      </p:stCondLst>
                      <p:childTnLst>
                        <p:par>
                          <p:cTn id="32" presetID="10" presetClass="entr" presetSubtype="0" fill="hold" grpId="7"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childTnLst>
                          </p:cTn>
                        </p:par>
                      </p:childTnLst>
                    </p:cTn>
                  </p:par>
                  <p:par>
                    <p:cTn id="35" fill="hold">
                      <p:stCondLst>
                        <p:cond delay="70"/>
                      </p:stCondLst>
                      <p:childTnLst>
                        <p:par>
                          <p:cTn id="36" presetID="10" presetClass="entr" presetSubtype="0" fill="hold" grpId="8"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50"/>
                                  <p:tgtEl>
                                    <p:spTgt spid="12"/>
                                  </p:tgtEl>
                                </p:cBhvr>
                              </p:animEffect>
                            </p:childTnLst>
                          </p:cTn>
                        </p:par>
                      </p:childTnLst>
                    </p:cTn>
                  </p:par>
                  <p:par>
                    <p:cTn id="39" fill="hold">
                      <p:stCondLst>
                        <p:cond delay="70"/>
                      </p:stCondLst>
                      <p:childTnLst>
                        <p:par>
                          <p:cTn id="40" presetID="10" presetClass="entr" presetSubtype="0" fill="hold" grpId="9"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350"/>
                                  <p:tgtEl>
                                    <p:spTgt spid="14"/>
                                  </p:tgtEl>
                                </p:cBhvr>
                              </p:animEffect>
                            </p:childTnLst>
                          </p:cTn>
                        </p:par>
                        <p:par>
                          <p:cTn id="43" presetID="10" presetClass="entr" presetSubtype="0" fill="hold" grpId="1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350"/>
                                  <p:tgtEl>
                                    <p:spTgt spid="15"/>
                                  </p:tgtEl>
                                </p:cBhvr>
                              </p:animEffect>
                            </p:childTnLst>
                          </p:cTn>
                        </p:par>
                        <p:par>
                          <p:cTn id="46" presetID="10" presetClass="entr" presetSubtype="0" fill="hold" grpId="11"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50"/>
                                  <p:tgtEl>
                                    <p:spTgt spid="16"/>
                                  </p:tgtEl>
                                </p:cBhvr>
                              </p:animEffect>
                            </p:childTnLst>
                          </p:cTn>
                        </p:par>
                      </p:childTnLst>
                    </p:cTn>
                  </p:par>
                  <p:par>
                    <p:cTn id="49" fill="hold">
                      <p:stCondLst>
                        <p:cond delay="70"/>
                      </p:stCondLst>
                      <p:childTnLst>
                        <p:par>
                          <p:cTn id="50" presetID="10" presetClass="entr" presetSubtype="0" fill="hold" grpId="12"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350"/>
                                  <p:tgtEl>
                                    <p:spTgt spid="17"/>
                                  </p:tgtEl>
                                </p:cBhvr>
                              </p:animEffect>
                            </p:childTnLst>
                          </p:cTn>
                        </p:par>
                      </p:childTnLst>
                    </p:cTn>
                  </p:par>
                  <p:par>
                    <p:cTn id="53" fill="hold">
                      <p:stCondLst>
                        <p:cond delay="70"/>
                      </p:stCondLst>
                      <p:childTnLst>
                        <p:par>
                          <p:cTn id="54" presetID="10" presetClass="entr" presetSubtype="0" fill="hold" grpId="13"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50"/>
                                  <p:tgtEl>
                                    <p:spTgt spid="19"/>
                                  </p:tgtEl>
                                </p:cBhvr>
                              </p:animEffect>
                            </p:childTnLst>
                          </p:cTn>
                        </p:par>
                        <p:par>
                          <p:cTn id="57" presetID="10" presetClass="entr" presetSubtype="0" fill="hold" grpId="14"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50"/>
                                  <p:tgtEl>
                                    <p:spTgt spid="20"/>
                                  </p:tgtEl>
                                </p:cBhvr>
                              </p:animEffect>
                            </p:childTnLst>
                          </p:cTn>
                        </p:par>
                        <p:par>
                          <p:cTn id="60" presetID="10" presetClass="entr" presetSubtype="0" fill="hold" grpId="15"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50"/>
                                  <p:tgtEl>
                                    <p:spTgt spid="21"/>
                                  </p:tgtEl>
                                </p:cBhvr>
                              </p:animEffect>
                            </p:childTnLst>
                          </p:cTn>
                        </p:par>
                      </p:childTnLst>
                    </p:cTn>
                  </p:par>
                  <p:par>
                    <p:cTn id="63" fill="hold">
                      <p:stCondLst>
                        <p:cond delay="70"/>
                      </p:stCondLst>
                      <p:childTnLst>
                        <p:par>
                          <p:cTn id="64" presetID="10" presetClass="entr" presetSubtype="0" fill="hold" grpId="16"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350"/>
                                  <p:tgtEl>
                                    <p:spTgt spid="22"/>
                                  </p:tgtEl>
                                </p:cBhvr>
                              </p:animEffect>
                            </p:childTnLst>
                          </p:cTn>
                        </p:par>
                      </p:childTnLst>
                    </p:cTn>
                  </p:par>
                  <p:par>
                    <p:cTn id="67" fill="hold">
                      <p:stCondLst>
                        <p:cond delay="70"/>
                      </p:stCondLst>
                      <p:childTnLst>
                        <p:par>
                          <p:cTn id="68" presetID="10" presetClass="entr" presetSubtype="0" fill="hold" grpId="17"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50"/>
                                  <p:tgtEl>
                                    <p:spTgt spid="24"/>
                                  </p:tgtEl>
                                </p:cBhvr>
                              </p:animEffect>
                            </p:childTnLst>
                          </p:cTn>
                        </p:par>
                        <p:par>
                          <p:cTn id="71" presetID="10" presetClass="entr" presetSubtype="0" fill="hold" grpId="18"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350"/>
                                  <p:tgtEl>
                                    <p:spTgt spid="25"/>
                                  </p:tgtEl>
                                </p:cBhvr>
                              </p:animEffect>
                            </p:childTnLst>
                          </p:cTn>
                        </p:par>
                        <p:par>
                          <p:cTn id="74" presetID="10" presetClass="entr" presetSubtype="0" fill="hold" grpId="19"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5" grpId="2" animBg="1"/>
      <p:bldP spid="7" grpId="3" animBg="1"/>
      <p:bldP spid="8" grpId="4" animBg="1"/>
      <p:bldP spid="9" grpId="5" animBg="1"/>
      <p:bldP spid="10" grpId="6" animBg="1"/>
      <p:bldP spid="11" grpId="7" animBg="1"/>
      <p:bldP spid="12" grpId="8" animBg="1"/>
      <p:bldP spid="14" grpId="9" animBg="1"/>
      <p:bldP spid="15" grpId="10" animBg="1"/>
      <p:bldP spid="16" grpId="11" animBg="1"/>
      <p:bldP spid="17" grpId="12" animBg="1"/>
      <p:bldP spid="19" grpId="13" animBg="1"/>
      <p:bldP spid="20" grpId="14" animBg="1"/>
      <p:bldP spid="21" grpId="15" animBg="1"/>
      <p:bldP spid="22" grpId="16" animBg="1"/>
      <p:bldP spid="24" grpId="17" animBg="1"/>
      <p:bldP spid="25" grpId="18" animBg="1"/>
      <p:bldP spid="26" grpId="19"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Au-delà de 126 km : deux solutions</a:t>
            </a:r>
            <a:endParaRPr lang="en-US" sz="3100" dirty="0"/>
          </a:p>
        </p:txBody>
      </p:sp>
      <p:sp>
        <p:nvSpPr>
          <p:cNvPr id="4" name="Shape 2"/>
          <p:cNvSpPr/>
          <p:nvPr/>
        </p:nvSpPr>
        <p:spPr>
          <a:xfrm>
            <a:off x="685800" y="1874520"/>
            <a:ext cx="5440680" cy="4069080"/>
          </a:xfrm>
          <a:prstGeom prst="roundRect">
            <a:avLst>
              <a:gd name="adj" fmla="val 359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2020824"/>
            <a:ext cx="64008" cy="3776472"/>
          </a:xfrm>
          <a:prstGeom prst="rect">
            <a:avLst/>
          </a:prstGeom>
          <a:solidFill>
            <a:srgbClr val="6D28D9"/>
          </a:solidFill>
          <a:ln/>
        </p:spPr>
        <p:txBody>
          <a:bodyPr/>
          <a:lstStyle/>
          <a:p>
            <a:endParaRPr lang="fr-FR"/>
          </a:p>
        </p:txBody>
      </p:sp>
      <p:sp>
        <p:nvSpPr>
          <p:cNvPr id="6" name="Shape 4"/>
          <p:cNvSpPr/>
          <p:nvPr/>
        </p:nvSpPr>
        <p:spPr>
          <a:xfrm>
            <a:off x="960120" y="2148840"/>
            <a:ext cx="640080" cy="640080"/>
          </a:xfrm>
          <a:prstGeom prst="ellipse">
            <a:avLst/>
          </a:prstGeom>
          <a:solidFill>
            <a:srgbClr val="6D28D9"/>
          </a:solidFill>
          <a:ln/>
        </p:spPr>
        <p:txBody>
          <a:bodyPr/>
          <a:lstStyle/>
          <a:p>
            <a:endParaRPr lang="fr-FR"/>
          </a:p>
        </p:txBody>
      </p:sp>
      <p:pic>
        <p:nvPicPr>
          <p:cNvPr id="7" name="anim__3__afterprev__fade__whole" descr="C:\Users\Cedric S. DJIGUIMDE\Desktop\Projet\presentation_fibre\assets_themes\spectra\icons\amp_w.png"/>
          <p:cNvPicPr>
            <a:picLocks noChangeAspect="1"/>
          </p:cNvPicPr>
          <p:nvPr/>
        </p:nvPicPr>
        <p:blipFill>
          <a:blip r:embed="rId4"/>
          <a:stretch>
            <a:fillRect/>
          </a:stretch>
        </p:blipFill>
        <p:spPr>
          <a:xfrm>
            <a:off x="1132942" y="2321662"/>
            <a:ext cx="294437" cy="294437"/>
          </a:xfrm>
          <a:prstGeom prst="rect">
            <a:avLst/>
          </a:prstGeom>
        </p:spPr>
      </p:pic>
      <p:sp>
        <p:nvSpPr>
          <p:cNvPr id="8" name="anim__4__withprev__fade__whole"/>
          <p:cNvSpPr/>
          <p:nvPr/>
        </p:nvSpPr>
        <p:spPr>
          <a:xfrm>
            <a:off x="1737360" y="2148840"/>
            <a:ext cx="4206240" cy="36576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Amplification optique — EDFA</a:t>
            </a:r>
            <a:endParaRPr lang="en-US" sz="1860" dirty="0"/>
          </a:p>
        </p:txBody>
      </p:sp>
      <p:sp>
        <p:nvSpPr>
          <p:cNvPr id="9" name="anim__5__withprev__fade__whole"/>
          <p:cNvSpPr/>
          <p:nvPr/>
        </p:nvSpPr>
        <p:spPr>
          <a:xfrm>
            <a:off x="1737360" y="2514600"/>
            <a:ext cx="4206240" cy="292608"/>
          </a:xfrm>
          <a:prstGeom prst="rect">
            <a:avLst/>
          </a:prstGeom>
          <a:noFill/>
          <a:ln/>
        </p:spPr>
        <p:txBody>
          <a:bodyPr wrap="square" lIns="0" tIns="0" rIns="0" bIns="0" rtlCol="0" anchor="ctr"/>
          <a:lstStyle/>
          <a:p>
            <a:pPr marL="0" indent="0">
              <a:buNone/>
            </a:pPr>
            <a:r>
              <a:rPr lang="en-US" sz="1280" dirty="0">
                <a:solidFill>
                  <a:srgbClr val="6D28D9"/>
                </a:solidFill>
                <a:latin typeface="Consolas" pitchFamily="34" charset="0"/>
                <a:ea typeface="Consolas" pitchFamily="34" charset="-122"/>
                <a:cs typeface="Consolas" pitchFamily="34" charset="-120"/>
              </a:rPr>
              <a:t>Erbium Doped Fiber Amplifier</a:t>
            </a:r>
            <a:endParaRPr lang="en-US" sz="1280" dirty="0"/>
          </a:p>
        </p:txBody>
      </p:sp>
      <p:sp>
        <p:nvSpPr>
          <p:cNvPr id="10" name="anim__6__afterprev__fade__para"/>
          <p:cNvSpPr/>
          <p:nvPr/>
        </p:nvSpPr>
        <p:spPr>
          <a:xfrm>
            <a:off x="1005840" y="3108960"/>
            <a:ext cx="4800600" cy="2240280"/>
          </a:xfrm>
          <a:prstGeom prst="rect">
            <a:avLst/>
          </a:prstGeom>
          <a:noFill/>
          <a:ln/>
        </p:spPr>
        <p:txBody>
          <a:bodyPr wrap="square" lIns="0" tIns="0" rIns="0" bIns="0" rtlCol="0" anchor="ctr"/>
          <a:lstStyle/>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Compense l'atténuation dans le domaine optique</a:t>
            </a:r>
            <a:endParaRPr lang="en-US" sz="1450" dirty="0"/>
          </a:p>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Placé tous les 80–100 km, gain 20–30 dB</a:t>
            </a:r>
            <a:endParaRPr lang="en-US" sz="1450" dirty="0"/>
          </a:p>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Transparent au débit et au format</a:t>
            </a:r>
            <a:endParaRPr lang="en-US" sz="1450" dirty="0"/>
          </a:p>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Bande C : 1530–1565 nm</a:t>
            </a:r>
            <a:endParaRPr lang="en-US" sz="1450" dirty="0"/>
          </a:p>
        </p:txBody>
      </p:sp>
      <p:sp>
        <p:nvSpPr>
          <p:cNvPr id="11" name="Shape 8"/>
          <p:cNvSpPr/>
          <p:nvPr/>
        </p:nvSpPr>
        <p:spPr>
          <a:xfrm>
            <a:off x="1005840" y="5394960"/>
            <a:ext cx="4800600" cy="411480"/>
          </a:xfrm>
          <a:prstGeom prst="roundRect">
            <a:avLst>
              <a:gd name="adj" fmla="val 11111"/>
            </a:avLst>
          </a:prstGeom>
          <a:solidFill>
            <a:srgbClr val="EFE9FF"/>
          </a:solidFill>
          <a:ln/>
        </p:spPr>
        <p:txBody>
          <a:bodyPr/>
          <a:lstStyle/>
          <a:p>
            <a:endParaRPr lang="fr-FR"/>
          </a:p>
        </p:txBody>
      </p:sp>
      <p:sp>
        <p:nvSpPr>
          <p:cNvPr id="12" name="anim__7__withprev__fade__whole"/>
          <p:cNvSpPr/>
          <p:nvPr/>
        </p:nvSpPr>
        <p:spPr>
          <a:xfrm>
            <a:off x="1005840" y="5394960"/>
            <a:ext cx="4800600" cy="411480"/>
          </a:xfrm>
          <a:prstGeom prst="rect">
            <a:avLst/>
          </a:prstGeom>
          <a:noFill/>
          <a:ln/>
        </p:spPr>
        <p:txBody>
          <a:bodyPr wrap="square" lIns="0" tIns="0" rIns="0" bIns="0" rtlCol="0" anchor="ctr"/>
          <a:lstStyle/>
          <a:p>
            <a:pPr marL="0" indent="0" algn="ctr">
              <a:buNone/>
            </a:pPr>
            <a:r>
              <a:rPr lang="en-US" sz="1450" b="1" dirty="0">
                <a:solidFill>
                  <a:srgbClr val="6D28D9"/>
                </a:solidFill>
                <a:latin typeface="Segoe UI Semibold" pitchFamily="34" charset="0"/>
                <a:ea typeface="Segoe UI Semibold" pitchFamily="34" charset="-122"/>
                <a:cs typeface="Segoe UI Semibold" pitchFamily="34" charset="-120"/>
              </a:rPr>
              <a:t>Solution privilégiée</a:t>
            </a:r>
            <a:endParaRPr lang="en-US" sz="1450" dirty="0"/>
          </a:p>
        </p:txBody>
      </p:sp>
      <p:sp>
        <p:nvSpPr>
          <p:cNvPr id="13" name="Shape 10"/>
          <p:cNvSpPr/>
          <p:nvPr/>
        </p:nvSpPr>
        <p:spPr>
          <a:xfrm>
            <a:off x="6291072" y="1874520"/>
            <a:ext cx="5440680" cy="4069080"/>
          </a:xfrm>
          <a:prstGeom prst="roundRect">
            <a:avLst>
              <a:gd name="adj" fmla="val 359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4" name="Shape 11"/>
          <p:cNvSpPr/>
          <p:nvPr/>
        </p:nvSpPr>
        <p:spPr>
          <a:xfrm>
            <a:off x="6291072" y="2020824"/>
            <a:ext cx="64008" cy="3776472"/>
          </a:xfrm>
          <a:prstGeom prst="rect">
            <a:avLst/>
          </a:prstGeom>
          <a:solidFill>
            <a:srgbClr val="DB2777"/>
          </a:solidFill>
          <a:ln/>
        </p:spPr>
        <p:txBody>
          <a:bodyPr/>
          <a:lstStyle/>
          <a:p>
            <a:endParaRPr lang="fr-FR"/>
          </a:p>
        </p:txBody>
      </p:sp>
      <p:sp>
        <p:nvSpPr>
          <p:cNvPr id="15" name="Shape 12"/>
          <p:cNvSpPr/>
          <p:nvPr/>
        </p:nvSpPr>
        <p:spPr>
          <a:xfrm>
            <a:off x="6565392" y="2148840"/>
            <a:ext cx="640080" cy="640080"/>
          </a:xfrm>
          <a:prstGeom prst="ellipse">
            <a:avLst/>
          </a:prstGeom>
          <a:solidFill>
            <a:srgbClr val="DB2777"/>
          </a:solidFill>
          <a:ln/>
        </p:spPr>
        <p:txBody>
          <a:bodyPr/>
          <a:lstStyle/>
          <a:p>
            <a:endParaRPr lang="fr-FR"/>
          </a:p>
        </p:txBody>
      </p:sp>
      <p:pic>
        <p:nvPicPr>
          <p:cNvPr id="16" name="anim__8__afterprev__fade__whole" descr="C:\Users\Cedric S. DJIGUIMDE\Desktop\Projet\presentation_fibre\assets_themes\spectra\icons\repeat_w.png"/>
          <p:cNvPicPr>
            <a:picLocks noChangeAspect="1"/>
          </p:cNvPicPr>
          <p:nvPr/>
        </p:nvPicPr>
        <p:blipFill>
          <a:blip r:embed="rId5"/>
          <a:stretch>
            <a:fillRect/>
          </a:stretch>
        </p:blipFill>
        <p:spPr>
          <a:xfrm>
            <a:off x="6738214" y="2321662"/>
            <a:ext cx="294437" cy="294437"/>
          </a:xfrm>
          <a:prstGeom prst="rect">
            <a:avLst/>
          </a:prstGeom>
        </p:spPr>
      </p:pic>
      <p:sp>
        <p:nvSpPr>
          <p:cNvPr id="17" name="anim__9__withprev__fade__whole"/>
          <p:cNvSpPr/>
          <p:nvPr/>
        </p:nvSpPr>
        <p:spPr>
          <a:xfrm>
            <a:off x="7342632" y="2148840"/>
            <a:ext cx="4206240" cy="36576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Régénération 3R</a:t>
            </a:r>
            <a:endParaRPr lang="en-US" sz="1860" dirty="0"/>
          </a:p>
        </p:txBody>
      </p:sp>
      <p:sp>
        <p:nvSpPr>
          <p:cNvPr id="18" name="anim__10__withprev__fade__whole"/>
          <p:cNvSpPr/>
          <p:nvPr/>
        </p:nvSpPr>
        <p:spPr>
          <a:xfrm>
            <a:off x="7342632" y="2514600"/>
            <a:ext cx="4206240" cy="292608"/>
          </a:xfrm>
          <a:prstGeom prst="rect">
            <a:avLst/>
          </a:prstGeom>
          <a:noFill/>
          <a:ln/>
        </p:spPr>
        <p:txBody>
          <a:bodyPr wrap="square" lIns="0" tIns="0" rIns="0" bIns="0" rtlCol="0" anchor="ctr"/>
          <a:lstStyle/>
          <a:p>
            <a:pPr marL="0" indent="0">
              <a:buNone/>
            </a:pPr>
            <a:r>
              <a:rPr lang="en-US" sz="1280" dirty="0">
                <a:solidFill>
                  <a:srgbClr val="DB2777"/>
                </a:solidFill>
                <a:latin typeface="Consolas" pitchFamily="34" charset="0"/>
                <a:ea typeface="Consolas" pitchFamily="34" charset="-122"/>
                <a:cs typeface="Consolas" pitchFamily="34" charset="-120"/>
              </a:rPr>
              <a:t>Re-amplification + Re-mise en forme + Re-synchronisation</a:t>
            </a:r>
            <a:endParaRPr lang="en-US" sz="1280" dirty="0"/>
          </a:p>
        </p:txBody>
      </p:sp>
      <p:sp>
        <p:nvSpPr>
          <p:cNvPr id="19" name="anim__11__afterprev__fade__para"/>
          <p:cNvSpPr/>
          <p:nvPr/>
        </p:nvSpPr>
        <p:spPr>
          <a:xfrm>
            <a:off x="6611112" y="3108960"/>
            <a:ext cx="4800600" cy="2240280"/>
          </a:xfrm>
          <a:prstGeom prst="rect">
            <a:avLst/>
          </a:prstGeom>
          <a:noFill/>
          <a:ln/>
        </p:spPr>
        <p:txBody>
          <a:bodyPr wrap="square" lIns="0" tIns="0" rIns="0" bIns="0" rtlCol="0" anchor="ctr"/>
          <a:lstStyle/>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Conversion optique → électrique → optique</a:t>
            </a:r>
            <a:endParaRPr lang="en-US" sz="1450" dirty="0"/>
          </a:p>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Restaure le niveau, corrige CD/PMD</a:t>
            </a:r>
            <a:endParaRPr lang="en-US" sz="1450" dirty="0"/>
          </a:p>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Récupère l'horloge, élimine la gigue</a:t>
            </a:r>
            <a:endParaRPr lang="en-US" sz="1450" dirty="0"/>
          </a:p>
          <a:p>
            <a:pPr marL="203200" indent="-203200">
              <a:lnSpc>
                <a:spcPct val="105000"/>
              </a:lnSpc>
              <a:spcAft>
                <a:spcPts val="900"/>
              </a:spcAft>
              <a:buSzPct val="100000"/>
              <a:buChar char="•"/>
            </a:pPr>
            <a:r>
              <a:rPr lang="en-US" sz="1450" dirty="0">
                <a:solidFill>
                  <a:srgbClr val="3F3D56"/>
                </a:solidFill>
                <a:latin typeface="Segoe UI" pitchFamily="34" charset="0"/>
                <a:ea typeface="Segoe UI" pitchFamily="34" charset="-122"/>
                <a:cs typeface="Segoe UI" pitchFamily="34" charset="-120"/>
              </a:rPr>
              <a:t>Dépendante du débit → moins flexible</a:t>
            </a:r>
            <a:endParaRPr lang="en-US" sz="1450" dirty="0"/>
          </a:p>
        </p:txBody>
      </p:sp>
      <p:sp>
        <p:nvSpPr>
          <p:cNvPr id="20" name="Shape 16"/>
          <p:cNvSpPr/>
          <p:nvPr/>
        </p:nvSpPr>
        <p:spPr>
          <a:xfrm>
            <a:off x="6611112" y="5394960"/>
            <a:ext cx="4800600" cy="411480"/>
          </a:xfrm>
          <a:prstGeom prst="roundRect">
            <a:avLst>
              <a:gd name="adj" fmla="val 11111"/>
            </a:avLst>
          </a:prstGeom>
          <a:solidFill>
            <a:srgbClr val="EFE9FF"/>
          </a:solidFill>
          <a:ln/>
        </p:spPr>
        <p:txBody>
          <a:bodyPr/>
          <a:lstStyle/>
          <a:p>
            <a:endParaRPr lang="fr-FR"/>
          </a:p>
        </p:txBody>
      </p:sp>
      <p:sp>
        <p:nvSpPr>
          <p:cNvPr id="21" name="anim__12__withprev__fade__whole"/>
          <p:cNvSpPr/>
          <p:nvPr/>
        </p:nvSpPr>
        <p:spPr>
          <a:xfrm>
            <a:off x="6611112" y="5394960"/>
            <a:ext cx="4800600" cy="411480"/>
          </a:xfrm>
          <a:prstGeom prst="rect">
            <a:avLst/>
          </a:prstGeom>
          <a:noFill/>
          <a:ln/>
        </p:spPr>
        <p:txBody>
          <a:bodyPr wrap="square" lIns="0" tIns="0" rIns="0" bIns="0" rtlCol="0" anchor="ctr"/>
          <a:lstStyle/>
          <a:p>
            <a:pPr marL="0" indent="0" algn="ctr">
              <a:buNone/>
            </a:pPr>
            <a:r>
              <a:rPr lang="en-US" sz="1450" b="1" dirty="0">
                <a:solidFill>
                  <a:srgbClr val="DB2777"/>
                </a:solidFill>
                <a:latin typeface="Segoe UI Semibold" pitchFamily="34" charset="0"/>
                <a:ea typeface="Segoe UI Semibold" pitchFamily="34" charset="-122"/>
                <a:cs typeface="Segoe UI Semibold" pitchFamily="34" charset="-120"/>
              </a:rPr>
              <a:t>Remise à zéro complète</a:t>
            </a:r>
            <a:endParaRPr lang="en-US" sz="1450" dirty="0"/>
          </a:p>
        </p:txBody>
      </p:sp>
      <p:sp>
        <p:nvSpPr>
          <p:cNvPr id="22" name="Text 18"/>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3" name="Text 19"/>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16</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50"/>
                                  <p:tgtEl>
                                    <p:spTgt spid="7"/>
                                  </p:tgtEl>
                                </p:cBhvr>
                              </p:animEffect>
                            </p:childTnLst>
                          </p:cTn>
                        </p:par>
                        <p:par>
                          <p:cTn id="16" presetID="10" presetClass="entr" presetSubtype="0" fill="hold" grpId="3"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50"/>
                                  <p:tgtEl>
                                    <p:spTgt spid="8"/>
                                  </p:tgtEl>
                                </p:cBhvr>
                              </p:animEffect>
                            </p:childTnLst>
                          </p:cTn>
                        </p:par>
                        <p:par>
                          <p:cTn id="19" presetID="10" presetClass="entr" presetSubtype="0" fill="hold" grpId="4"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50"/>
                                  <p:tgtEl>
                                    <p:spTgt spid="9"/>
                                  </p:tgtEl>
                                </p:cBhvr>
                              </p:animEffect>
                            </p:childTnLst>
                          </p:cTn>
                        </p:par>
                      </p:childTnLst>
                    </p:cTn>
                  </p:par>
                  <p:par>
                    <p:cTn id="22" fill="hold">
                      <p:stCondLst>
                        <p:cond delay="70"/>
                      </p:stCondLst>
                      <p:childTnLst>
                        <p:par>
                          <p:cTn id="23" presetID="10" presetClass="entr" presetSubtype="0" fill="hold" grpId="5" nodeType="after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350"/>
                                  <p:tgtEl>
                                    <p:spTgt spid="10">
                                      <p:txEl>
                                        <p:pRg st="0" end="0"/>
                                      </p:txEl>
                                    </p:spTgt>
                                  </p:tgtEl>
                                </p:cBhvr>
                              </p:animEffect>
                            </p:childTnLst>
                          </p:cTn>
                        </p:par>
                      </p:childTnLst>
                    </p:cTn>
                  </p:par>
                  <p:par>
                    <p:cTn id="26" fill="hold">
                      <p:stCondLst>
                        <p:cond delay="70"/>
                      </p:stCondLst>
                      <p:childTnLst>
                        <p:par>
                          <p:cTn id="27" presetID="10" presetClass="entr" presetSubtype="0" fill="hold" grpId="5" nodeType="after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Effect transition="in" filter="fade">
                                <p:cBhvr>
                                  <p:cTn id="29" dur="350"/>
                                  <p:tgtEl>
                                    <p:spTgt spid="10">
                                      <p:txEl>
                                        <p:pRg st="1" end="1"/>
                                      </p:txEl>
                                    </p:spTgt>
                                  </p:tgtEl>
                                </p:cBhvr>
                              </p:animEffect>
                            </p:childTnLst>
                          </p:cTn>
                        </p:par>
                      </p:childTnLst>
                    </p:cTn>
                  </p:par>
                  <p:par>
                    <p:cTn id="30" fill="hold">
                      <p:stCondLst>
                        <p:cond delay="70"/>
                      </p:stCondLst>
                      <p:childTnLst>
                        <p:par>
                          <p:cTn id="31" presetID="10" presetClass="entr" presetSubtype="0" fill="hold" grpId="5" nodeType="after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animEffect transition="in" filter="fade">
                                <p:cBhvr>
                                  <p:cTn id="33" dur="350"/>
                                  <p:tgtEl>
                                    <p:spTgt spid="10">
                                      <p:txEl>
                                        <p:pRg st="2" end="2"/>
                                      </p:txEl>
                                    </p:spTgt>
                                  </p:tgtEl>
                                </p:cBhvr>
                              </p:animEffect>
                            </p:childTnLst>
                          </p:cTn>
                        </p:par>
                      </p:childTnLst>
                    </p:cTn>
                  </p:par>
                  <p:par>
                    <p:cTn id="34" fill="hold">
                      <p:stCondLst>
                        <p:cond delay="70"/>
                      </p:stCondLst>
                      <p:childTnLst>
                        <p:par>
                          <p:cTn id="35" presetID="10" presetClass="entr" presetSubtype="0" fill="hold" grpId="5" nodeType="afterEffect">
                            <p:stCondLst>
                              <p:cond delay="0"/>
                            </p:stCondLst>
                            <p:childTnLst>
                              <p:set>
                                <p:cBhvr>
                                  <p:cTn id="36" dur="1" fill="hold">
                                    <p:stCondLst>
                                      <p:cond delay="0"/>
                                    </p:stCondLst>
                                  </p:cTn>
                                  <p:tgtEl>
                                    <p:spTgt spid="10">
                                      <p:txEl>
                                        <p:pRg st="3" end="3"/>
                                      </p:txEl>
                                    </p:spTgt>
                                  </p:tgtEl>
                                  <p:attrNameLst>
                                    <p:attrName>style.visibility</p:attrName>
                                  </p:attrNameLst>
                                </p:cBhvr>
                                <p:to>
                                  <p:strVal val="visible"/>
                                </p:to>
                              </p:set>
                              <p:animEffect transition="in" filter="fade">
                                <p:cBhvr>
                                  <p:cTn id="37" dur="350"/>
                                  <p:tgtEl>
                                    <p:spTgt spid="10">
                                      <p:txEl>
                                        <p:pRg st="3" end="3"/>
                                      </p:txEl>
                                    </p:spTgt>
                                  </p:tgtEl>
                                </p:cBhvr>
                              </p:animEffect>
                            </p:childTnLst>
                          </p:cTn>
                        </p:par>
                        <p:par>
                          <p:cTn id="38" presetID="10" presetClass="entr" presetSubtype="0" fill="hold" grpId="6"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350"/>
                                  <p:tgtEl>
                                    <p:spTgt spid="12"/>
                                  </p:tgtEl>
                                </p:cBhvr>
                              </p:animEffect>
                            </p:childTnLst>
                          </p:cTn>
                        </p:par>
                      </p:childTnLst>
                    </p:cTn>
                  </p:par>
                  <p:par>
                    <p:cTn id="41" fill="hold">
                      <p:stCondLst>
                        <p:cond delay="70"/>
                      </p:stCondLst>
                      <p:childTnLst>
                        <p:par>
                          <p:cTn id="42" presetID="10" presetClass="entr" presetSubtype="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50"/>
                                  <p:tgtEl>
                                    <p:spTgt spid="16"/>
                                  </p:tgtEl>
                                </p:cBhvr>
                              </p:animEffect>
                            </p:childTnLst>
                          </p:cTn>
                        </p:par>
                        <p:par>
                          <p:cTn id="45" presetID="10" presetClass="entr" presetSubtype="0" fill="hold" grpId="8"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50"/>
                                  <p:tgtEl>
                                    <p:spTgt spid="17"/>
                                  </p:tgtEl>
                                </p:cBhvr>
                              </p:animEffect>
                            </p:childTnLst>
                          </p:cTn>
                        </p:par>
                        <p:par>
                          <p:cTn id="48" presetID="10" presetClass="entr" presetSubtype="0" fill="hold" grpId="9"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50"/>
                                  <p:tgtEl>
                                    <p:spTgt spid="18"/>
                                  </p:tgtEl>
                                </p:cBhvr>
                              </p:animEffect>
                            </p:childTnLst>
                          </p:cTn>
                        </p:par>
                      </p:childTnLst>
                    </p:cTn>
                  </p:par>
                  <p:par>
                    <p:cTn id="51" fill="hold">
                      <p:stCondLst>
                        <p:cond delay="70"/>
                      </p:stCondLst>
                      <p:childTnLst>
                        <p:par>
                          <p:cTn id="52" presetID="10" presetClass="entr" presetSubtype="0" fill="hold" grpId="10" nodeType="afterEffect">
                            <p:stCondLst>
                              <p:cond delay="0"/>
                            </p:stCondLst>
                            <p:childTnLst>
                              <p:set>
                                <p:cBhvr>
                                  <p:cTn id="53" dur="1" fill="hold">
                                    <p:stCondLst>
                                      <p:cond delay="0"/>
                                    </p:stCondLst>
                                  </p:cTn>
                                  <p:tgtEl>
                                    <p:spTgt spid="19">
                                      <p:txEl>
                                        <p:pRg st="0" end="0"/>
                                      </p:txEl>
                                    </p:spTgt>
                                  </p:tgtEl>
                                  <p:attrNameLst>
                                    <p:attrName>style.visibility</p:attrName>
                                  </p:attrNameLst>
                                </p:cBhvr>
                                <p:to>
                                  <p:strVal val="visible"/>
                                </p:to>
                              </p:set>
                              <p:animEffect transition="in" filter="fade">
                                <p:cBhvr>
                                  <p:cTn id="54" dur="350"/>
                                  <p:tgtEl>
                                    <p:spTgt spid="19">
                                      <p:txEl>
                                        <p:pRg st="0" end="0"/>
                                      </p:txEl>
                                    </p:spTgt>
                                  </p:tgtEl>
                                </p:cBhvr>
                              </p:animEffect>
                            </p:childTnLst>
                          </p:cTn>
                        </p:par>
                      </p:childTnLst>
                    </p:cTn>
                  </p:par>
                  <p:par>
                    <p:cTn id="55" fill="hold">
                      <p:stCondLst>
                        <p:cond delay="70"/>
                      </p:stCondLst>
                      <p:childTnLst>
                        <p:par>
                          <p:cTn id="56" presetID="10" presetClass="entr" presetSubtype="0" fill="hold" grpId="10" nodeType="afterEffect">
                            <p:stCondLst>
                              <p:cond delay="0"/>
                            </p:stCondLst>
                            <p:childTnLst>
                              <p:set>
                                <p:cBhvr>
                                  <p:cTn id="57" dur="1" fill="hold">
                                    <p:stCondLst>
                                      <p:cond delay="0"/>
                                    </p:stCondLst>
                                  </p:cTn>
                                  <p:tgtEl>
                                    <p:spTgt spid="19">
                                      <p:txEl>
                                        <p:pRg st="1" end="1"/>
                                      </p:txEl>
                                    </p:spTgt>
                                  </p:tgtEl>
                                  <p:attrNameLst>
                                    <p:attrName>style.visibility</p:attrName>
                                  </p:attrNameLst>
                                </p:cBhvr>
                                <p:to>
                                  <p:strVal val="visible"/>
                                </p:to>
                              </p:set>
                              <p:animEffect transition="in" filter="fade">
                                <p:cBhvr>
                                  <p:cTn id="58" dur="350"/>
                                  <p:tgtEl>
                                    <p:spTgt spid="19">
                                      <p:txEl>
                                        <p:pRg st="1" end="1"/>
                                      </p:txEl>
                                    </p:spTgt>
                                  </p:tgtEl>
                                </p:cBhvr>
                              </p:animEffect>
                            </p:childTnLst>
                          </p:cTn>
                        </p:par>
                      </p:childTnLst>
                    </p:cTn>
                  </p:par>
                  <p:par>
                    <p:cTn id="59" fill="hold">
                      <p:stCondLst>
                        <p:cond delay="70"/>
                      </p:stCondLst>
                      <p:childTnLst>
                        <p:par>
                          <p:cTn id="60" presetID="10" presetClass="entr" presetSubtype="0" fill="hold" grpId="10" nodeType="afterEffect">
                            <p:stCondLst>
                              <p:cond delay="0"/>
                            </p:stCondLst>
                            <p:childTnLst>
                              <p:set>
                                <p:cBhvr>
                                  <p:cTn id="61" dur="1" fill="hold">
                                    <p:stCondLst>
                                      <p:cond delay="0"/>
                                    </p:stCondLst>
                                  </p:cTn>
                                  <p:tgtEl>
                                    <p:spTgt spid="19">
                                      <p:txEl>
                                        <p:pRg st="2" end="2"/>
                                      </p:txEl>
                                    </p:spTgt>
                                  </p:tgtEl>
                                  <p:attrNameLst>
                                    <p:attrName>style.visibility</p:attrName>
                                  </p:attrNameLst>
                                </p:cBhvr>
                                <p:to>
                                  <p:strVal val="visible"/>
                                </p:to>
                              </p:set>
                              <p:animEffect transition="in" filter="fade">
                                <p:cBhvr>
                                  <p:cTn id="62" dur="350"/>
                                  <p:tgtEl>
                                    <p:spTgt spid="19">
                                      <p:txEl>
                                        <p:pRg st="2" end="2"/>
                                      </p:txEl>
                                    </p:spTgt>
                                  </p:tgtEl>
                                </p:cBhvr>
                              </p:animEffect>
                            </p:childTnLst>
                          </p:cTn>
                        </p:par>
                      </p:childTnLst>
                    </p:cTn>
                  </p:par>
                  <p:par>
                    <p:cTn id="63" fill="hold">
                      <p:stCondLst>
                        <p:cond delay="70"/>
                      </p:stCondLst>
                      <p:childTnLst>
                        <p:par>
                          <p:cTn id="64" presetID="10" presetClass="entr" presetSubtype="0" fill="hold" grpId="10" nodeType="afterEffect">
                            <p:stCondLst>
                              <p:cond delay="0"/>
                            </p:stCondLst>
                            <p:childTnLst>
                              <p:set>
                                <p:cBhvr>
                                  <p:cTn id="65" dur="1" fill="hold">
                                    <p:stCondLst>
                                      <p:cond delay="0"/>
                                    </p:stCondLst>
                                  </p:cTn>
                                  <p:tgtEl>
                                    <p:spTgt spid="19">
                                      <p:txEl>
                                        <p:pRg st="3" end="3"/>
                                      </p:txEl>
                                    </p:spTgt>
                                  </p:tgtEl>
                                  <p:attrNameLst>
                                    <p:attrName>style.visibility</p:attrName>
                                  </p:attrNameLst>
                                </p:cBhvr>
                                <p:to>
                                  <p:strVal val="visible"/>
                                </p:to>
                              </p:set>
                              <p:animEffect transition="in" filter="fade">
                                <p:cBhvr>
                                  <p:cTn id="66" dur="350"/>
                                  <p:tgtEl>
                                    <p:spTgt spid="19">
                                      <p:txEl>
                                        <p:pRg st="3" end="3"/>
                                      </p:txEl>
                                    </p:spTgt>
                                  </p:tgtEl>
                                </p:cBhvr>
                              </p:animEffect>
                            </p:childTnLst>
                          </p:cTn>
                        </p:par>
                        <p:par>
                          <p:cTn id="67" presetID="10" presetClass="entr" presetSubtype="0" fill="hold" grpId="11"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35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8" grpId="3" animBg="1"/>
      <p:bldP spid="9" grpId="4" animBg="1"/>
      <p:bldP spid="10" grpId="5" build="p"/>
      <p:bldP spid="12" grpId="6" animBg="1"/>
      <p:bldP spid="17" grpId="8" animBg="1"/>
      <p:bldP spid="18" grpId="9" animBg="1"/>
      <p:bldP spid="19" grpId="10" build="p"/>
      <p:bldP spid="21" grpId="11"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Comparaison des fibres normalisées ITU-T</a:t>
            </a:r>
            <a:endParaRPr lang="en-US" sz="3100" dirty="0"/>
          </a:p>
        </p:txBody>
      </p:sp>
      <p:graphicFrame>
        <p:nvGraphicFramePr>
          <p:cNvPr id="18" name="anim__3__afterprev__fade__whole"/>
          <p:cNvGraphicFramePr>
            <a:graphicFrameLocks noGrp="1"/>
          </p:cNvGraphicFramePr>
          <p:nvPr>
            <p:extLst>
              <p:ext uri="{D42A27DB-BD31-4B8C-83A1-F6EECF244321}">
                <p14:modId xmlns:p14="http://schemas.microsoft.com/office/powerpoint/2010/main" val="1579011935"/>
              </p:ext>
            </p:extLst>
          </p:nvPr>
        </p:nvGraphicFramePr>
        <p:xfrm>
          <a:off x="685800" y="1828800"/>
          <a:ext cx="10817352" cy="3657600"/>
        </p:xfrm>
        <a:graphic>
          <a:graphicData uri="http://schemas.openxmlformats.org/drawingml/2006/table">
            <a:tbl>
              <a:tblPr/>
              <a:tblGrid>
                <a:gridCol w="2103120">
                  <a:extLst>
                    <a:ext uri="{9D8B030D-6E8A-4147-A177-3AD203B41FA5}">
                      <a16:colId xmlns:a16="http://schemas.microsoft.com/office/drawing/2014/main" val="20000"/>
                    </a:ext>
                  </a:extLst>
                </a:gridCol>
                <a:gridCol w="2176272">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gridCol w="2176272">
                  <a:extLst>
                    <a:ext uri="{9D8B030D-6E8A-4147-A177-3AD203B41FA5}">
                      <a16:colId xmlns:a16="http://schemas.microsoft.com/office/drawing/2014/main" val="20003"/>
                    </a:ext>
                  </a:extLst>
                </a:gridCol>
                <a:gridCol w="2185416">
                  <a:extLst>
                    <a:ext uri="{9D8B030D-6E8A-4147-A177-3AD203B41FA5}">
                      <a16:colId xmlns:a16="http://schemas.microsoft.com/office/drawing/2014/main" val="20004"/>
                    </a:ext>
                  </a:extLst>
                </a:gridCol>
              </a:tblGrid>
              <a:tr h="457200">
                <a:tc>
                  <a:txBody>
                    <a:bodyP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Critère</a:t>
                      </a:r>
                      <a:endParaRPr lang="en-US" sz="1450" dirty="0">
                        <a:latin typeface="Segoe UI Semibold" charset="0"/>
                        <a:ea typeface="Segoe UI Semibold" charset="0"/>
                        <a:cs typeface="Segoe UI Semibold"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6D28D9"/>
                    </a:solidFill>
                  </a:tcPr>
                </a:tc>
                <a:tc>
                  <a:txBody>
                    <a:bodyP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G.652 (SMF)</a:t>
                      </a:r>
                      <a:endParaRPr lang="en-US" sz="1450" dirty="0">
                        <a:latin typeface="Segoe UI Semibold" charset="0"/>
                        <a:ea typeface="Segoe UI Semibold" charset="0"/>
                        <a:cs typeface="Segoe UI Semibold"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6D28D9"/>
                    </a:solidFill>
                  </a:tcPr>
                </a:tc>
                <a:tc>
                  <a:txBody>
                    <a:bodyP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G.655 (NZDSF)</a:t>
                      </a:r>
                      <a:endParaRPr lang="en-US" sz="1450" dirty="0">
                        <a:latin typeface="Segoe UI Semibold" charset="0"/>
                        <a:ea typeface="Segoe UI Semibold" charset="0"/>
                        <a:cs typeface="Segoe UI Semibold"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6D28D9"/>
                    </a:solidFill>
                  </a:tcPr>
                </a:tc>
                <a:tc>
                  <a:txBody>
                    <a:bodyP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G.657 (Bending)</a:t>
                      </a:r>
                      <a:endParaRPr lang="en-US" sz="1450" dirty="0">
                        <a:latin typeface="Segoe UI Semibold" charset="0"/>
                        <a:ea typeface="Segoe UI Semibold" charset="0"/>
                        <a:cs typeface="Segoe UI Semibold"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6D28D9"/>
                    </a:solidFill>
                  </a:tcPr>
                </a:tc>
                <a:tc>
                  <a:txBody>
                    <a:bodyP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G.957 (SDH)</a:t>
                      </a:r>
                      <a:endParaRPr lang="en-US" sz="1450" dirty="0">
                        <a:latin typeface="Segoe UI Semibold" charset="0"/>
                        <a:ea typeface="Segoe UI Semibold" charset="0"/>
                        <a:cs typeface="Segoe UI Semibold"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6D28D9"/>
                    </a:solidFill>
                  </a:tcPr>
                </a:tc>
                <a:extLst>
                  <a:ext uri="{0D108BD9-81ED-4DB2-BD59-A6C34878D82A}">
                    <a16:rowId xmlns:a16="http://schemas.microsoft.com/office/drawing/2014/main" val="10000"/>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Atténuation</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0,20 dB/km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0,20 dB/km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0,20 dB/km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b="1" dirty="0">
                          <a:solidFill>
                            <a:srgbClr val="DB2777"/>
                          </a:solidFill>
                          <a:latin typeface="Consolas" pitchFamily="34" charset="0"/>
                          <a:ea typeface="Consolas" pitchFamily="34" charset="-122"/>
                          <a:cs typeface="Consolas" pitchFamily="34" charset="-120"/>
                        </a:rPr>
                        <a:t>0,25 dB/km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extLst>
                  <a:ext uri="{0D108BD9-81ED-4DB2-BD59-A6C34878D82A}">
                    <a16:rowId xmlns:a16="http://schemas.microsoft.com/office/drawing/2014/main" val="10001"/>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Dispersion D</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17 ps/(nm·km)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b="1" dirty="0">
                          <a:solidFill>
                            <a:srgbClr val="DB2777"/>
                          </a:solidFill>
                          <a:latin typeface="Consolas" pitchFamily="34" charset="0"/>
                          <a:ea typeface="Consolas" pitchFamily="34" charset="-122"/>
                          <a:cs typeface="Consolas" pitchFamily="34" charset="-120"/>
                        </a:rPr>
                        <a:t>≈ 4 ps/(nm·km)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17 ps/(nm·km)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17 ps/(nm·km)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L_att</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 126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 126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 126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b="1" dirty="0">
                          <a:solidFill>
                            <a:srgbClr val="DB2777"/>
                          </a:solidFill>
                          <a:latin typeface="Consolas" pitchFamily="34" charset="0"/>
                          <a:ea typeface="Consolas" pitchFamily="34" charset="-122"/>
                          <a:cs typeface="Consolas" pitchFamily="34" charset="-120"/>
                        </a:rPr>
                        <a:t>≈ 100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extLst>
                  <a:ext uri="{0D108BD9-81ED-4DB2-BD59-A6C34878D82A}">
                    <a16:rowId xmlns:a16="http://schemas.microsoft.com/office/drawing/2014/main" val="10003"/>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L_CD (10 Gbit/s)</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 147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b="1" dirty="0">
                          <a:solidFill>
                            <a:srgbClr val="DB2777"/>
                          </a:solidFill>
                          <a:latin typeface="Consolas" pitchFamily="34" charset="0"/>
                          <a:ea typeface="Consolas" pitchFamily="34" charset="-122"/>
                          <a:cs typeface="Consolas" pitchFamily="34" charset="-120"/>
                        </a:rPr>
                        <a:t>≈ 625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 147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 147 km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Courbure min.</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30 mm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30 mm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b="1" dirty="0">
                          <a:solidFill>
                            <a:srgbClr val="DB2777"/>
                          </a:solidFill>
                          <a:latin typeface="Consolas" pitchFamily="34" charset="0"/>
                          <a:ea typeface="Consolas" pitchFamily="34" charset="-122"/>
                          <a:cs typeface="Consolas" pitchFamily="34" charset="-120"/>
                        </a:rPr>
                        <a:t>5 mm</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extLst>
                  <a:ext uri="{0D108BD9-81ED-4DB2-BD59-A6C34878D82A}">
                    <a16:rowId xmlns:a16="http://schemas.microsoft.com/office/drawing/2014/main" val="10005"/>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WDM / Coût</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Partielle / faible</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Optimale / moyen</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Partielle / moyen</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Non adaptée / faible</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280" b="1" dirty="0">
                          <a:solidFill>
                            <a:srgbClr val="20183F"/>
                          </a:solidFill>
                          <a:latin typeface="Segoe UI" pitchFamily="34" charset="0"/>
                          <a:ea typeface="Segoe UI" pitchFamily="34" charset="-122"/>
                          <a:cs typeface="Segoe UI" pitchFamily="34" charset="-120"/>
                        </a:rPr>
                        <a:t>Application</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b="1" dirty="0">
                          <a:solidFill>
                            <a:srgbClr val="6D28D9"/>
                          </a:solidFill>
                          <a:latin typeface="Segoe UI" pitchFamily="34" charset="0"/>
                          <a:ea typeface="Segoe UI" pitchFamily="34" charset="-122"/>
                          <a:cs typeface="Segoe UI" pitchFamily="34" charset="-120"/>
                        </a:rPr>
                        <a:t>Backbone national</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Consolas" pitchFamily="34" charset="0"/>
                          <a:ea typeface="Consolas" pitchFamily="34" charset="-122"/>
                          <a:cs typeface="Consolas" pitchFamily="34" charset="-120"/>
                        </a:rPr>
                        <a:t>WDM/DWDM, sous-marin</a:t>
                      </a:r>
                      <a:endParaRPr lang="en-US" sz="1280" dirty="0">
                        <a:latin typeface="Consolas" charset="0"/>
                        <a:ea typeface="Consolas" charset="0"/>
                        <a:cs typeface="Consolas"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Segoe UI" pitchFamily="34" charset="0"/>
                          <a:ea typeface="Segoe UI" pitchFamily="34" charset="-122"/>
                          <a:cs typeface="Segoe UI" pitchFamily="34" charset="-120"/>
                        </a:rPr>
                        <a:t>FTTH, accès</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tc>
                  <a:txBody>
                    <a:bodyPr/>
                    <a:lstStyle/>
                    <a:p>
                      <a:pPr marL="0" indent="0" algn="l">
                        <a:buNone/>
                      </a:pPr>
                      <a:r>
                        <a:rPr lang="en-US" sz="1280" dirty="0">
                          <a:solidFill>
                            <a:srgbClr val="3F3D56"/>
                          </a:solidFill>
                          <a:latin typeface="Segoe UI" pitchFamily="34" charset="0"/>
                          <a:ea typeface="Segoe UI" pitchFamily="34" charset="-122"/>
                          <a:cs typeface="Segoe UI" pitchFamily="34" charset="-120"/>
                        </a:rPr>
                        <a:t>Métro SDH</a:t>
                      </a:r>
                      <a:endParaRPr lang="en-US" sz="1280" dirty="0">
                        <a:latin typeface="Segoe UI" charset="0"/>
                        <a:ea typeface="Segoe UI" charset="0"/>
                        <a:cs typeface="Segoe UI" charset="0"/>
                      </a:endParaRPr>
                    </a:p>
                  </a:txBody>
                  <a:tcPr marL="76200" marR="76200" marT="25400" marB="25400" anchor="ctr">
                    <a:lnL w="6350" cap="flat" cmpd="sng" algn="ctr">
                      <a:solidFill>
                        <a:srgbClr val="E5DEF6"/>
                      </a:solidFill>
                      <a:prstDash val="solid"/>
                      <a:round/>
                      <a:headEnd type="none" w="med" len="med"/>
                      <a:tailEnd type="none" w="med" len="med"/>
                    </a:lnL>
                    <a:lnR w="6350" cap="flat" cmpd="sng" algn="ctr">
                      <a:solidFill>
                        <a:srgbClr val="E5DEF6"/>
                      </a:solidFill>
                      <a:prstDash val="solid"/>
                      <a:round/>
                      <a:headEnd type="none" w="med" len="med"/>
                      <a:tailEnd type="none" w="med" len="med"/>
                    </a:lnR>
                    <a:lnT w="6350" cap="flat" cmpd="sng" algn="ctr">
                      <a:solidFill>
                        <a:srgbClr val="E5DEF6"/>
                      </a:solidFill>
                      <a:prstDash val="solid"/>
                      <a:round/>
                      <a:headEnd type="none" w="med" len="med"/>
                      <a:tailEnd type="none" w="med" len="med"/>
                    </a:lnT>
                    <a:lnB w="6350" cap="flat" cmpd="sng" algn="ctr">
                      <a:solidFill>
                        <a:srgbClr val="E5DEF6"/>
                      </a:solidFill>
                      <a:prstDash val="solid"/>
                      <a:round/>
                      <a:headEnd type="none" w="med" len="med"/>
                      <a:tailEnd type="none" w="med" len="med"/>
                    </a:lnB>
                    <a:solidFill>
                      <a:srgbClr val="F6F2FF"/>
                    </a:solidFill>
                  </a:tcPr>
                </a:tc>
                <a:extLst>
                  <a:ext uri="{0D108BD9-81ED-4DB2-BD59-A6C34878D82A}">
                    <a16:rowId xmlns:a16="http://schemas.microsoft.com/office/drawing/2014/main" val="10007"/>
                  </a:ext>
                </a:extLst>
              </a:tr>
            </a:tbl>
          </a:graphicData>
        </a:graphic>
      </p:graphicFrame>
      <p:sp>
        <p:nvSpPr>
          <p:cNvPr id="5" name="anim__4__afterprev__fade__whole"/>
          <p:cNvSpPr/>
          <p:nvPr/>
        </p:nvSpPr>
        <p:spPr>
          <a:xfrm>
            <a:off x="685800" y="5989320"/>
            <a:ext cx="10820095" cy="274320"/>
          </a:xfrm>
          <a:prstGeom prst="rect">
            <a:avLst/>
          </a:prstGeom>
          <a:noFill/>
          <a:ln/>
        </p:spPr>
        <p:txBody>
          <a:bodyPr wrap="square" lIns="0" tIns="0" rIns="0" bIns="0" rtlCol="0" anchor="ctr"/>
          <a:lstStyle/>
          <a:p>
            <a:pPr marL="0" indent="0">
              <a:buNone/>
            </a:pPr>
            <a:r>
              <a:rPr lang="en-US" sz="1160" i="1" dirty="0">
                <a:solidFill>
                  <a:srgbClr val="B3AECB"/>
                </a:solidFill>
                <a:latin typeface="Segoe UI" pitchFamily="34" charset="0"/>
                <a:ea typeface="Segoe UI" pitchFamily="34" charset="-122"/>
                <a:cs typeface="Segoe UI" pitchFamily="34" charset="-120"/>
              </a:rPr>
              <a:t>*  G.957 : atténuation/portée pénalisées      +  avantage marquant de la fibre</a:t>
            </a:r>
            <a:endParaRPr lang="en-US" sz="1160" dirty="0"/>
          </a:p>
        </p:txBody>
      </p:sp>
      <p:sp>
        <p:nvSpPr>
          <p:cNvPr id="6" name="Text 3"/>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7" name="Text 4"/>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17</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5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5" grpId="3"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 — DIMENSIONNEMENT</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Choix de la fibre : G.652.D</a:t>
            </a:r>
            <a:endParaRPr lang="en-US" sz="3100" dirty="0"/>
          </a:p>
        </p:txBody>
      </p:sp>
      <p:sp>
        <p:nvSpPr>
          <p:cNvPr id="4" name="Shape 2"/>
          <p:cNvSpPr/>
          <p:nvPr/>
        </p:nvSpPr>
        <p:spPr>
          <a:xfrm>
            <a:off x="685800" y="1828800"/>
            <a:ext cx="3383280" cy="4114800"/>
          </a:xfrm>
          <a:prstGeom prst="roundRect">
            <a:avLst>
              <a:gd name="adj" fmla="val 4324"/>
            </a:avLst>
          </a:prstGeom>
          <a:solidFill>
            <a:srgbClr val="F6F2FF"/>
          </a:solidFill>
          <a:ln w="12700">
            <a:solidFill>
              <a:srgbClr val="6D28D9"/>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960120" y="2103120"/>
            <a:ext cx="731520" cy="731520"/>
          </a:xfrm>
          <a:prstGeom prst="ellipse">
            <a:avLst/>
          </a:prstGeom>
          <a:solidFill>
            <a:srgbClr val="6D28D9"/>
          </a:solidFill>
          <a:ln/>
        </p:spPr>
        <p:txBody>
          <a:bodyPr/>
          <a:lstStyle/>
          <a:p>
            <a:endParaRPr lang="fr-FR"/>
          </a:p>
        </p:txBody>
      </p:sp>
      <p:pic>
        <p:nvPicPr>
          <p:cNvPr id="6" name="anim__3__afterprev__fade__whole" descr="C:\Users\Cedric S. DJIGUIMDE\Desktop\Projet\presentation_fibre\assets_themes\spectra\icons\check_w.png"/>
          <p:cNvPicPr>
            <a:picLocks noChangeAspect="1"/>
          </p:cNvPicPr>
          <p:nvPr/>
        </p:nvPicPr>
        <p:blipFill>
          <a:blip r:embed="rId4"/>
          <a:stretch>
            <a:fillRect/>
          </a:stretch>
        </p:blipFill>
        <p:spPr>
          <a:xfrm>
            <a:off x="1157630" y="2300630"/>
            <a:ext cx="336499" cy="336499"/>
          </a:xfrm>
          <a:prstGeom prst="rect">
            <a:avLst/>
          </a:prstGeom>
        </p:spPr>
      </p:pic>
      <p:sp>
        <p:nvSpPr>
          <p:cNvPr id="7" name="anim__4__afterprev__fade__whole"/>
          <p:cNvSpPr/>
          <p:nvPr/>
        </p:nvSpPr>
        <p:spPr>
          <a:xfrm>
            <a:off x="960120" y="2971800"/>
            <a:ext cx="2834640" cy="548640"/>
          </a:xfrm>
          <a:prstGeom prst="rect">
            <a:avLst/>
          </a:prstGeom>
          <a:noFill/>
          <a:ln/>
        </p:spPr>
        <p:txBody>
          <a:bodyPr wrap="square" lIns="0" tIns="0" rIns="0" bIns="0" rtlCol="0" anchor="ctr"/>
          <a:lstStyle/>
          <a:p>
            <a:pPr marL="0" indent="0">
              <a:buNone/>
            </a:pPr>
            <a:r>
              <a:rPr lang="en-US" sz="3000" b="1" dirty="0">
                <a:solidFill>
                  <a:srgbClr val="20183F"/>
                </a:solidFill>
                <a:latin typeface="Segoe UI Black" pitchFamily="34" charset="0"/>
                <a:ea typeface="Segoe UI Black" pitchFamily="34" charset="-122"/>
                <a:cs typeface="Segoe UI Black" pitchFamily="34" charset="-120"/>
              </a:rPr>
              <a:t>G.652.D</a:t>
            </a:r>
            <a:endParaRPr lang="en-US" sz="3000" dirty="0"/>
          </a:p>
        </p:txBody>
      </p:sp>
      <p:sp>
        <p:nvSpPr>
          <p:cNvPr id="8" name="anim__5__afterprev__fade__whole"/>
          <p:cNvSpPr/>
          <p:nvPr/>
        </p:nvSpPr>
        <p:spPr>
          <a:xfrm>
            <a:off x="960120" y="3566160"/>
            <a:ext cx="2834640" cy="1463040"/>
          </a:xfrm>
          <a:prstGeom prst="rect">
            <a:avLst/>
          </a:prstGeom>
          <a:noFill/>
          <a:ln/>
        </p:spPr>
        <p:txBody>
          <a:bodyPr wrap="square" lIns="0" tIns="0" rIns="0" bIns="0" rtlCol="0" anchor="ctr"/>
          <a:lstStyle/>
          <a:p>
            <a:pPr marL="0" indent="0">
              <a:lnSpc>
                <a:spcPct val="120000"/>
              </a:lnSpc>
              <a:buNone/>
            </a:pPr>
            <a:r>
              <a:rPr lang="en-US" sz="1510" dirty="0">
                <a:solidFill>
                  <a:srgbClr val="3F3D56"/>
                </a:solidFill>
                <a:latin typeface="Segoe UI" pitchFamily="34" charset="0"/>
                <a:ea typeface="Segoe UI" pitchFamily="34" charset="-122"/>
                <a:cs typeface="Segoe UI" pitchFamily="34" charset="-120"/>
              </a:rPr>
              <a:t>Fibre monomode standard (SMF) — le choix sans ambiguïté pour une liaison backbone à 10 Gbit/s en contexte ouest-africain.</a:t>
            </a:r>
            <a:endParaRPr lang="en-US" sz="1510" dirty="0"/>
          </a:p>
        </p:txBody>
      </p:sp>
      <p:sp>
        <p:nvSpPr>
          <p:cNvPr id="9" name="anim__6__afterprev__fade__whole"/>
          <p:cNvSpPr/>
          <p:nvPr/>
        </p:nvSpPr>
        <p:spPr>
          <a:xfrm>
            <a:off x="960120" y="5074920"/>
            <a:ext cx="2834640" cy="777240"/>
          </a:xfrm>
          <a:prstGeom prst="rect">
            <a:avLst/>
          </a:prstGeom>
          <a:noFill/>
          <a:ln/>
        </p:spPr>
        <p:txBody>
          <a:bodyPr wrap="square" lIns="0" tIns="0" rIns="0" bIns="0" rtlCol="0" anchor="ctr"/>
          <a:lstStyle/>
          <a:p>
            <a:pPr marL="0" indent="0">
              <a:lnSpc>
                <a:spcPct val="112000"/>
              </a:lnSpc>
              <a:buNone/>
            </a:pPr>
            <a:r>
              <a:rPr lang="en-US" sz="1280" i="1" dirty="0">
                <a:solidFill>
                  <a:srgbClr val="847FA6"/>
                </a:solidFill>
                <a:latin typeface="Segoe UI" pitchFamily="34" charset="0"/>
                <a:ea typeface="Segoe UI" pitchFamily="34" charset="-122"/>
                <a:cs typeface="Segoe UI" pitchFamily="34" charset="-120"/>
              </a:rPr>
              <a:t>Les autres écartées : G.655 (si DWDM &gt; 40 canaux), G.657 (accès résidentiel), G.957 (0,25 dB/km, limitée SDH).</a:t>
            </a:r>
            <a:endParaRPr lang="en-US" sz="1280" dirty="0"/>
          </a:p>
        </p:txBody>
      </p:sp>
      <p:sp>
        <p:nvSpPr>
          <p:cNvPr id="10" name="Shape 7"/>
          <p:cNvSpPr/>
          <p:nvPr/>
        </p:nvSpPr>
        <p:spPr>
          <a:xfrm>
            <a:off x="4297680" y="1828800"/>
            <a:ext cx="7223760" cy="960120"/>
          </a:xfrm>
          <a:prstGeom prst="roundRect">
            <a:avLst>
              <a:gd name="adj" fmla="val 1523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1" name="Shape 8"/>
          <p:cNvSpPr/>
          <p:nvPr/>
        </p:nvSpPr>
        <p:spPr>
          <a:xfrm>
            <a:off x="4297680" y="1975104"/>
            <a:ext cx="64008" cy="667512"/>
          </a:xfrm>
          <a:prstGeom prst="rect">
            <a:avLst/>
          </a:prstGeom>
          <a:solidFill>
            <a:srgbClr val="DB2777"/>
          </a:solidFill>
          <a:ln/>
        </p:spPr>
        <p:txBody>
          <a:bodyPr/>
          <a:lstStyle/>
          <a:p>
            <a:endParaRPr lang="fr-FR"/>
          </a:p>
        </p:txBody>
      </p:sp>
      <p:sp>
        <p:nvSpPr>
          <p:cNvPr id="12" name="Shape 9"/>
          <p:cNvSpPr/>
          <p:nvPr/>
        </p:nvSpPr>
        <p:spPr>
          <a:xfrm>
            <a:off x="4526280" y="2029968"/>
            <a:ext cx="548640" cy="548640"/>
          </a:xfrm>
          <a:prstGeom prst="ellipse">
            <a:avLst/>
          </a:prstGeom>
          <a:solidFill>
            <a:srgbClr val="DB2777"/>
          </a:solidFill>
          <a:ln/>
        </p:spPr>
        <p:txBody>
          <a:bodyPr/>
          <a:lstStyle/>
          <a:p>
            <a:endParaRPr lang="fr-FR"/>
          </a:p>
        </p:txBody>
      </p:sp>
      <p:pic>
        <p:nvPicPr>
          <p:cNvPr id="13" name="anim__7__afterprev__fade__whole" descr="C:\Users\Cedric S. DJIGUIMDE\Desktop\Projet\presentation_fibre\assets_themes\spectra\icons\balance_w.png"/>
          <p:cNvPicPr>
            <a:picLocks noChangeAspect="1"/>
          </p:cNvPicPr>
          <p:nvPr/>
        </p:nvPicPr>
        <p:blipFill>
          <a:blip r:embed="rId5"/>
          <a:stretch>
            <a:fillRect/>
          </a:stretch>
        </p:blipFill>
        <p:spPr>
          <a:xfrm>
            <a:off x="4674413" y="2178101"/>
            <a:ext cx="252374" cy="252374"/>
          </a:xfrm>
          <a:prstGeom prst="rect">
            <a:avLst/>
          </a:prstGeom>
        </p:spPr>
      </p:pic>
      <p:sp>
        <p:nvSpPr>
          <p:cNvPr id="14" name="anim__8__withprev__fade__whole"/>
          <p:cNvSpPr/>
          <p:nvPr/>
        </p:nvSpPr>
        <p:spPr>
          <a:xfrm>
            <a:off x="5257800" y="1975104"/>
            <a:ext cx="6080760" cy="347472"/>
          </a:xfrm>
          <a:prstGeom prst="rect">
            <a:avLst/>
          </a:prstGeom>
          <a:noFill/>
          <a:ln/>
        </p:spPr>
        <p:txBody>
          <a:bodyPr wrap="square" lIns="0" tIns="0" rIns="0" bIns="0" rtlCol="0" anchor="ctr"/>
          <a:lstStyle/>
          <a:p>
            <a:pPr marL="0" indent="0">
              <a:buNone/>
            </a:pPr>
            <a:r>
              <a:rPr lang="en-US" sz="1740" b="1" dirty="0">
                <a:solidFill>
                  <a:srgbClr val="20183F"/>
                </a:solidFill>
                <a:latin typeface="Segoe UI Semibold" pitchFamily="34" charset="0"/>
                <a:ea typeface="Segoe UI Semibold" pitchFamily="34" charset="-122"/>
                <a:cs typeface="Segoe UI Semibold" pitchFamily="34" charset="-120"/>
              </a:rPr>
              <a:t>1. Adéquation aux performances</a:t>
            </a:r>
            <a:endParaRPr lang="en-US" sz="1740" dirty="0"/>
          </a:p>
        </p:txBody>
      </p:sp>
      <p:sp>
        <p:nvSpPr>
          <p:cNvPr id="15" name="anim__9__withprev__fade__whole"/>
          <p:cNvSpPr/>
          <p:nvPr/>
        </p:nvSpPr>
        <p:spPr>
          <a:xfrm>
            <a:off x="5257800" y="2304288"/>
            <a:ext cx="6080760" cy="438912"/>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Satisfait le bilan de puissance (126 km) et de dispersion (147 km) à 10 Gbit/s, sans compensation.</a:t>
            </a:r>
            <a:endParaRPr lang="en-US" sz="1390" dirty="0"/>
          </a:p>
        </p:txBody>
      </p:sp>
      <p:sp>
        <p:nvSpPr>
          <p:cNvPr id="16" name="Shape 12"/>
          <p:cNvSpPr/>
          <p:nvPr/>
        </p:nvSpPr>
        <p:spPr>
          <a:xfrm>
            <a:off x="4297680" y="2880360"/>
            <a:ext cx="7223760" cy="960120"/>
          </a:xfrm>
          <a:prstGeom prst="roundRect">
            <a:avLst>
              <a:gd name="adj" fmla="val 1523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7" name="Shape 13"/>
          <p:cNvSpPr/>
          <p:nvPr/>
        </p:nvSpPr>
        <p:spPr>
          <a:xfrm>
            <a:off x="4297680" y="3026664"/>
            <a:ext cx="64008" cy="667512"/>
          </a:xfrm>
          <a:prstGeom prst="rect">
            <a:avLst/>
          </a:prstGeom>
          <a:solidFill>
            <a:srgbClr val="DB2777"/>
          </a:solidFill>
          <a:ln/>
        </p:spPr>
        <p:txBody>
          <a:bodyPr/>
          <a:lstStyle/>
          <a:p>
            <a:endParaRPr lang="fr-FR"/>
          </a:p>
        </p:txBody>
      </p:sp>
      <p:sp>
        <p:nvSpPr>
          <p:cNvPr id="18" name="Shape 14"/>
          <p:cNvSpPr/>
          <p:nvPr/>
        </p:nvSpPr>
        <p:spPr>
          <a:xfrm>
            <a:off x="4526280" y="3081528"/>
            <a:ext cx="548640" cy="548640"/>
          </a:xfrm>
          <a:prstGeom prst="ellipse">
            <a:avLst/>
          </a:prstGeom>
          <a:solidFill>
            <a:srgbClr val="DB2777"/>
          </a:solidFill>
          <a:ln/>
        </p:spPr>
        <p:txBody>
          <a:bodyPr/>
          <a:lstStyle/>
          <a:p>
            <a:endParaRPr lang="fr-FR"/>
          </a:p>
        </p:txBody>
      </p:sp>
      <p:pic>
        <p:nvPicPr>
          <p:cNvPr id="19" name="anim__10__afterprev__fade__whole" descr="C:\Users\Cedric S. DJIGUIMDE\Desktop\Projet\presentation_fibre\assets_themes\spectra\icons\star_w.png"/>
          <p:cNvPicPr>
            <a:picLocks noChangeAspect="1"/>
          </p:cNvPicPr>
          <p:nvPr/>
        </p:nvPicPr>
        <p:blipFill>
          <a:blip r:embed="rId6"/>
          <a:stretch>
            <a:fillRect/>
          </a:stretch>
        </p:blipFill>
        <p:spPr>
          <a:xfrm>
            <a:off x="4674413" y="3229661"/>
            <a:ext cx="252374" cy="252374"/>
          </a:xfrm>
          <a:prstGeom prst="rect">
            <a:avLst/>
          </a:prstGeom>
        </p:spPr>
      </p:pic>
      <p:sp>
        <p:nvSpPr>
          <p:cNvPr id="20" name="anim__11__withprev__fade__whole"/>
          <p:cNvSpPr/>
          <p:nvPr/>
        </p:nvSpPr>
        <p:spPr>
          <a:xfrm>
            <a:off x="5257800" y="3026664"/>
            <a:ext cx="6080760" cy="347472"/>
          </a:xfrm>
          <a:prstGeom prst="rect">
            <a:avLst/>
          </a:prstGeom>
          <a:noFill/>
          <a:ln/>
        </p:spPr>
        <p:txBody>
          <a:bodyPr wrap="square" lIns="0" tIns="0" rIns="0" bIns="0" rtlCol="0" anchor="ctr"/>
          <a:lstStyle/>
          <a:p>
            <a:pPr marL="0" indent="0">
              <a:buNone/>
            </a:pPr>
            <a:r>
              <a:rPr lang="en-US" sz="1740" b="1" dirty="0">
                <a:solidFill>
                  <a:srgbClr val="20183F"/>
                </a:solidFill>
                <a:latin typeface="Segoe UI Semibold" pitchFamily="34" charset="0"/>
                <a:ea typeface="Segoe UI Semibold" pitchFamily="34" charset="-122"/>
                <a:cs typeface="Segoe UI Semibold" pitchFamily="34" charset="-120"/>
              </a:rPr>
              <a:t>2. Maturité &amp; disponibilité</a:t>
            </a:r>
            <a:endParaRPr lang="en-US" sz="1740" dirty="0"/>
          </a:p>
        </p:txBody>
      </p:sp>
      <p:sp>
        <p:nvSpPr>
          <p:cNvPr id="21" name="anim__12__withprev__fade__whole"/>
          <p:cNvSpPr/>
          <p:nvPr/>
        </p:nvSpPr>
        <p:spPr>
          <a:xfrm>
            <a:off x="5257800" y="3355848"/>
            <a:ext cx="6080760" cy="438912"/>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Fibre la plus répandue au monde, multi-fournisseurs, coûts maîtrisés — déterminant en Afrique de l'Ouest.</a:t>
            </a:r>
            <a:endParaRPr lang="en-US" sz="1390" dirty="0"/>
          </a:p>
        </p:txBody>
      </p:sp>
      <p:sp>
        <p:nvSpPr>
          <p:cNvPr id="22" name="Shape 17"/>
          <p:cNvSpPr/>
          <p:nvPr/>
        </p:nvSpPr>
        <p:spPr>
          <a:xfrm>
            <a:off x="4297680" y="3931920"/>
            <a:ext cx="7223760" cy="960120"/>
          </a:xfrm>
          <a:prstGeom prst="roundRect">
            <a:avLst>
              <a:gd name="adj" fmla="val 1523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3" name="Shape 18"/>
          <p:cNvSpPr/>
          <p:nvPr/>
        </p:nvSpPr>
        <p:spPr>
          <a:xfrm>
            <a:off x="4297680" y="4078224"/>
            <a:ext cx="64008" cy="667512"/>
          </a:xfrm>
          <a:prstGeom prst="rect">
            <a:avLst/>
          </a:prstGeom>
          <a:solidFill>
            <a:srgbClr val="DB2777"/>
          </a:solidFill>
          <a:ln/>
        </p:spPr>
        <p:txBody>
          <a:bodyPr/>
          <a:lstStyle/>
          <a:p>
            <a:endParaRPr lang="fr-FR"/>
          </a:p>
        </p:txBody>
      </p:sp>
      <p:sp>
        <p:nvSpPr>
          <p:cNvPr id="24" name="Shape 19"/>
          <p:cNvSpPr/>
          <p:nvPr/>
        </p:nvSpPr>
        <p:spPr>
          <a:xfrm>
            <a:off x="4526280" y="4133088"/>
            <a:ext cx="548640" cy="548640"/>
          </a:xfrm>
          <a:prstGeom prst="ellipse">
            <a:avLst/>
          </a:prstGeom>
          <a:solidFill>
            <a:srgbClr val="DB2777"/>
          </a:solidFill>
          <a:ln/>
        </p:spPr>
        <p:txBody>
          <a:bodyPr/>
          <a:lstStyle/>
          <a:p>
            <a:endParaRPr lang="fr-FR"/>
          </a:p>
        </p:txBody>
      </p:sp>
      <p:pic>
        <p:nvPicPr>
          <p:cNvPr id="25" name="anim__13__afterprev__fade__whole" descr="C:\Users\Cedric S. DJIGUIMDE\Desktop\Projet\presentation_fibre\assets_themes\spectra\icons\network_w.png"/>
          <p:cNvPicPr>
            <a:picLocks noChangeAspect="1"/>
          </p:cNvPicPr>
          <p:nvPr/>
        </p:nvPicPr>
        <p:blipFill>
          <a:blip r:embed="rId7"/>
          <a:stretch>
            <a:fillRect/>
          </a:stretch>
        </p:blipFill>
        <p:spPr>
          <a:xfrm>
            <a:off x="4674413" y="4281221"/>
            <a:ext cx="252374" cy="252374"/>
          </a:xfrm>
          <a:prstGeom prst="rect">
            <a:avLst/>
          </a:prstGeom>
        </p:spPr>
      </p:pic>
      <p:sp>
        <p:nvSpPr>
          <p:cNvPr id="26" name="anim__14__withprev__fade__whole"/>
          <p:cNvSpPr/>
          <p:nvPr/>
        </p:nvSpPr>
        <p:spPr>
          <a:xfrm>
            <a:off x="5257800" y="4078224"/>
            <a:ext cx="6080760" cy="347472"/>
          </a:xfrm>
          <a:prstGeom prst="rect">
            <a:avLst/>
          </a:prstGeom>
          <a:noFill/>
          <a:ln/>
        </p:spPr>
        <p:txBody>
          <a:bodyPr wrap="square" lIns="0" tIns="0" rIns="0" bIns="0" rtlCol="0" anchor="ctr"/>
          <a:lstStyle/>
          <a:p>
            <a:pPr marL="0" indent="0">
              <a:buNone/>
            </a:pPr>
            <a:r>
              <a:rPr lang="en-US" sz="1740" b="1" dirty="0">
                <a:solidFill>
                  <a:srgbClr val="20183F"/>
                </a:solidFill>
                <a:latin typeface="Segoe UI Semibold" pitchFamily="34" charset="0"/>
                <a:ea typeface="Segoe UI Semibold" pitchFamily="34" charset="-122"/>
                <a:cs typeface="Segoe UI Semibold" pitchFamily="34" charset="-120"/>
              </a:rPr>
              <a:t>3. Compatibilité infrastructure</a:t>
            </a:r>
            <a:endParaRPr lang="en-US" sz="1740" dirty="0"/>
          </a:p>
        </p:txBody>
      </p:sp>
      <p:sp>
        <p:nvSpPr>
          <p:cNvPr id="27" name="anim__15__withprev__fade__whole"/>
          <p:cNvSpPr/>
          <p:nvPr/>
        </p:nvSpPr>
        <p:spPr>
          <a:xfrm>
            <a:off x="5257800" y="4407408"/>
            <a:ext cx="6080760" cy="438912"/>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Les réseaux déployés au Sénégal reposent sur de la G.652 → continuité et interopérabilité sans surcoût.</a:t>
            </a:r>
            <a:endParaRPr lang="en-US" sz="1390" dirty="0"/>
          </a:p>
        </p:txBody>
      </p:sp>
      <p:sp>
        <p:nvSpPr>
          <p:cNvPr id="28" name="Shape 22"/>
          <p:cNvSpPr/>
          <p:nvPr/>
        </p:nvSpPr>
        <p:spPr>
          <a:xfrm>
            <a:off x="4297680" y="4983480"/>
            <a:ext cx="7223760" cy="960120"/>
          </a:xfrm>
          <a:prstGeom prst="roundRect">
            <a:avLst>
              <a:gd name="adj" fmla="val 1523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9" name="Shape 23"/>
          <p:cNvSpPr/>
          <p:nvPr/>
        </p:nvSpPr>
        <p:spPr>
          <a:xfrm>
            <a:off x="4297680" y="5129784"/>
            <a:ext cx="64008" cy="667512"/>
          </a:xfrm>
          <a:prstGeom prst="rect">
            <a:avLst/>
          </a:prstGeom>
          <a:solidFill>
            <a:srgbClr val="DB2777"/>
          </a:solidFill>
          <a:ln/>
        </p:spPr>
        <p:txBody>
          <a:bodyPr/>
          <a:lstStyle/>
          <a:p>
            <a:endParaRPr lang="fr-FR"/>
          </a:p>
        </p:txBody>
      </p:sp>
      <p:sp>
        <p:nvSpPr>
          <p:cNvPr id="30" name="Shape 24"/>
          <p:cNvSpPr/>
          <p:nvPr/>
        </p:nvSpPr>
        <p:spPr>
          <a:xfrm>
            <a:off x="4526280" y="5184648"/>
            <a:ext cx="548640" cy="548640"/>
          </a:xfrm>
          <a:prstGeom prst="ellipse">
            <a:avLst/>
          </a:prstGeom>
          <a:solidFill>
            <a:srgbClr val="DB2777"/>
          </a:solidFill>
          <a:ln/>
        </p:spPr>
        <p:txBody>
          <a:bodyPr/>
          <a:lstStyle/>
          <a:p>
            <a:endParaRPr lang="fr-FR"/>
          </a:p>
        </p:txBody>
      </p:sp>
      <p:pic>
        <p:nvPicPr>
          <p:cNvPr id="31" name="anim__16__afterprev__fade__whole" descr="C:\Users\Cedric S. DJIGUIMDE\Desktop\Projet\presentation_fibre\assets_themes\spectra\icons\rocket_w.png"/>
          <p:cNvPicPr>
            <a:picLocks noChangeAspect="1"/>
          </p:cNvPicPr>
          <p:nvPr/>
        </p:nvPicPr>
        <p:blipFill>
          <a:blip r:embed="rId8"/>
          <a:stretch>
            <a:fillRect/>
          </a:stretch>
        </p:blipFill>
        <p:spPr>
          <a:xfrm>
            <a:off x="4674413" y="5332781"/>
            <a:ext cx="252374" cy="252374"/>
          </a:xfrm>
          <a:prstGeom prst="rect">
            <a:avLst/>
          </a:prstGeom>
        </p:spPr>
      </p:pic>
      <p:sp>
        <p:nvSpPr>
          <p:cNvPr id="32" name="anim__17__withprev__fade__whole"/>
          <p:cNvSpPr/>
          <p:nvPr/>
        </p:nvSpPr>
        <p:spPr>
          <a:xfrm>
            <a:off x="5257800" y="5129784"/>
            <a:ext cx="6080760" cy="347472"/>
          </a:xfrm>
          <a:prstGeom prst="rect">
            <a:avLst/>
          </a:prstGeom>
          <a:noFill/>
          <a:ln/>
        </p:spPr>
        <p:txBody>
          <a:bodyPr wrap="square" lIns="0" tIns="0" rIns="0" bIns="0" rtlCol="0" anchor="ctr"/>
          <a:lstStyle/>
          <a:p>
            <a:pPr marL="0" indent="0">
              <a:buNone/>
            </a:pPr>
            <a:r>
              <a:rPr lang="en-US" sz="1740" b="1" dirty="0">
                <a:solidFill>
                  <a:srgbClr val="20183F"/>
                </a:solidFill>
                <a:latin typeface="Segoe UI Semibold" pitchFamily="34" charset="0"/>
                <a:ea typeface="Segoe UI Semibold" pitchFamily="34" charset="-122"/>
                <a:cs typeface="Segoe UI Semibold" pitchFamily="34" charset="-120"/>
              </a:rPr>
              <a:t>4. Potentiel d'évolution</a:t>
            </a:r>
            <a:endParaRPr lang="en-US" sz="1740" dirty="0"/>
          </a:p>
        </p:txBody>
      </p:sp>
      <p:sp>
        <p:nvSpPr>
          <p:cNvPr id="33" name="anim__18__withprev__fade__whole"/>
          <p:cNvSpPr/>
          <p:nvPr/>
        </p:nvSpPr>
        <p:spPr>
          <a:xfrm>
            <a:off x="5257800" y="5458968"/>
            <a:ext cx="6080760" cy="438912"/>
          </a:xfrm>
          <a:prstGeom prst="rect">
            <a:avLst/>
          </a:prstGeom>
          <a:noFill/>
          <a:ln/>
        </p:spPr>
        <p:txBody>
          <a:bodyPr wrap="square" lIns="0" tIns="0" rIns="0" bIns="0" rtlCol="0" anchor="ctr"/>
          <a:lstStyle/>
          <a:p>
            <a:pPr marL="0" indent="0">
              <a:lnSpc>
                <a:spcPct val="110000"/>
              </a:lnSpc>
              <a:buNone/>
            </a:pPr>
            <a:r>
              <a:rPr lang="en-US" sz="1390" dirty="0">
                <a:solidFill>
                  <a:srgbClr val="847FA6"/>
                </a:solidFill>
                <a:latin typeface="Segoe UI" pitchFamily="34" charset="0"/>
                <a:ea typeface="Segoe UI" pitchFamily="34" charset="-122"/>
                <a:cs typeface="Segoe UI" pitchFamily="34" charset="-120"/>
              </a:rPr>
              <a:t>PMD ≤ 0,1 ps/√km : marge vers 40 Gbit/s et WDM jusqu'à 16 longueurs d'onde.</a:t>
            </a:r>
            <a:endParaRPr lang="en-US" sz="1390" dirty="0"/>
          </a:p>
        </p:txBody>
      </p:sp>
      <p:sp>
        <p:nvSpPr>
          <p:cNvPr id="34" name="Text 27"/>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5" name="Text 28"/>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18</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50"/>
                                  <p:tgtEl>
                                    <p:spTgt spid="9"/>
                                  </p:tgtEl>
                                </p:cBhvr>
                              </p:animEffect>
                            </p:childTnLst>
                          </p:cTn>
                        </p:par>
                      </p:childTnLst>
                    </p:cTn>
                  </p:par>
                  <p:par>
                    <p:cTn id="28" fill="hold">
                      <p:stCondLst>
                        <p:cond delay="7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7"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par>
                          <p:cTn id="35" presetID="10" presetClass="entr" presetSubtype="0" fill="hold" grpId="8"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350"/>
                                  <p:tgtEl>
                                    <p:spTgt spid="15"/>
                                  </p:tgtEl>
                                </p:cBhvr>
                              </p:animEffect>
                            </p:childTnLst>
                          </p:cTn>
                        </p:par>
                      </p:childTnLst>
                    </p:cTn>
                  </p:par>
                  <p:par>
                    <p:cTn id="38" fill="hold">
                      <p:stCondLst>
                        <p:cond delay="70"/>
                      </p:stCondLst>
                      <p:childTnLst>
                        <p:par>
                          <p:cTn id="39" presetID="10" presetClass="entr" presetSubtype="0" fill="hold"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350"/>
                                  <p:tgtEl>
                                    <p:spTgt spid="19"/>
                                  </p:tgtEl>
                                </p:cBhvr>
                              </p:animEffect>
                            </p:childTnLst>
                          </p:cTn>
                        </p:par>
                        <p:par>
                          <p:cTn id="42" presetID="10" presetClass="entr" presetSubtype="0" fill="hold" grpId="1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350"/>
                                  <p:tgtEl>
                                    <p:spTgt spid="20"/>
                                  </p:tgtEl>
                                </p:cBhvr>
                              </p:animEffect>
                            </p:childTnLst>
                          </p:cTn>
                        </p:par>
                        <p:par>
                          <p:cTn id="45" presetID="10" presetClass="entr" presetSubtype="0" fill="hold" grpId="11"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350"/>
                                  <p:tgtEl>
                                    <p:spTgt spid="21"/>
                                  </p:tgtEl>
                                </p:cBhvr>
                              </p:animEffect>
                            </p:childTnLst>
                          </p:cTn>
                        </p:par>
                      </p:childTnLst>
                    </p:cTn>
                  </p:par>
                  <p:par>
                    <p:cTn id="48" fill="hold">
                      <p:stCondLst>
                        <p:cond delay="70"/>
                      </p:stCondLst>
                      <p:childTnLst>
                        <p:par>
                          <p:cTn id="49" presetID="10" presetClass="entr" presetSubtype="0"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350"/>
                                  <p:tgtEl>
                                    <p:spTgt spid="25"/>
                                  </p:tgtEl>
                                </p:cBhvr>
                              </p:animEffect>
                            </p:childTnLst>
                          </p:cTn>
                        </p:par>
                        <p:par>
                          <p:cTn id="52" presetID="10" presetClass="entr" presetSubtype="0" fill="hold" grpId="13"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350"/>
                                  <p:tgtEl>
                                    <p:spTgt spid="26"/>
                                  </p:tgtEl>
                                </p:cBhvr>
                              </p:animEffect>
                            </p:childTnLst>
                          </p:cTn>
                        </p:par>
                        <p:par>
                          <p:cTn id="55" presetID="10" presetClass="entr" presetSubtype="0" fill="hold" grpId="14"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350"/>
                                  <p:tgtEl>
                                    <p:spTgt spid="27"/>
                                  </p:tgtEl>
                                </p:cBhvr>
                              </p:animEffect>
                            </p:childTnLst>
                          </p:cTn>
                        </p:par>
                      </p:childTnLst>
                    </p:cTn>
                  </p:par>
                  <p:par>
                    <p:cTn id="58" fill="hold">
                      <p:stCondLst>
                        <p:cond delay="70"/>
                      </p:stCondLst>
                      <p:childTnLst>
                        <p:par>
                          <p:cTn id="59" presetID="10" presetClass="entr" presetSubtype="0" fill="hold"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350"/>
                                  <p:tgtEl>
                                    <p:spTgt spid="31"/>
                                  </p:tgtEl>
                                </p:cBhvr>
                              </p:animEffect>
                            </p:childTnLst>
                          </p:cTn>
                        </p:par>
                        <p:par>
                          <p:cTn id="62" presetID="10" presetClass="entr" presetSubtype="0" fill="hold" grpId="16"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350"/>
                                  <p:tgtEl>
                                    <p:spTgt spid="32"/>
                                  </p:tgtEl>
                                </p:cBhvr>
                              </p:animEffect>
                            </p:childTnLst>
                          </p:cTn>
                        </p:par>
                        <p:par>
                          <p:cTn id="65" presetID="10" presetClass="entr" presetSubtype="0" fill="hold" grpId="17"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35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7" grpId="3" animBg="1"/>
      <p:bldP spid="8" grpId="4" animBg="1"/>
      <p:bldP spid="9" grpId="5" animBg="1"/>
      <p:bldP spid="14" grpId="7" animBg="1"/>
      <p:bldP spid="15" grpId="8" animBg="1"/>
      <p:bldP spid="20" grpId="10" animBg="1"/>
      <p:bldP spid="21" grpId="11" animBg="1"/>
      <p:bldP spid="26" grpId="13" animBg="1"/>
      <p:bldP spid="27" grpId="14" animBg="1"/>
      <p:bldP spid="32" grpId="16" animBg="1"/>
      <p:bldP spid="33" grpId="17"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__1__afterprev__fade__whole" descr="C:\Users\Cedric S. DJIGUIMDE\Desktop\Projet\presentation_fibre\assets_themes\spectra\icons\map_w.png"/>
          <p:cNvPicPr>
            <a:picLocks noChangeAspect="1"/>
          </p:cNvPicPr>
          <p:nvPr/>
        </p:nvPicPr>
        <p:blipFill>
          <a:blip r:embed="rId4"/>
          <a:stretch>
            <a:fillRect/>
          </a:stretch>
        </p:blipFill>
        <p:spPr>
          <a:xfrm>
            <a:off x="9464040" y="2331720"/>
            <a:ext cx="1737360" cy="1737360"/>
          </a:xfrm>
          <a:prstGeom prst="rect">
            <a:avLst/>
          </a:prstGeom>
        </p:spPr>
      </p:pic>
      <p:sp>
        <p:nvSpPr>
          <p:cNvPr id="3" name="anim__2__afterprev__fade__whole"/>
          <p:cNvSpPr/>
          <p:nvPr/>
        </p:nvSpPr>
        <p:spPr>
          <a:xfrm>
            <a:off x="685800" y="2286000"/>
            <a:ext cx="7315200" cy="457200"/>
          </a:xfrm>
          <a:prstGeom prst="rect">
            <a:avLst/>
          </a:prstGeom>
          <a:noFill/>
          <a:ln/>
        </p:spPr>
        <p:txBody>
          <a:bodyPr wrap="square" lIns="0" tIns="0" rIns="0" bIns="0" rtlCol="0" anchor="ctr"/>
          <a:lstStyle/>
          <a:p>
            <a:pPr marL="0" indent="0">
              <a:buNone/>
            </a:pPr>
            <a:r>
              <a:rPr lang="en-US" sz="1860" b="1" kern="0" spc="400" dirty="0">
                <a:solidFill>
                  <a:srgbClr val="6D28D9"/>
                </a:solidFill>
                <a:latin typeface="Segoe UI Semibold" pitchFamily="34" charset="0"/>
                <a:ea typeface="Segoe UI Semibold" pitchFamily="34" charset="-122"/>
                <a:cs typeface="Segoe UI Semibold" pitchFamily="34" charset="-120"/>
              </a:rPr>
              <a:t>PARTIE III</a:t>
            </a:r>
            <a:endParaRPr lang="en-US" sz="1860" dirty="0"/>
          </a:p>
        </p:txBody>
      </p:sp>
      <p:sp>
        <p:nvSpPr>
          <p:cNvPr id="4" name="anim__3__afterprev__fade__whole"/>
          <p:cNvSpPr/>
          <p:nvPr/>
        </p:nvSpPr>
        <p:spPr>
          <a:xfrm>
            <a:off x="685800" y="2743200"/>
            <a:ext cx="7680960" cy="1188720"/>
          </a:xfrm>
          <a:prstGeom prst="rect">
            <a:avLst/>
          </a:prstGeom>
          <a:noFill/>
          <a:ln/>
        </p:spPr>
        <p:txBody>
          <a:bodyPr wrap="square" lIns="0" tIns="0" rIns="0" bIns="0" rtlCol="0" anchor="ctr"/>
          <a:lstStyle/>
          <a:p>
            <a:pPr marL="0" indent="0">
              <a:buNone/>
            </a:pPr>
            <a:r>
              <a:rPr lang="en-US" sz="4200" b="1" dirty="0">
                <a:solidFill>
                  <a:srgbClr val="20183F"/>
                </a:solidFill>
                <a:latin typeface="Segoe UI Black" pitchFamily="34" charset="0"/>
                <a:ea typeface="Segoe UI Black" pitchFamily="34" charset="-122"/>
                <a:cs typeface="Segoe UI Black" pitchFamily="34" charset="-120"/>
              </a:rPr>
              <a:t>Cas d'application</a:t>
            </a:r>
            <a:endParaRPr lang="en-US" sz="4200" dirty="0"/>
          </a:p>
        </p:txBody>
      </p:sp>
      <p:sp>
        <p:nvSpPr>
          <p:cNvPr id="5" name="Shape 2"/>
          <p:cNvSpPr/>
          <p:nvPr/>
        </p:nvSpPr>
        <p:spPr>
          <a:xfrm>
            <a:off x="685800" y="3913632"/>
            <a:ext cx="2011680" cy="0"/>
          </a:xfrm>
          <a:prstGeom prst="line">
            <a:avLst/>
          </a:prstGeom>
          <a:noFill/>
          <a:ln w="31750">
            <a:solidFill>
              <a:srgbClr val="6D28D9"/>
            </a:solidFill>
            <a:prstDash val="solid"/>
          </a:ln>
        </p:spPr>
        <p:txBody>
          <a:bodyPr/>
          <a:lstStyle/>
          <a:p>
            <a:endParaRPr lang="fr-FR"/>
          </a:p>
        </p:txBody>
      </p:sp>
      <p:sp>
        <p:nvSpPr>
          <p:cNvPr id="6" name="anim__4__afterprev__fade__whole"/>
          <p:cNvSpPr/>
          <p:nvPr/>
        </p:nvSpPr>
        <p:spPr>
          <a:xfrm>
            <a:off x="685800" y="4041648"/>
            <a:ext cx="7315200" cy="640080"/>
          </a:xfrm>
          <a:prstGeom prst="rect">
            <a:avLst/>
          </a:prstGeom>
          <a:noFill/>
          <a:ln/>
        </p:spPr>
        <p:txBody>
          <a:bodyPr wrap="square" lIns="0" tIns="0" rIns="0" bIns="0" rtlCol="0" anchor="ctr"/>
          <a:lstStyle/>
          <a:p>
            <a:pPr marL="0" indent="0">
              <a:lnSpc>
                <a:spcPct val="115000"/>
              </a:lnSpc>
              <a:buNone/>
            </a:pPr>
            <a:r>
              <a:rPr lang="en-US" sz="1740" dirty="0">
                <a:solidFill>
                  <a:srgbClr val="3F3D56"/>
                </a:solidFill>
                <a:latin typeface="Segoe UI" pitchFamily="34" charset="0"/>
                <a:ea typeface="Segoe UI" pitchFamily="34" charset="-122"/>
                <a:cs typeface="Segoe UI" pitchFamily="34" charset="-120"/>
              </a:rPr>
              <a:t>Scénario sénégalais : la liaison du corridor Dakar–Thiès.</a:t>
            </a:r>
            <a:endParaRPr lang="en-US" sz="1740" dirty="0"/>
          </a:p>
        </p:txBody>
      </p:sp>
      <p:sp>
        <p:nvSpPr>
          <p:cNvPr id="7" name="anim__5__afterprev__fade__para"/>
          <p:cNvSpPr/>
          <p:nvPr/>
        </p:nvSpPr>
        <p:spPr>
          <a:xfrm>
            <a:off x="685800" y="4754880"/>
            <a:ext cx="7315200" cy="1280160"/>
          </a:xfrm>
          <a:prstGeom prst="rect">
            <a:avLst/>
          </a:prstGeom>
          <a:noFill/>
          <a:ln/>
        </p:spPr>
        <p:txBody>
          <a:bodyPr wrap="square" lIns="0" tIns="0" rIns="0" bIns="0" rtlCol="0" anchor="ctr"/>
          <a:lstStyle/>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Contexte national des télécommunications</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Importance stratégique de l'axe Dakar–Thiès</a:t>
            </a:r>
            <a:endParaRPr lang="en-US" sz="1510" dirty="0"/>
          </a:p>
          <a:p>
            <a:pPr marL="203200" indent="-203200">
              <a:spcAft>
                <a:spcPts val="700"/>
              </a:spcAft>
              <a:buSzPct val="100000"/>
              <a:buChar char="•"/>
            </a:pPr>
            <a:r>
              <a:rPr lang="en-US" sz="1510" dirty="0">
                <a:solidFill>
                  <a:srgbClr val="847FA6"/>
                </a:solidFill>
                <a:latin typeface="Segoe UI" pitchFamily="34" charset="0"/>
                <a:ea typeface="Segoe UI" pitchFamily="34" charset="-122"/>
                <a:cs typeface="Segoe UI" pitchFamily="34" charset="-120"/>
              </a:rPr>
              <a:t>Faisabilité technique de la liaison sur 65 km</a:t>
            </a:r>
            <a:endParaRPr lang="en-US" sz="1510" dirty="0"/>
          </a:p>
        </p:txBody>
      </p:sp>
      <p:sp>
        <p:nvSpPr>
          <p:cNvPr id="8" name="Text 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9" name="Text 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19</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800">
        <p:cover/>
      </p:transition>
    </mc:Choice>
    <mc:Fallback>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50"/>
                                  <p:tgtEl>
                                    <p:spTgt spid="4"/>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350"/>
                                  <p:tgtEl>
                                    <p:spTgt spid="6"/>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350"/>
                                  <p:tgtEl>
                                    <p:spTgt spid="7">
                                      <p:txEl>
                                        <p:pRg st="0" end="0"/>
                                      </p:txEl>
                                    </p:spTgt>
                                  </p:tgtEl>
                                </p:cBhvr>
                              </p:animEffect>
                            </p:childTnLst>
                          </p:cTn>
                        </p:par>
                      </p:childTnLst>
                    </p:cTn>
                  </p:par>
                  <p:par>
                    <p:cTn id="24" fill="hold">
                      <p:stCondLst>
                        <p:cond delay="70"/>
                      </p:stCondLst>
                      <p:childTnLst>
                        <p:par>
                          <p:cTn id="25" presetID="10" presetClass="entr" presetSubtype="0" fill="hold" grpId="4" nodeType="after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350"/>
                                  <p:tgtEl>
                                    <p:spTgt spid="7">
                                      <p:txEl>
                                        <p:pRg st="1" end="1"/>
                                      </p:txEl>
                                    </p:spTgt>
                                  </p:tgtEl>
                                </p:cBhvr>
                              </p:animEffect>
                            </p:childTnLst>
                          </p:cTn>
                        </p:par>
                      </p:childTnLst>
                    </p:cTn>
                  </p:par>
                  <p:par>
                    <p:cTn id="28" fill="hold">
                      <p:stCondLst>
                        <p:cond delay="70"/>
                      </p:stCondLst>
                      <p:childTnLst>
                        <p:par>
                          <p:cTn id="29" presetID="10" presetClass="entr" presetSubtype="0" fill="hold" grpId="4" nodeType="after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350"/>
                                  <p:tgtEl>
                                    <p:spTgt spid="7">
                                      <p:txEl>
                                        <p:pRg st="2" end="2"/>
                                      </p:txEl>
                                    </p:spTgt>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4" grpId="2" animBg="1"/>
      <p:bldP spid="6" grpId="3" animBg="1"/>
      <p:bldP spid="7" grpId="4" build="p"/>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III — CAS D'APPLICATION</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Scénario : liaison Dakar – Thiès</a:t>
            </a:r>
            <a:endParaRPr lang="en-US" sz="3100" dirty="0"/>
          </a:p>
        </p:txBody>
      </p:sp>
      <p:sp>
        <p:nvSpPr>
          <p:cNvPr id="4" name="Shape 2"/>
          <p:cNvSpPr/>
          <p:nvPr/>
        </p:nvSpPr>
        <p:spPr>
          <a:xfrm>
            <a:off x="685800" y="1828800"/>
            <a:ext cx="5852160" cy="1965960"/>
          </a:xfrm>
          <a:prstGeom prst="roundRect">
            <a:avLst>
              <a:gd name="adj" fmla="val 7442"/>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1673352"/>
          </a:xfrm>
          <a:prstGeom prst="rect">
            <a:avLst/>
          </a:prstGeom>
          <a:solidFill>
            <a:srgbClr val="6D28D9"/>
          </a:solidFill>
          <a:ln/>
        </p:spPr>
        <p:txBody>
          <a:bodyPr/>
          <a:lstStyle/>
          <a:p>
            <a:endParaRPr lang="fr-FR"/>
          </a:p>
        </p:txBody>
      </p:sp>
      <p:sp>
        <p:nvSpPr>
          <p:cNvPr id="6" name="anim__3__afterprev__fade__whole"/>
          <p:cNvSpPr/>
          <p:nvPr/>
        </p:nvSpPr>
        <p:spPr>
          <a:xfrm>
            <a:off x="978408" y="1993392"/>
            <a:ext cx="5303520" cy="292608"/>
          </a:xfrm>
          <a:prstGeom prst="rect">
            <a:avLst/>
          </a:prstGeom>
          <a:noFill/>
          <a:ln/>
        </p:spPr>
        <p:txBody>
          <a:bodyPr wrap="square" lIns="0" tIns="0" rIns="0" bIns="0" rtlCol="0" anchor="ctr"/>
          <a:lstStyle/>
          <a:p>
            <a:pPr marL="0" indent="0">
              <a:buNone/>
            </a:pPr>
            <a:r>
              <a:rPr lang="en-US" sz="1620" b="1" dirty="0">
                <a:solidFill>
                  <a:srgbClr val="6D28D9"/>
                </a:solidFill>
                <a:latin typeface="Segoe UI Semibold" pitchFamily="34" charset="0"/>
                <a:ea typeface="Segoe UI Semibold" pitchFamily="34" charset="-122"/>
                <a:cs typeface="Segoe UI Semibold" pitchFamily="34" charset="-120"/>
              </a:rPr>
              <a:t>Contexte national</a:t>
            </a:r>
            <a:endParaRPr lang="en-US" sz="1620" dirty="0"/>
          </a:p>
        </p:txBody>
      </p:sp>
      <p:sp>
        <p:nvSpPr>
          <p:cNvPr id="7" name="anim__4__afterprev__fade__whole"/>
          <p:cNvSpPr/>
          <p:nvPr/>
        </p:nvSpPr>
        <p:spPr>
          <a:xfrm>
            <a:off x="978408" y="2304288"/>
            <a:ext cx="5303520" cy="1371600"/>
          </a:xfrm>
          <a:prstGeom prst="rect">
            <a:avLst/>
          </a:prstGeom>
          <a:noFill/>
          <a:ln/>
        </p:spPr>
        <p:txBody>
          <a:bodyPr wrap="square" lIns="0" tIns="0" rIns="0" bIns="0" rtlCol="0" anchor="ctr"/>
          <a:lstStyle/>
          <a:p>
            <a:pPr marL="0" indent="0">
              <a:lnSpc>
                <a:spcPct val="120000"/>
              </a:lnSpc>
              <a:buNone/>
            </a:pPr>
            <a:r>
              <a:rPr lang="en-US" sz="1510" dirty="0">
                <a:solidFill>
                  <a:srgbClr val="3F3D56"/>
                </a:solidFill>
                <a:latin typeface="Segoe UI" pitchFamily="34" charset="0"/>
                <a:ea typeface="Segoe UI" pitchFamily="34" charset="-122"/>
                <a:cs typeface="Segoe UI" pitchFamily="34" charset="-120"/>
              </a:rPr>
              <a:t>Le Sénégal compte plus de 4 500 km de fibre déployés, renforcés par le Projet National Large Bande. Le corridor Dakar–Thiès–Mbour est l'épine dorsale du réseau : forte demande en données entre opérateurs, entreprises et administrations.</a:t>
            </a:r>
            <a:endParaRPr lang="en-US" sz="1510" dirty="0"/>
          </a:p>
        </p:txBody>
      </p:sp>
      <p:sp>
        <p:nvSpPr>
          <p:cNvPr id="8" name="Shape 6"/>
          <p:cNvSpPr/>
          <p:nvPr/>
        </p:nvSpPr>
        <p:spPr>
          <a:xfrm>
            <a:off x="685800" y="3950208"/>
            <a:ext cx="5852160" cy="1993392"/>
          </a:xfrm>
          <a:prstGeom prst="roundRect">
            <a:avLst>
              <a:gd name="adj" fmla="val 7339"/>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9" name="Shape 7"/>
          <p:cNvSpPr/>
          <p:nvPr/>
        </p:nvSpPr>
        <p:spPr>
          <a:xfrm>
            <a:off x="685800" y="4096512"/>
            <a:ext cx="64008" cy="1700784"/>
          </a:xfrm>
          <a:prstGeom prst="rect">
            <a:avLst/>
          </a:prstGeom>
          <a:solidFill>
            <a:srgbClr val="DB2777"/>
          </a:solidFill>
          <a:ln/>
        </p:spPr>
        <p:txBody>
          <a:bodyPr/>
          <a:lstStyle/>
          <a:p>
            <a:endParaRPr lang="fr-FR"/>
          </a:p>
        </p:txBody>
      </p:sp>
      <p:sp>
        <p:nvSpPr>
          <p:cNvPr id="10" name="anim__5__afterprev__fade__whole"/>
          <p:cNvSpPr/>
          <p:nvPr/>
        </p:nvSpPr>
        <p:spPr>
          <a:xfrm>
            <a:off x="978408" y="4114800"/>
            <a:ext cx="5303520" cy="292608"/>
          </a:xfrm>
          <a:prstGeom prst="rect">
            <a:avLst/>
          </a:prstGeom>
          <a:noFill/>
          <a:ln/>
        </p:spPr>
        <p:txBody>
          <a:bodyPr wrap="square" lIns="0" tIns="0" rIns="0" bIns="0" rtlCol="0" anchor="ctr"/>
          <a:lstStyle/>
          <a:p>
            <a:pPr marL="0" indent="0">
              <a:buNone/>
            </a:pPr>
            <a:r>
              <a:rPr lang="en-US" sz="1620" b="1" dirty="0">
                <a:solidFill>
                  <a:srgbClr val="DB2777"/>
                </a:solidFill>
                <a:latin typeface="Segoe UI Semibold" pitchFamily="34" charset="0"/>
                <a:ea typeface="Segoe UI Semibold" pitchFamily="34" charset="-122"/>
                <a:cs typeface="Segoe UI Semibold" pitchFamily="34" charset="-120"/>
              </a:rPr>
              <a:t>Faisabilité technique</a:t>
            </a:r>
            <a:endParaRPr lang="en-US" sz="1620" dirty="0"/>
          </a:p>
        </p:txBody>
      </p:sp>
      <p:sp>
        <p:nvSpPr>
          <p:cNvPr id="11" name="anim__6__afterprev__fade__para"/>
          <p:cNvSpPr/>
          <p:nvPr/>
        </p:nvSpPr>
        <p:spPr>
          <a:xfrm>
            <a:off x="978408" y="4434840"/>
            <a:ext cx="5303520" cy="1463040"/>
          </a:xfrm>
          <a:prstGeom prst="rect">
            <a:avLst/>
          </a:prstGeom>
          <a:noFill/>
          <a:ln/>
        </p:spPr>
        <p:txBody>
          <a:bodyPr wrap="square" lIns="0" tIns="0" rIns="0" bIns="0" rtlCol="0" anchor="ctr"/>
          <a:lstStyle/>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65 km ≪ 126 km : transmission garantie sans amplificateur</a:t>
            </a:r>
            <a:endParaRPr lang="en-US" sz="1450" dirty="0"/>
          </a:p>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Génie civil existant (conduites, fourreaux, emprise ferroviaire)</a:t>
            </a:r>
            <a:endParaRPr lang="en-US" sz="1450" dirty="0"/>
          </a:p>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Forte densité économique → demande qui justifie l'investissement</a:t>
            </a:r>
            <a:endParaRPr lang="en-US" sz="1450" dirty="0"/>
          </a:p>
          <a:p>
            <a:pPr marL="203200" indent="-203200">
              <a:spcAft>
                <a:spcPts val="700"/>
              </a:spcAft>
              <a:buSzPct val="100000"/>
              <a:buChar char="•"/>
            </a:pPr>
            <a:r>
              <a:rPr lang="en-US" sz="1450" dirty="0">
                <a:solidFill>
                  <a:srgbClr val="3F3D56"/>
                </a:solidFill>
                <a:latin typeface="Segoe UI" pitchFamily="34" charset="0"/>
                <a:ea typeface="Segoe UI" pitchFamily="34" charset="-122"/>
                <a:cs typeface="Segoe UI" pitchFamily="34" charset="-120"/>
              </a:rPr>
              <a:t>Aligné sur le Plan Sénégal Numérique 2025 (THD, 4G/5G)</a:t>
            </a:r>
            <a:endParaRPr lang="en-US" sz="1450" dirty="0"/>
          </a:p>
        </p:txBody>
      </p:sp>
      <p:sp>
        <p:nvSpPr>
          <p:cNvPr id="12" name="anim__7__afterprev__fade__whole"/>
          <p:cNvSpPr/>
          <p:nvPr/>
        </p:nvSpPr>
        <p:spPr>
          <a:xfrm>
            <a:off x="6903720" y="1828800"/>
            <a:ext cx="4599432" cy="292608"/>
          </a:xfrm>
          <a:prstGeom prst="rect">
            <a:avLst/>
          </a:prstGeom>
          <a:noFill/>
          <a:ln/>
        </p:spPr>
        <p:txBody>
          <a:bodyPr wrap="square" lIns="0" tIns="0" rIns="0" bIns="0" rtlCol="0" anchor="ctr"/>
          <a:lstStyle/>
          <a:p>
            <a:pPr marL="0" indent="0">
              <a:buNone/>
            </a:pPr>
            <a:r>
              <a:rPr lang="en-US" sz="1330" b="1" kern="0" spc="200" dirty="0">
                <a:solidFill>
                  <a:srgbClr val="6D28D9"/>
                </a:solidFill>
                <a:latin typeface="Segoe UI Semibold" pitchFamily="34" charset="0"/>
                <a:ea typeface="Segoe UI Semibold" pitchFamily="34" charset="-122"/>
                <a:cs typeface="Segoe UI Semibold" pitchFamily="34" charset="-120"/>
              </a:rPr>
              <a:t>PARAMÈTRES DE LA LIAISON</a:t>
            </a:r>
            <a:endParaRPr lang="en-US" sz="1330" dirty="0"/>
          </a:p>
        </p:txBody>
      </p:sp>
      <p:sp>
        <p:nvSpPr>
          <p:cNvPr id="13" name="Shape 11"/>
          <p:cNvSpPr/>
          <p:nvPr/>
        </p:nvSpPr>
        <p:spPr>
          <a:xfrm>
            <a:off x="6903720" y="2212848"/>
            <a:ext cx="4599432" cy="822960"/>
          </a:xfrm>
          <a:prstGeom prst="roundRect">
            <a:avLst>
              <a:gd name="adj" fmla="val 1777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4" name="Shape 12"/>
          <p:cNvSpPr/>
          <p:nvPr/>
        </p:nvSpPr>
        <p:spPr>
          <a:xfrm>
            <a:off x="6903720" y="2359152"/>
            <a:ext cx="64008" cy="530352"/>
          </a:xfrm>
          <a:prstGeom prst="rect">
            <a:avLst/>
          </a:prstGeom>
          <a:solidFill>
            <a:srgbClr val="6D28D9"/>
          </a:solidFill>
          <a:ln/>
        </p:spPr>
        <p:txBody>
          <a:bodyPr/>
          <a:lstStyle/>
          <a:p>
            <a:endParaRPr lang="fr-FR"/>
          </a:p>
        </p:txBody>
      </p:sp>
      <p:sp>
        <p:nvSpPr>
          <p:cNvPr id="15" name="Shape 13"/>
          <p:cNvSpPr/>
          <p:nvPr/>
        </p:nvSpPr>
        <p:spPr>
          <a:xfrm>
            <a:off x="7123176" y="2359152"/>
            <a:ext cx="530352" cy="530352"/>
          </a:xfrm>
          <a:prstGeom prst="ellipse">
            <a:avLst/>
          </a:prstGeom>
          <a:solidFill>
            <a:srgbClr val="6D28D9"/>
          </a:solidFill>
          <a:ln/>
        </p:spPr>
        <p:txBody>
          <a:bodyPr/>
          <a:lstStyle/>
          <a:p>
            <a:endParaRPr lang="fr-FR"/>
          </a:p>
        </p:txBody>
      </p:sp>
      <p:pic>
        <p:nvPicPr>
          <p:cNvPr id="16" name="anim__8__afterprev__fade__whole" descr="C:\Users\Cedric S. DJIGUIMDE\Desktop\Projet\presentation_fibre\assets_themes\spectra\icons\route_w.png"/>
          <p:cNvPicPr>
            <a:picLocks noChangeAspect="1"/>
          </p:cNvPicPr>
          <p:nvPr/>
        </p:nvPicPr>
        <p:blipFill>
          <a:blip r:embed="rId4"/>
          <a:stretch>
            <a:fillRect/>
          </a:stretch>
        </p:blipFill>
        <p:spPr>
          <a:xfrm>
            <a:off x="7266371" y="2502347"/>
            <a:ext cx="243962" cy="243962"/>
          </a:xfrm>
          <a:prstGeom prst="rect">
            <a:avLst/>
          </a:prstGeom>
        </p:spPr>
      </p:pic>
      <p:sp>
        <p:nvSpPr>
          <p:cNvPr id="17" name="anim__9__withprev__fade__whole"/>
          <p:cNvSpPr/>
          <p:nvPr/>
        </p:nvSpPr>
        <p:spPr>
          <a:xfrm>
            <a:off x="7818120" y="2322576"/>
            <a:ext cx="3502152" cy="384048"/>
          </a:xfrm>
          <a:prstGeom prst="rect">
            <a:avLst/>
          </a:prstGeom>
          <a:noFill/>
          <a:ln/>
        </p:spPr>
        <p:txBody>
          <a:bodyPr wrap="square" lIns="0" tIns="0" rIns="0" bIns="0" rtlCol="0" anchor="ctr"/>
          <a:lstStyle/>
          <a:p>
            <a:pPr marL="0" indent="0">
              <a:buNone/>
            </a:pPr>
            <a:r>
              <a:rPr lang="en-US" sz="2200" b="1" dirty="0">
                <a:solidFill>
                  <a:srgbClr val="20183F"/>
                </a:solidFill>
                <a:latin typeface="Segoe UI Black" pitchFamily="34" charset="0"/>
                <a:ea typeface="Segoe UI Black" pitchFamily="34" charset="-122"/>
                <a:cs typeface="Segoe UI Black" pitchFamily="34" charset="-120"/>
              </a:rPr>
              <a:t>65 km</a:t>
            </a:r>
            <a:endParaRPr lang="en-US" sz="2200" dirty="0"/>
          </a:p>
        </p:txBody>
      </p:sp>
      <p:sp>
        <p:nvSpPr>
          <p:cNvPr id="18" name="anim__10__withprev__fade__whole"/>
          <p:cNvSpPr/>
          <p:nvPr/>
        </p:nvSpPr>
        <p:spPr>
          <a:xfrm>
            <a:off x="7818120" y="2688336"/>
            <a:ext cx="3502152" cy="292608"/>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Distance Dakar – Thiès</a:t>
            </a:r>
            <a:endParaRPr lang="en-US" sz="1330" dirty="0"/>
          </a:p>
        </p:txBody>
      </p:sp>
      <p:sp>
        <p:nvSpPr>
          <p:cNvPr id="19" name="Shape 16"/>
          <p:cNvSpPr/>
          <p:nvPr/>
        </p:nvSpPr>
        <p:spPr>
          <a:xfrm>
            <a:off x="6903720" y="3154680"/>
            <a:ext cx="4599432" cy="822960"/>
          </a:xfrm>
          <a:prstGeom prst="roundRect">
            <a:avLst>
              <a:gd name="adj" fmla="val 1777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0" name="Shape 17"/>
          <p:cNvSpPr/>
          <p:nvPr/>
        </p:nvSpPr>
        <p:spPr>
          <a:xfrm>
            <a:off x="6903720" y="3300984"/>
            <a:ext cx="64008" cy="530352"/>
          </a:xfrm>
          <a:prstGeom prst="rect">
            <a:avLst/>
          </a:prstGeom>
          <a:solidFill>
            <a:srgbClr val="6D28D9"/>
          </a:solidFill>
          <a:ln/>
        </p:spPr>
        <p:txBody>
          <a:bodyPr/>
          <a:lstStyle/>
          <a:p>
            <a:endParaRPr lang="fr-FR"/>
          </a:p>
        </p:txBody>
      </p:sp>
      <p:sp>
        <p:nvSpPr>
          <p:cNvPr id="21" name="Shape 18"/>
          <p:cNvSpPr/>
          <p:nvPr/>
        </p:nvSpPr>
        <p:spPr>
          <a:xfrm>
            <a:off x="7123176" y="3300984"/>
            <a:ext cx="530352" cy="530352"/>
          </a:xfrm>
          <a:prstGeom prst="ellipse">
            <a:avLst/>
          </a:prstGeom>
          <a:solidFill>
            <a:srgbClr val="6D28D9"/>
          </a:solidFill>
          <a:ln/>
        </p:spPr>
        <p:txBody>
          <a:bodyPr/>
          <a:lstStyle/>
          <a:p>
            <a:endParaRPr lang="fr-FR"/>
          </a:p>
        </p:txBody>
      </p:sp>
      <p:pic>
        <p:nvPicPr>
          <p:cNvPr id="22" name="anim__11__afterprev__fade__whole" descr="C:\Users\Cedric S. DJIGUIMDE\Desktop\Projet\presentation_fibre\assets_themes\spectra\icons\light_w.png"/>
          <p:cNvPicPr>
            <a:picLocks noChangeAspect="1"/>
          </p:cNvPicPr>
          <p:nvPr/>
        </p:nvPicPr>
        <p:blipFill>
          <a:blip r:embed="rId5"/>
          <a:stretch>
            <a:fillRect/>
          </a:stretch>
        </p:blipFill>
        <p:spPr>
          <a:xfrm>
            <a:off x="7266371" y="3444179"/>
            <a:ext cx="243962" cy="243962"/>
          </a:xfrm>
          <a:prstGeom prst="rect">
            <a:avLst/>
          </a:prstGeom>
        </p:spPr>
      </p:pic>
      <p:sp>
        <p:nvSpPr>
          <p:cNvPr id="23" name="anim__12__withprev__fade__whole"/>
          <p:cNvSpPr/>
          <p:nvPr/>
        </p:nvSpPr>
        <p:spPr>
          <a:xfrm>
            <a:off x="7818120" y="3264408"/>
            <a:ext cx="3502152" cy="384048"/>
          </a:xfrm>
          <a:prstGeom prst="rect">
            <a:avLst/>
          </a:prstGeom>
          <a:noFill/>
          <a:ln/>
        </p:spPr>
        <p:txBody>
          <a:bodyPr wrap="square" lIns="0" tIns="0" rIns="0" bIns="0" rtlCol="0" anchor="ctr"/>
          <a:lstStyle/>
          <a:p>
            <a:pPr marL="0" indent="0">
              <a:buNone/>
            </a:pPr>
            <a:r>
              <a:rPr lang="en-US" sz="2200" b="1" dirty="0">
                <a:solidFill>
                  <a:srgbClr val="20183F"/>
                </a:solidFill>
                <a:latin typeface="Segoe UI Black" pitchFamily="34" charset="0"/>
                <a:ea typeface="Segoe UI Black" pitchFamily="34" charset="-122"/>
                <a:cs typeface="Segoe UI Black" pitchFamily="34" charset="-120"/>
              </a:rPr>
              <a:t>G.652.D</a:t>
            </a:r>
            <a:endParaRPr lang="en-US" sz="2200" dirty="0"/>
          </a:p>
        </p:txBody>
      </p:sp>
      <p:sp>
        <p:nvSpPr>
          <p:cNvPr id="24" name="anim__13__withprev__fade__whole"/>
          <p:cNvSpPr/>
          <p:nvPr/>
        </p:nvSpPr>
        <p:spPr>
          <a:xfrm>
            <a:off x="7818120" y="3630168"/>
            <a:ext cx="3502152" cy="292608"/>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Fibre monomode, 1550 nm</a:t>
            </a:r>
            <a:endParaRPr lang="en-US" sz="1330" dirty="0"/>
          </a:p>
        </p:txBody>
      </p:sp>
      <p:sp>
        <p:nvSpPr>
          <p:cNvPr id="25" name="Shape 21"/>
          <p:cNvSpPr/>
          <p:nvPr/>
        </p:nvSpPr>
        <p:spPr>
          <a:xfrm>
            <a:off x="6903720" y="4096512"/>
            <a:ext cx="4599432" cy="822960"/>
          </a:xfrm>
          <a:prstGeom prst="roundRect">
            <a:avLst>
              <a:gd name="adj" fmla="val 1777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6" name="Shape 22"/>
          <p:cNvSpPr/>
          <p:nvPr/>
        </p:nvSpPr>
        <p:spPr>
          <a:xfrm>
            <a:off x="6903720" y="4242816"/>
            <a:ext cx="64008" cy="530352"/>
          </a:xfrm>
          <a:prstGeom prst="rect">
            <a:avLst/>
          </a:prstGeom>
          <a:solidFill>
            <a:srgbClr val="6D28D9"/>
          </a:solidFill>
          <a:ln/>
        </p:spPr>
        <p:txBody>
          <a:bodyPr/>
          <a:lstStyle/>
          <a:p>
            <a:endParaRPr lang="fr-FR"/>
          </a:p>
        </p:txBody>
      </p:sp>
      <p:sp>
        <p:nvSpPr>
          <p:cNvPr id="27" name="Shape 23"/>
          <p:cNvSpPr/>
          <p:nvPr/>
        </p:nvSpPr>
        <p:spPr>
          <a:xfrm>
            <a:off x="7123176" y="4242816"/>
            <a:ext cx="530352" cy="530352"/>
          </a:xfrm>
          <a:prstGeom prst="ellipse">
            <a:avLst/>
          </a:prstGeom>
          <a:solidFill>
            <a:srgbClr val="6D28D9"/>
          </a:solidFill>
          <a:ln/>
        </p:spPr>
        <p:txBody>
          <a:bodyPr/>
          <a:lstStyle/>
          <a:p>
            <a:endParaRPr lang="fr-FR"/>
          </a:p>
        </p:txBody>
      </p:sp>
      <p:pic>
        <p:nvPicPr>
          <p:cNvPr id="28" name="anim__14__afterprev__fade__whole" descr="C:\Users\Cedric S. DJIGUIMDE\Desktop\Projet\presentation_fibre\assets_themes\spectra\icons\power_w.png"/>
          <p:cNvPicPr>
            <a:picLocks noChangeAspect="1"/>
          </p:cNvPicPr>
          <p:nvPr/>
        </p:nvPicPr>
        <p:blipFill>
          <a:blip r:embed="rId6"/>
          <a:stretch>
            <a:fillRect/>
          </a:stretch>
        </p:blipFill>
        <p:spPr>
          <a:xfrm>
            <a:off x="7266371" y="4386011"/>
            <a:ext cx="243962" cy="243962"/>
          </a:xfrm>
          <a:prstGeom prst="rect">
            <a:avLst/>
          </a:prstGeom>
        </p:spPr>
      </p:pic>
      <p:sp>
        <p:nvSpPr>
          <p:cNvPr id="29" name="anim__15__withprev__fade__whole"/>
          <p:cNvSpPr/>
          <p:nvPr/>
        </p:nvSpPr>
        <p:spPr>
          <a:xfrm>
            <a:off x="7818120" y="4206240"/>
            <a:ext cx="3502152" cy="384048"/>
          </a:xfrm>
          <a:prstGeom prst="rect">
            <a:avLst/>
          </a:prstGeom>
          <a:noFill/>
          <a:ln/>
        </p:spPr>
        <p:txBody>
          <a:bodyPr wrap="square" lIns="0" tIns="0" rIns="0" bIns="0" rtlCol="0" anchor="ctr"/>
          <a:lstStyle/>
          <a:p>
            <a:pPr marL="0" indent="0">
              <a:buNone/>
            </a:pPr>
            <a:r>
              <a:rPr lang="en-US" sz="2200" b="1" dirty="0">
                <a:solidFill>
                  <a:srgbClr val="20183F"/>
                </a:solidFill>
                <a:latin typeface="Segoe UI Black" pitchFamily="34" charset="0"/>
                <a:ea typeface="Segoe UI Black" pitchFamily="34" charset="-122"/>
                <a:cs typeface="Segoe UI Black" pitchFamily="34" charset="-120"/>
              </a:rPr>
              <a:t>10 Gbit/s</a:t>
            </a:r>
            <a:endParaRPr lang="en-US" sz="2200" dirty="0"/>
          </a:p>
        </p:txBody>
      </p:sp>
      <p:sp>
        <p:nvSpPr>
          <p:cNvPr id="30" name="anim__16__withprev__fade__whole"/>
          <p:cNvSpPr/>
          <p:nvPr/>
        </p:nvSpPr>
        <p:spPr>
          <a:xfrm>
            <a:off x="7818120" y="4572000"/>
            <a:ext cx="3502152" cy="292608"/>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Débit cible, modulation NRZ</a:t>
            </a:r>
            <a:endParaRPr lang="en-US" sz="1330" dirty="0"/>
          </a:p>
        </p:txBody>
      </p:sp>
      <p:sp>
        <p:nvSpPr>
          <p:cNvPr id="31" name="Shape 26"/>
          <p:cNvSpPr/>
          <p:nvPr/>
        </p:nvSpPr>
        <p:spPr>
          <a:xfrm>
            <a:off x="6903720" y="5038344"/>
            <a:ext cx="4599432" cy="822960"/>
          </a:xfrm>
          <a:prstGeom prst="roundRect">
            <a:avLst>
              <a:gd name="adj" fmla="val 17778"/>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32" name="Shape 27"/>
          <p:cNvSpPr/>
          <p:nvPr/>
        </p:nvSpPr>
        <p:spPr>
          <a:xfrm>
            <a:off x="6903720" y="5184648"/>
            <a:ext cx="64008" cy="530352"/>
          </a:xfrm>
          <a:prstGeom prst="rect">
            <a:avLst/>
          </a:prstGeom>
          <a:solidFill>
            <a:srgbClr val="6D28D9"/>
          </a:solidFill>
          <a:ln/>
        </p:spPr>
        <p:txBody>
          <a:bodyPr/>
          <a:lstStyle/>
          <a:p>
            <a:endParaRPr lang="fr-FR"/>
          </a:p>
        </p:txBody>
      </p:sp>
      <p:sp>
        <p:nvSpPr>
          <p:cNvPr id="33" name="Shape 28"/>
          <p:cNvSpPr/>
          <p:nvPr/>
        </p:nvSpPr>
        <p:spPr>
          <a:xfrm>
            <a:off x="7123176" y="5184648"/>
            <a:ext cx="530352" cy="530352"/>
          </a:xfrm>
          <a:prstGeom prst="ellipse">
            <a:avLst/>
          </a:prstGeom>
          <a:solidFill>
            <a:srgbClr val="6D28D9"/>
          </a:solidFill>
          <a:ln/>
        </p:spPr>
        <p:txBody>
          <a:bodyPr/>
          <a:lstStyle/>
          <a:p>
            <a:endParaRPr lang="fr-FR"/>
          </a:p>
        </p:txBody>
      </p:sp>
      <p:pic>
        <p:nvPicPr>
          <p:cNvPr id="34" name="anim__17__afterprev__fade__whole" descr="C:\Users\Cedric S. DJIGUIMDE\Desktop\Projet\presentation_fibre\assets_themes\spectra\icons\check_w.png"/>
          <p:cNvPicPr>
            <a:picLocks noChangeAspect="1"/>
          </p:cNvPicPr>
          <p:nvPr/>
        </p:nvPicPr>
        <p:blipFill>
          <a:blip r:embed="rId7"/>
          <a:stretch>
            <a:fillRect/>
          </a:stretch>
        </p:blipFill>
        <p:spPr>
          <a:xfrm>
            <a:off x="7266371" y="5327843"/>
            <a:ext cx="243962" cy="243962"/>
          </a:xfrm>
          <a:prstGeom prst="rect">
            <a:avLst/>
          </a:prstGeom>
        </p:spPr>
      </p:pic>
      <p:sp>
        <p:nvSpPr>
          <p:cNvPr id="35" name="anim__18__withprev__fade__whole"/>
          <p:cNvSpPr/>
          <p:nvPr/>
        </p:nvSpPr>
        <p:spPr>
          <a:xfrm>
            <a:off x="7818120" y="5148072"/>
            <a:ext cx="3502152" cy="384048"/>
          </a:xfrm>
          <a:prstGeom prst="rect">
            <a:avLst/>
          </a:prstGeom>
          <a:noFill/>
          <a:ln/>
        </p:spPr>
        <p:txBody>
          <a:bodyPr wrap="square" lIns="0" tIns="0" rIns="0" bIns="0" rtlCol="0" anchor="ctr"/>
          <a:lstStyle/>
          <a:p>
            <a:pPr marL="0" indent="0">
              <a:buNone/>
            </a:pPr>
            <a:r>
              <a:rPr lang="en-US" sz="2200" b="1" dirty="0">
                <a:solidFill>
                  <a:srgbClr val="20183F"/>
                </a:solidFill>
                <a:latin typeface="Segoe UI Black" pitchFamily="34" charset="0"/>
                <a:ea typeface="Segoe UI Black" pitchFamily="34" charset="-122"/>
                <a:cs typeface="Segoe UI Black" pitchFamily="34" charset="-120"/>
              </a:rPr>
              <a:t>Sans régénération</a:t>
            </a:r>
            <a:endParaRPr lang="en-US" sz="2200" dirty="0"/>
          </a:p>
        </p:txBody>
      </p:sp>
      <p:sp>
        <p:nvSpPr>
          <p:cNvPr id="36" name="anim__19__withprev__fade__whole"/>
          <p:cNvSpPr/>
          <p:nvPr/>
        </p:nvSpPr>
        <p:spPr>
          <a:xfrm>
            <a:off x="7818120" y="5513832"/>
            <a:ext cx="3502152" cy="292608"/>
          </a:xfrm>
          <a:prstGeom prst="rect">
            <a:avLst/>
          </a:prstGeom>
          <a:noFill/>
          <a:ln/>
        </p:spPr>
        <p:txBody>
          <a:bodyPr wrap="square" lIns="0" tIns="0" rIns="0" bIns="0" rtlCol="0" anchor="ctr"/>
          <a:lstStyle/>
          <a:p>
            <a:pPr marL="0" indent="0">
              <a:buNone/>
            </a:pPr>
            <a:r>
              <a:rPr lang="en-US" sz="1330" dirty="0">
                <a:solidFill>
                  <a:srgbClr val="847FA6"/>
                </a:solidFill>
                <a:latin typeface="Segoe UI" pitchFamily="34" charset="0"/>
                <a:ea typeface="Segoe UI" pitchFamily="34" charset="-122"/>
                <a:cs typeface="Segoe UI" pitchFamily="34" charset="-120"/>
              </a:rPr>
              <a:t>Marge de puissance confortable</a:t>
            </a:r>
            <a:endParaRPr lang="en-US" sz="1330" dirty="0"/>
          </a:p>
        </p:txBody>
      </p:sp>
      <p:sp>
        <p:nvSpPr>
          <p:cNvPr id="37" name="Text 31"/>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8" name="Text 32"/>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20</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50"/>
                                  <p:tgtEl>
                                    <p:spTgt spid="10"/>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fade">
                                <p:cBhvr>
                                  <p:cTn id="27" dur="350"/>
                                  <p:tgtEl>
                                    <p:spTgt spid="11">
                                      <p:txEl>
                                        <p:pRg st="0" end="0"/>
                                      </p:txEl>
                                    </p:spTgt>
                                  </p:tgtEl>
                                </p:cBhvr>
                              </p:animEffect>
                            </p:childTnLst>
                          </p:cTn>
                        </p:par>
                      </p:childTnLst>
                    </p:cTn>
                  </p:par>
                  <p:par>
                    <p:cTn id="28" fill="hold">
                      <p:stCondLst>
                        <p:cond delay="70"/>
                      </p:stCondLst>
                      <p:childTnLst>
                        <p:par>
                          <p:cTn id="29" presetID="10" presetClass="entr" presetSubtype="0" fill="hold" grpId="5" nodeType="after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Effect transition="in" filter="fade">
                                <p:cBhvr>
                                  <p:cTn id="31" dur="350"/>
                                  <p:tgtEl>
                                    <p:spTgt spid="11">
                                      <p:txEl>
                                        <p:pRg st="1" end="1"/>
                                      </p:txEl>
                                    </p:spTgt>
                                  </p:tgtEl>
                                </p:cBhvr>
                              </p:animEffect>
                            </p:childTnLst>
                          </p:cTn>
                        </p:par>
                      </p:childTnLst>
                    </p:cTn>
                  </p:par>
                  <p:par>
                    <p:cTn id="32" fill="hold">
                      <p:stCondLst>
                        <p:cond delay="70"/>
                      </p:stCondLst>
                      <p:childTnLst>
                        <p:par>
                          <p:cTn id="33" presetID="10" presetClass="entr" presetSubtype="0" fill="hold" grpId="5" nodeType="after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animEffect transition="in" filter="fade">
                                <p:cBhvr>
                                  <p:cTn id="35" dur="350"/>
                                  <p:tgtEl>
                                    <p:spTgt spid="11">
                                      <p:txEl>
                                        <p:pRg st="2" end="2"/>
                                      </p:txEl>
                                    </p:spTgt>
                                  </p:tgtEl>
                                </p:cBhvr>
                              </p:animEffect>
                            </p:childTnLst>
                          </p:cTn>
                        </p:par>
                      </p:childTnLst>
                    </p:cTn>
                  </p:par>
                  <p:par>
                    <p:cTn id="36" fill="hold">
                      <p:stCondLst>
                        <p:cond delay="70"/>
                      </p:stCondLst>
                      <p:childTnLst>
                        <p:par>
                          <p:cTn id="37" presetID="10" presetClass="entr" presetSubtype="0" fill="hold" grpId="5" nodeType="after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animEffect transition="in" filter="fade">
                                <p:cBhvr>
                                  <p:cTn id="39" dur="350"/>
                                  <p:tgtEl>
                                    <p:spTgt spid="11">
                                      <p:txEl>
                                        <p:pRg st="3" end="3"/>
                                      </p:txEl>
                                    </p:spTgt>
                                  </p:tgtEl>
                                </p:cBhvr>
                              </p:animEffect>
                            </p:childTnLst>
                          </p:cTn>
                        </p:par>
                      </p:childTnLst>
                    </p:cTn>
                  </p:par>
                  <p:par>
                    <p:cTn id="40" fill="hold">
                      <p:stCondLst>
                        <p:cond delay="70"/>
                      </p:stCondLst>
                      <p:childTnLst>
                        <p:par>
                          <p:cTn id="41" presetID="10" presetClass="entr" presetSubtype="0" fill="hold" grpId="6"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50"/>
                                  <p:tgtEl>
                                    <p:spTgt spid="12"/>
                                  </p:tgtEl>
                                </p:cBhvr>
                              </p:animEffect>
                            </p:childTnLst>
                          </p:cTn>
                        </p:par>
                      </p:childTnLst>
                    </p:cTn>
                  </p:par>
                  <p:par>
                    <p:cTn id="44" fill="hold">
                      <p:stCondLst>
                        <p:cond delay="70"/>
                      </p:stCondLst>
                      <p:childTnLst>
                        <p:par>
                          <p:cTn id="45" presetID="10" presetClass="entr" presetSubtype="0" fill="hold"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50"/>
                                  <p:tgtEl>
                                    <p:spTgt spid="16"/>
                                  </p:tgtEl>
                                </p:cBhvr>
                              </p:animEffect>
                            </p:childTnLst>
                          </p:cTn>
                        </p:par>
                        <p:par>
                          <p:cTn id="48" presetID="10" presetClass="entr" presetSubtype="0" fill="hold" grpId="8"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50"/>
                                  <p:tgtEl>
                                    <p:spTgt spid="17"/>
                                  </p:tgtEl>
                                </p:cBhvr>
                              </p:animEffect>
                            </p:childTnLst>
                          </p:cTn>
                        </p:par>
                        <p:par>
                          <p:cTn id="51" presetID="10" presetClass="entr" presetSubtype="0" fill="hold" grpId="9"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50"/>
                                  <p:tgtEl>
                                    <p:spTgt spid="18"/>
                                  </p:tgtEl>
                                </p:cBhvr>
                              </p:animEffect>
                            </p:childTnLst>
                          </p:cTn>
                        </p:par>
                      </p:childTnLst>
                    </p:cTn>
                  </p:par>
                  <p:par>
                    <p:cTn id="54" fill="hold">
                      <p:stCondLst>
                        <p:cond delay="70"/>
                      </p:stCondLst>
                      <p:childTnLst>
                        <p:par>
                          <p:cTn id="55" presetID="10" presetClass="entr" presetSubtype="0" fill="hold"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350"/>
                                  <p:tgtEl>
                                    <p:spTgt spid="22"/>
                                  </p:tgtEl>
                                </p:cBhvr>
                              </p:animEffect>
                            </p:childTnLst>
                          </p:cTn>
                        </p:par>
                        <p:par>
                          <p:cTn id="58" presetID="10" presetClass="entr" presetSubtype="0" fill="hold" grpId="11"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50"/>
                                  <p:tgtEl>
                                    <p:spTgt spid="23"/>
                                  </p:tgtEl>
                                </p:cBhvr>
                              </p:animEffect>
                            </p:childTnLst>
                          </p:cTn>
                        </p:par>
                        <p:par>
                          <p:cTn id="61" presetID="10" presetClass="entr" presetSubtype="0" fill="hold" grpId="12"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50"/>
                                  <p:tgtEl>
                                    <p:spTgt spid="24"/>
                                  </p:tgtEl>
                                </p:cBhvr>
                              </p:animEffect>
                            </p:childTnLst>
                          </p:cTn>
                        </p:par>
                      </p:childTnLst>
                    </p:cTn>
                  </p:par>
                  <p:par>
                    <p:cTn id="64" fill="hold">
                      <p:stCondLst>
                        <p:cond delay="70"/>
                      </p:stCondLst>
                      <p:childTnLst>
                        <p:par>
                          <p:cTn id="65" presetID="10" presetClass="entr" presetSubtype="0"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350"/>
                                  <p:tgtEl>
                                    <p:spTgt spid="28"/>
                                  </p:tgtEl>
                                </p:cBhvr>
                              </p:animEffect>
                            </p:childTnLst>
                          </p:cTn>
                        </p:par>
                        <p:par>
                          <p:cTn id="68" presetID="10" presetClass="entr" presetSubtype="0" fill="hold" grpId="14"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350"/>
                                  <p:tgtEl>
                                    <p:spTgt spid="29"/>
                                  </p:tgtEl>
                                </p:cBhvr>
                              </p:animEffect>
                            </p:childTnLst>
                          </p:cTn>
                        </p:par>
                        <p:par>
                          <p:cTn id="71" presetID="10" presetClass="entr" presetSubtype="0" fill="hold" grpId="15"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350"/>
                                  <p:tgtEl>
                                    <p:spTgt spid="30"/>
                                  </p:tgtEl>
                                </p:cBhvr>
                              </p:animEffect>
                            </p:childTnLst>
                          </p:cTn>
                        </p:par>
                      </p:childTnLst>
                    </p:cTn>
                  </p:par>
                  <p:par>
                    <p:cTn id="74" fill="hold">
                      <p:stCondLst>
                        <p:cond delay="70"/>
                      </p:stCondLst>
                      <p:childTnLst>
                        <p:par>
                          <p:cTn id="75" presetID="10" presetClass="entr" presetSubtype="0" fill="hold"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350"/>
                                  <p:tgtEl>
                                    <p:spTgt spid="34"/>
                                  </p:tgtEl>
                                </p:cBhvr>
                              </p:animEffect>
                            </p:childTnLst>
                          </p:cTn>
                        </p:par>
                        <p:par>
                          <p:cTn id="78" presetID="10" presetClass="entr" presetSubtype="0" fill="hold" grpId="17"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350"/>
                                  <p:tgtEl>
                                    <p:spTgt spid="35"/>
                                  </p:tgtEl>
                                </p:cBhvr>
                              </p:animEffect>
                            </p:childTnLst>
                          </p:cTn>
                        </p:par>
                        <p:par>
                          <p:cTn id="81" presetID="10" presetClass="entr" presetSubtype="0" fill="hold" grpId="18" nodeType="with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350"/>
                                  <p:tgtEl>
                                    <p:spTgt spid="3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10" grpId="4" animBg="1"/>
      <p:bldP spid="11" grpId="5" build="p"/>
      <p:bldP spid="12" grpId="6" animBg="1"/>
      <p:bldP spid="17" grpId="8" animBg="1"/>
      <p:bldP spid="18" grpId="9" animBg="1"/>
      <p:bldP spid="23" grpId="11" animBg="1"/>
      <p:bldP spid="24" grpId="12" animBg="1"/>
      <p:bldP spid="29" grpId="14" animBg="1"/>
      <p:bldP spid="30" grpId="15" animBg="1"/>
      <p:bldP spid="35" grpId="17" animBg="1"/>
      <p:bldP spid="36" grpId="18"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IV — SIMULATION</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Validation sous Excel</a:t>
            </a:r>
            <a:endParaRPr lang="en-US" sz="3100" dirty="0"/>
          </a:p>
        </p:txBody>
      </p:sp>
      <p:sp>
        <p:nvSpPr>
          <p:cNvPr id="4" name="Shape 2"/>
          <p:cNvSpPr/>
          <p:nvPr/>
        </p:nvSpPr>
        <p:spPr>
          <a:xfrm>
            <a:off x="685800" y="1828800"/>
            <a:ext cx="5852160" cy="4114800"/>
          </a:xfrm>
          <a:prstGeom prst="roundRect">
            <a:avLst>
              <a:gd name="adj" fmla="val 3556"/>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1975104"/>
            <a:ext cx="64008" cy="3822192"/>
          </a:xfrm>
          <a:prstGeom prst="rect">
            <a:avLst/>
          </a:prstGeom>
          <a:solidFill>
            <a:srgbClr val="6D28D9"/>
          </a:solidFill>
          <a:ln/>
        </p:spPr>
        <p:txBody>
          <a:bodyPr/>
          <a:lstStyle/>
          <a:p>
            <a:endParaRPr lang="fr-FR"/>
          </a:p>
        </p:txBody>
      </p:sp>
      <p:sp>
        <p:nvSpPr>
          <p:cNvPr id="6" name="anim__3__afterprev__fade__whole"/>
          <p:cNvSpPr/>
          <p:nvPr/>
        </p:nvSpPr>
        <p:spPr>
          <a:xfrm>
            <a:off x="978408" y="2066544"/>
            <a:ext cx="5303520" cy="292608"/>
          </a:xfrm>
          <a:prstGeom prst="rect">
            <a:avLst/>
          </a:prstGeom>
          <a:noFill/>
          <a:ln/>
        </p:spPr>
        <p:txBody>
          <a:bodyPr wrap="square" lIns="0" tIns="0" rIns="0" bIns="0" rtlCol="0" anchor="ctr"/>
          <a:lstStyle/>
          <a:p>
            <a:pPr marL="0" indent="0">
              <a:buNone/>
            </a:pPr>
            <a:r>
              <a:rPr lang="en-US" sz="1620" b="1" dirty="0">
                <a:solidFill>
                  <a:srgbClr val="6D28D9"/>
                </a:solidFill>
                <a:latin typeface="Segoe UI Semibold" pitchFamily="34" charset="0"/>
                <a:ea typeface="Segoe UI Semibold" pitchFamily="34" charset="-122"/>
                <a:cs typeface="Segoe UI Semibold" pitchFamily="34" charset="-120"/>
              </a:rPr>
              <a:t>Objectif du classeur Excel</a:t>
            </a:r>
            <a:endParaRPr lang="en-US" sz="1620" dirty="0"/>
          </a:p>
        </p:txBody>
      </p:sp>
      <p:sp>
        <p:nvSpPr>
          <p:cNvPr id="7" name="anim__4__afterprev__fade__whole"/>
          <p:cNvSpPr/>
          <p:nvPr/>
        </p:nvSpPr>
        <p:spPr>
          <a:xfrm>
            <a:off x="978408" y="2395728"/>
            <a:ext cx="5303520" cy="1005840"/>
          </a:xfrm>
          <a:prstGeom prst="rect">
            <a:avLst/>
          </a:prstGeom>
          <a:noFill/>
          <a:ln/>
        </p:spPr>
        <p:txBody>
          <a:bodyPr wrap="square" lIns="0" tIns="0" rIns="0" bIns="0" rtlCol="0" anchor="ctr"/>
          <a:lstStyle/>
          <a:p>
            <a:pPr marL="0" indent="0">
              <a:lnSpc>
                <a:spcPct val="120000"/>
              </a:lnSpc>
              <a:buNone/>
            </a:pPr>
            <a:r>
              <a:rPr lang="en-US" sz="1570" dirty="0">
                <a:solidFill>
                  <a:srgbClr val="3F3D56"/>
                </a:solidFill>
                <a:latin typeface="Segoe UI" pitchFamily="34" charset="0"/>
                <a:ea typeface="Segoe UI" pitchFamily="34" charset="-122"/>
                <a:cs typeface="Segoe UI" pitchFamily="34" charset="-120"/>
              </a:rPr>
              <a:t>Reproduire toutes les formules des bilans de puissance et de dispersion pour automatiser les calculs, limiter les erreurs et faire varier les hypothèses afin d'observer leur influence sur la portée.</a:t>
            </a:r>
            <a:endParaRPr lang="en-US" sz="1570" dirty="0"/>
          </a:p>
        </p:txBody>
      </p:sp>
      <p:sp>
        <p:nvSpPr>
          <p:cNvPr id="8" name="anim__5__afterprev__fade__whole"/>
          <p:cNvSpPr/>
          <p:nvPr/>
        </p:nvSpPr>
        <p:spPr>
          <a:xfrm>
            <a:off x="978408" y="3429000"/>
            <a:ext cx="5303520" cy="274320"/>
          </a:xfrm>
          <a:prstGeom prst="rect">
            <a:avLst/>
          </a:prstGeom>
          <a:noFill/>
          <a:ln/>
        </p:spPr>
        <p:txBody>
          <a:bodyPr wrap="square" lIns="0" tIns="0" rIns="0" bIns="0" rtlCol="0" anchor="ctr"/>
          <a:lstStyle/>
          <a:p>
            <a:pPr marL="0" indent="0">
              <a:buNone/>
            </a:pPr>
            <a:r>
              <a:rPr lang="en-US" sz="1510" b="1" dirty="0">
                <a:solidFill>
                  <a:srgbClr val="DB2777"/>
                </a:solidFill>
                <a:latin typeface="Segoe UI Semibold" pitchFamily="34" charset="0"/>
                <a:ea typeface="Segoe UI Semibold" pitchFamily="34" charset="-122"/>
                <a:cs typeface="Segoe UI Semibold" pitchFamily="34" charset="-120"/>
              </a:rPr>
              <a:t>Organisation du classeur</a:t>
            </a:r>
            <a:endParaRPr lang="en-US" sz="1510" dirty="0"/>
          </a:p>
        </p:txBody>
      </p:sp>
      <p:sp>
        <p:nvSpPr>
          <p:cNvPr id="9" name="anim__6__afterprev__fade__para"/>
          <p:cNvSpPr/>
          <p:nvPr/>
        </p:nvSpPr>
        <p:spPr>
          <a:xfrm>
            <a:off x="978408" y="3749040"/>
            <a:ext cx="5303520" cy="2011680"/>
          </a:xfrm>
          <a:prstGeom prst="rect">
            <a:avLst/>
          </a:prstGeom>
          <a:noFill/>
          <a:ln/>
        </p:spPr>
        <p:txBody>
          <a:bodyPr wrap="square" lIns="0" tIns="0" rIns="0" bIns="0" rtlCol="0" anchor="ctr"/>
          <a:lstStyle/>
          <a:p>
            <a:pPr marL="203200" indent="-203200">
              <a:spcAft>
                <a:spcPts val="700"/>
              </a:spcAft>
              <a:buSzPct val="100000"/>
              <a:buChar char="•"/>
            </a:pPr>
            <a:r>
              <a:rPr lang="en-US" sz="1510" dirty="0">
                <a:solidFill>
                  <a:srgbClr val="3F3D56"/>
                </a:solidFill>
                <a:latin typeface="Segoe UI" pitchFamily="34" charset="0"/>
                <a:ea typeface="Segoe UI" pitchFamily="34" charset="-122"/>
                <a:cs typeface="Segoe UI" pitchFamily="34" charset="-120"/>
              </a:rPr>
              <a:t>Feuille « Hypothèses » : tous les paramètres d'entrée (Pé, Pr min, α, D, Δλ, débit)</a:t>
            </a:r>
            <a:endParaRPr lang="en-US" sz="1510" dirty="0"/>
          </a:p>
          <a:p>
            <a:pPr marL="203200" indent="-203200">
              <a:spcAft>
                <a:spcPts val="700"/>
              </a:spcAft>
              <a:buSzPct val="100000"/>
              <a:buChar char="•"/>
            </a:pPr>
            <a:r>
              <a:rPr lang="en-US" sz="1510" dirty="0">
                <a:solidFill>
                  <a:srgbClr val="3F3D56"/>
                </a:solidFill>
                <a:latin typeface="Segoe UI" pitchFamily="34" charset="0"/>
                <a:ea typeface="Segoe UI" pitchFamily="34" charset="-122"/>
                <a:cs typeface="Segoe UI" pitchFamily="34" charset="-120"/>
              </a:rPr>
              <a:t>Feuilles bilans : formules des sections III.1 &amp; III.2, référencées aux cellules</a:t>
            </a:r>
            <a:endParaRPr lang="en-US" sz="1510" dirty="0"/>
          </a:p>
          <a:p>
            <a:pPr marL="203200" indent="-203200">
              <a:spcAft>
                <a:spcPts val="700"/>
              </a:spcAft>
              <a:buSzPct val="100000"/>
              <a:buChar char="•"/>
            </a:pPr>
            <a:r>
              <a:rPr lang="en-US" sz="1510" dirty="0">
                <a:solidFill>
                  <a:srgbClr val="3F3D56"/>
                </a:solidFill>
                <a:latin typeface="Segoe UI" pitchFamily="34" charset="0"/>
                <a:ea typeface="Segoe UI" pitchFamily="34" charset="-122"/>
                <a:cs typeface="Segoe UI" pitchFamily="34" charset="-120"/>
              </a:rPr>
              <a:t>Graphiques : puissance reçue &amp; marge de liaison en fonction de la distance</a:t>
            </a:r>
            <a:endParaRPr lang="en-US" sz="1510" dirty="0"/>
          </a:p>
          <a:p>
            <a:pPr marL="203200" indent="-203200">
              <a:spcAft>
                <a:spcPts val="700"/>
              </a:spcAft>
              <a:buSzPct val="100000"/>
              <a:buChar char="•"/>
            </a:pPr>
            <a:r>
              <a:rPr lang="en-US" sz="1510" dirty="0">
                <a:solidFill>
                  <a:srgbClr val="3F3D56"/>
                </a:solidFill>
                <a:latin typeface="Segoe UI" pitchFamily="34" charset="0"/>
                <a:ea typeface="Segoe UI" pitchFamily="34" charset="-122"/>
                <a:cs typeface="Segoe UI" pitchFamily="34" charset="-120"/>
              </a:rPr>
              <a:t>Tableau de synthèse : les trois portées + analyse de sensibilité</a:t>
            </a:r>
            <a:endParaRPr lang="en-US" sz="1510" dirty="0"/>
          </a:p>
        </p:txBody>
      </p:sp>
      <p:sp>
        <p:nvSpPr>
          <p:cNvPr id="10" name="Shape 8"/>
          <p:cNvSpPr/>
          <p:nvPr/>
        </p:nvSpPr>
        <p:spPr>
          <a:xfrm>
            <a:off x="6903720" y="1828800"/>
            <a:ext cx="4599432" cy="914400"/>
          </a:xfrm>
          <a:prstGeom prst="roundRect">
            <a:avLst>
              <a:gd name="adj" fmla="val 16000"/>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1" name="Shape 9"/>
          <p:cNvSpPr/>
          <p:nvPr/>
        </p:nvSpPr>
        <p:spPr>
          <a:xfrm>
            <a:off x="6903720" y="1975104"/>
            <a:ext cx="64008" cy="621792"/>
          </a:xfrm>
          <a:prstGeom prst="rect">
            <a:avLst/>
          </a:prstGeom>
          <a:solidFill>
            <a:srgbClr val="DB2777"/>
          </a:solidFill>
          <a:ln/>
        </p:spPr>
        <p:txBody>
          <a:bodyPr/>
          <a:lstStyle/>
          <a:p>
            <a:endParaRPr lang="fr-FR"/>
          </a:p>
        </p:txBody>
      </p:sp>
      <p:sp>
        <p:nvSpPr>
          <p:cNvPr id="12" name="Shape 10"/>
          <p:cNvSpPr/>
          <p:nvPr/>
        </p:nvSpPr>
        <p:spPr>
          <a:xfrm>
            <a:off x="7123176" y="2011680"/>
            <a:ext cx="548640" cy="548640"/>
          </a:xfrm>
          <a:prstGeom prst="ellipse">
            <a:avLst/>
          </a:prstGeom>
          <a:solidFill>
            <a:srgbClr val="DB2777"/>
          </a:solidFill>
          <a:ln/>
        </p:spPr>
        <p:txBody>
          <a:bodyPr/>
          <a:lstStyle/>
          <a:p>
            <a:endParaRPr lang="fr-FR"/>
          </a:p>
        </p:txBody>
      </p:sp>
      <p:pic>
        <p:nvPicPr>
          <p:cNvPr id="13" name="anim__7__afterprev__fade__whole" descr="C:\Users\Cedric S. DJIGUIMDE\Desktop\Projet\presentation_fibre\assets_themes\spectra\icons\ruler_w.png"/>
          <p:cNvPicPr>
            <a:picLocks noChangeAspect="1"/>
          </p:cNvPicPr>
          <p:nvPr/>
        </p:nvPicPr>
        <p:blipFill>
          <a:blip r:embed="rId4"/>
          <a:stretch>
            <a:fillRect/>
          </a:stretch>
        </p:blipFill>
        <p:spPr>
          <a:xfrm>
            <a:off x="7271309" y="2159813"/>
            <a:ext cx="252374" cy="252374"/>
          </a:xfrm>
          <a:prstGeom prst="rect">
            <a:avLst/>
          </a:prstGeom>
        </p:spPr>
      </p:pic>
      <p:sp>
        <p:nvSpPr>
          <p:cNvPr id="14" name="anim__8__withprev__fade__whole"/>
          <p:cNvSpPr/>
          <p:nvPr/>
        </p:nvSpPr>
        <p:spPr>
          <a:xfrm>
            <a:off x="7818120" y="1975104"/>
            <a:ext cx="3502152" cy="365760"/>
          </a:xfrm>
          <a:prstGeom prst="rect">
            <a:avLst/>
          </a:prstGeom>
          <a:noFill/>
          <a:ln/>
        </p:spPr>
        <p:txBody>
          <a:bodyPr wrap="square" lIns="0" tIns="0" rIns="0" bIns="0" rtlCol="0" anchor="ctr"/>
          <a:lstStyle/>
          <a:p>
            <a:pPr marL="0" indent="0">
              <a:buNone/>
            </a:pPr>
            <a:r>
              <a:rPr lang="en-US" sz="1680" b="1" dirty="0">
                <a:solidFill>
                  <a:srgbClr val="20183F"/>
                </a:solidFill>
                <a:latin typeface="Segoe UI Semibold" pitchFamily="34" charset="0"/>
                <a:ea typeface="Segoe UI Semibold" pitchFamily="34" charset="-122"/>
                <a:cs typeface="Segoe UI Semibold" pitchFamily="34" charset="-120"/>
              </a:rPr>
              <a:t>Portée dimensionnante</a:t>
            </a:r>
            <a:endParaRPr lang="en-US" sz="1680" dirty="0"/>
          </a:p>
        </p:txBody>
      </p:sp>
      <p:sp>
        <p:nvSpPr>
          <p:cNvPr id="15" name="anim__9__withprev__fade__whole"/>
          <p:cNvSpPr/>
          <p:nvPr/>
        </p:nvSpPr>
        <p:spPr>
          <a:xfrm>
            <a:off x="7818120" y="2322576"/>
            <a:ext cx="3502152" cy="36576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Atténuation : 126,1 km ≫ 65 km — marge confortable</a:t>
            </a:r>
            <a:endParaRPr lang="en-US" sz="1330" dirty="0"/>
          </a:p>
        </p:txBody>
      </p:sp>
      <p:sp>
        <p:nvSpPr>
          <p:cNvPr id="16" name="Shape 13"/>
          <p:cNvSpPr/>
          <p:nvPr/>
        </p:nvSpPr>
        <p:spPr>
          <a:xfrm>
            <a:off x="6903720" y="2862072"/>
            <a:ext cx="4599432" cy="914400"/>
          </a:xfrm>
          <a:prstGeom prst="roundRect">
            <a:avLst>
              <a:gd name="adj" fmla="val 16000"/>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7" name="Shape 14"/>
          <p:cNvSpPr/>
          <p:nvPr/>
        </p:nvSpPr>
        <p:spPr>
          <a:xfrm>
            <a:off x="6903720" y="3008376"/>
            <a:ext cx="64008" cy="621792"/>
          </a:xfrm>
          <a:prstGeom prst="rect">
            <a:avLst/>
          </a:prstGeom>
          <a:solidFill>
            <a:srgbClr val="DB2777"/>
          </a:solidFill>
          <a:ln/>
        </p:spPr>
        <p:txBody>
          <a:bodyPr/>
          <a:lstStyle/>
          <a:p>
            <a:endParaRPr lang="fr-FR"/>
          </a:p>
        </p:txBody>
      </p:sp>
      <p:sp>
        <p:nvSpPr>
          <p:cNvPr id="18" name="Shape 15"/>
          <p:cNvSpPr/>
          <p:nvPr/>
        </p:nvSpPr>
        <p:spPr>
          <a:xfrm>
            <a:off x="7123176" y="3044952"/>
            <a:ext cx="548640" cy="548640"/>
          </a:xfrm>
          <a:prstGeom prst="ellipse">
            <a:avLst/>
          </a:prstGeom>
          <a:solidFill>
            <a:srgbClr val="DB2777"/>
          </a:solidFill>
          <a:ln/>
        </p:spPr>
        <p:txBody>
          <a:bodyPr/>
          <a:lstStyle/>
          <a:p>
            <a:endParaRPr lang="fr-FR"/>
          </a:p>
        </p:txBody>
      </p:sp>
      <p:pic>
        <p:nvPicPr>
          <p:cNvPr id="19" name="anim__10__afterprev__fade__whole" descr="C:\Users\Cedric S. DJIGUIMDE\Desktop\Projet\presentation_fibre\assets_themes\spectra\icons\balance_w.png"/>
          <p:cNvPicPr>
            <a:picLocks noChangeAspect="1"/>
          </p:cNvPicPr>
          <p:nvPr/>
        </p:nvPicPr>
        <p:blipFill>
          <a:blip r:embed="rId5"/>
          <a:stretch>
            <a:fillRect/>
          </a:stretch>
        </p:blipFill>
        <p:spPr>
          <a:xfrm>
            <a:off x="7271309" y="3193085"/>
            <a:ext cx="252374" cy="252374"/>
          </a:xfrm>
          <a:prstGeom prst="rect">
            <a:avLst/>
          </a:prstGeom>
        </p:spPr>
      </p:pic>
      <p:sp>
        <p:nvSpPr>
          <p:cNvPr id="20" name="anim__11__withprev__fade__whole"/>
          <p:cNvSpPr/>
          <p:nvPr/>
        </p:nvSpPr>
        <p:spPr>
          <a:xfrm>
            <a:off x="7818120" y="3008376"/>
            <a:ext cx="3502152" cy="365760"/>
          </a:xfrm>
          <a:prstGeom prst="rect">
            <a:avLst/>
          </a:prstGeom>
          <a:noFill/>
          <a:ln/>
        </p:spPr>
        <p:txBody>
          <a:bodyPr wrap="square" lIns="0" tIns="0" rIns="0" bIns="0" rtlCol="0" anchor="ctr"/>
          <a:lstStyle/>
          <a:p>
            <a:pPr marL="0" indent="0">
              <a:buNone/>
            </a:pPr>
            <a:r>
              <a:rPr lang="en-US" sz="1680" b="1" dirty="0">
                <a:solidFill>
                  <a:srgbClr val="20183F"/>
                </a:solidFill>
                <a:latin typeface="Segoe UI Semibold" pitchFamily="34" charset="0"/>
                <a:ea typeface="Segoe UI Semibold" pitchFamily="34" charset="-122"/>
                <a:cs typeface="Segoe UI Semibold" pitchFamily="34" charset="-120"/>
              </a:rPr>
              <a:t>Analyse de sensibilité</a:t>
            </a:r>
            <a:endParaRPr lang="en-US" sz="1680" dirty="0"/>
          </a:p>
        </p:txBody>
      </p:sp>
      <p:sp>
        <p:nvSpPr>
          <p:cNvPr id="21" name="anim__12__withprev__fade__whole"/>
          <p:cNvSpPr/>
          <p:nvPr/>
        </p:nvSpPr>
        <p:spPr>
          <a:xfrm>
            <a:off x="7818120" y="3355848"/>
            <a:ext cx="3502152" cy="36576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Un paramètre varié à la fois : fibre, marge, source, débit</a:t>
            </a:r>
            <a:endParaRPr lang="en-US" sz="1330" dirty="0"/>
          </a:p>
        </p:txBody>
      </p:sp>
      <p:sp>
        <p:nvSpPr>
          <p:cNvPr id="22" name="Shape 18"/>
          <p:cNvSpPr/>
          <p:nvPr/>
        </p:nvSpPr>
        <p:spPr>
          <a:xfrm>
            <a:off x="6903720" y="3895344"/>
            <a:ext cx="4599432" cy="914400"/>
          </a:xfrm>
          <a:prstGeom prst="roundRect">
            <a:avLst>
              <a:gd name="adj" fmla="val 16000"/>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3" name="Shape 19"/>
          <p:cNvSpPr/>
          <p:nvPr/>
        </p:nvSpPr>
        <p:spPr>
          <a:xfrm>
            <a:off x="6903720" y="4041648"/>
            <a:ext cx="64008" cy="621792"/>
          </a:xfrm>
          <a:prstGeom prst="rect">
            <a:avLst/>
          </a:prstGeom>
          <a:solidFill>
            <a:srgbClr val="DB2777"/>
          </a:solidFill>
          <a:ln/>
        </p:spPr>
        <p:txBody>
          <a:bodyPr/>
          <a:lstStyle/>
          <a:p>
            <a:endParaRPr lang="fr-FR"/>
          </a:p>
        </p:txBody>
      </p:sp>
      <p:sp>
        <p:nvSpPr>
          <p:cNvPr id="24" name="Shape 20"/>
          <p:cNvSpPr/>
          <p:nvPr/>
        </p:nvSpPr>
        <p:spPr>
          <a:xfrm>
            <a:off x="7123176" y="4078224"/>
            <a:ext cx="548640" cy="548640"/>
          </a:xfrm>
          <a:prstGeom prst="ellipse">
            <a:avLst/>
          </a:prstGeom>
          <a:solidFill>
            <a:srgbClr val="DB2777"/>
          </a:solidFill>
          <a:ln/>
        </p:spPr>
        <p:txBody>
          <a:bodyPr/>
          <a:lstStyle/>
          <a:p>
            <a:endParaRPr lang="fr-FR"/>
          </a:p>
        </p:txBody>
      </p:sp>
      <p:pic>
        <p:nvPicPr>
          <p:cNvPr id="25" name="anim__13__afterprev__fade__whole" descr="C:\Users\Cedric S. DJIGUIMDE\Desktop\Projet\presentation_fibre\assets_themes\spectra\icons\star_w.png"/>
          <p:cNvPicPr>
            <a:picLocks noChangeAspect="1"/>
          </p:cNvPicPr>
          <p:nvPr/>
        </p:nvPicPr>
        <p:blipFill>
          <a:blip r:embed="rId6"/>
          <a:stretch>
            <a:fillRect/>
          </a:stretch>
        </p:blipFill>
        <p:spPr>
          <a:xfrm>
            <a:off x="7271309" y="4226357"/>
            <a:ext cx="252374" cy="252374"/>
          </a:xfrm>
          <a:prstGeom prst="rect">
            <a:avLst/>
          </a:prstGeom>
        </p:spPr>
      </p:pic>
      <p:sp>
        <p:nvSpPr>
          <p:cNvPr id="26" name="anim__14__withprev__fade__whole"/>
          <p:cNvSpPr/>
          <p:nvPr/>
        </p:nvSpPr>
        <p:spPr>
          <a:xfrm>
            <a:off x="7818120" y="4041648"/>
            <a:ext cx="3502152" cy="365760"/>
          </a:xfrm>
          <a:prstGeom prst="rect">
            <a:avLst/>
          </a:prstGeom>
          <a:noFill/>
          <a:ln/>
        </p:spPr>
        <p:txBody>
          <a:bodyPr wrap="square" lIns="0" tIns="0" rIns="0" bIns="0" rtlCol="0" anchor="ctr"/>
          <a:lstStyle/>
          <a:p>
            <a:pPr marL="0" indent="0">
              <a:buNone/>
            </a:pPr>
            <a:r>
              <a:rPr lang="en-US" sz="1680" b="1" dirty="0">
                <a:solidFill>
                  <a:srgbClr val="20183F"/>
                </a:solidFill>
                <a:latin typeface="Segoe UI Semibold" pitchFamily="34" charset="0"/>
                <a:ea typeface="Segoe UI Semibold" pitchFamily="34" charset="-122"/>
                <a:cs typeface="Segoe UI Semibold" pitchFamily="34" charset="-120"/>
              </a:rPr>
              <a:t>Leviers déterminants</a:t>
            </a:r>
            <a:endParaRPr lang="en-US" sz="1680" dirty="0"/>
          </a:p>
        </p:txBody>
      </p:sp>
      <p:sp>
        <p:nvSpPr>
          <p:cNvPr id="27" name="anim__15__withprev__fade__whole"/>
          <p:cNvSpPr/>
          <p:nvPr/>
        </p:nvSpPr>
        <p:spPr>
          <a:xfrm>
            <a:off x="7818120" y="4389120"/>
            <a:ext cx="3502152" cy="36576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Type de fibre, débit &amp; source &gt; marge système</a:t>
            </a:r>
            <a:endParaRPr lang="en-US" sz="1330" dirty="0"/>
          </a:p>
        </p:txBody>
      </p:sp>
      <p:sp>
        <p:nvSpPr>
          <p:cNvPr id="28" name="Shape 23"/>
          <p:cNvSpPr/>
          <p:nvPr/>
        </p:nvSpPr>
        <p:spPr>
          <a:xfrm>
            <a:off x="6903720" y="4928616"/>
            <a:ext cx="4599432" cy="914400"/>
          </a:xfrm>
          <a:prstGeom prst="roundRect">
            <a:avLst>
              <a:gd name="adj" fmla="val 16000"/>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9" name="Shape 24"/>
          <p:cNvSpPr/>
          <p:nvPr/>
        </p:nvSpPr>
        <p:spPr>
          <a:xfrm>
            <a:off x="6903720" y="5074920"/>
            <a:ext cx="64008" cy="621792"/>
          </a:xfrm>
          <a:prstGeom prst="rect">
            <a:avLst/>
          </a:prstGeom>
          <a:solidFill>
            <a:srgbClr val="DB2777"/>
          </a:solidFill>
          <a:ln/>
        </p:spPr>
        <p:txBody>
          <a:bodyPr/>
          <a:lstStyle/>
          <a:p>
            <a:endParaRPr lang="fr-FR"/>
          </a:p>
        </p:txBody>
      </p:sp>
      <p:sp>
        <p:nvSpPr>
          <p:cNvPr id="30" name="Shape 25"/>
          <p:cNvSpPr/>
          <p:nvPr/>
        </p:nvSpPr>
        <p:spPr>
          <a:xfrm>
            <a:off x="7123176" y="5111496"/>
            <a:ext cx="548640" cy="548640"/>
          </a:xfrm>
          <a:prstGeom prst="ellipse">
            <a:avLst/>
          </a:prstGeom>
          <a:solidFill>
            <a:srgbClr val="DB2777"/>
          </a:solidFill>
          <a:ln/>
        </p:spPr>
        <p:txBody>
          <a:bodyPr/>
          <a:lstStyle/>
          <a:p>
            <a:endParaRPr lang="fr-FR"/>
          </a:p>
        </p:txBody>
      </p:sp>
      <p:pic>
        <p:nvPicPr>
          <p:cNvPr id="31" name="anim__16__afterprev__fade__whole" descr="C:\Users\Cedric S. DJIGUIMDE\Desktop\Projet\presentation_fibre\assets_themes\spectra\icons\check_w.png"/>
          <p:cNvPicPr>
            <a:picLocks noChangeAspect="1"/>
          </p:cNvPicPr>
          <p:nvPr/>
        </p:nvPicPr>
        <p:blipFill>
          <a:blip r:embed="rId7"/>
          <a:stretch>
            <a:fillRect/>
          </a:stretch>
        </p:blipFill>
        <p:spPr>
          <a:xfrm>
            <a:off x="7271309" y="5259629"/>
            <a:ext cx="252374" cy="252374"/>
          </a:xfrm>
          <a:prstGeom prst="rect">
            <a:avLst/>
          </a:prstGeom>
        </p:spPr>
      </p:pic>
      <p:sp>
        <p:nvSpPr>
          <p:cNvPr id="32" name="anim__17__withprev__fade__whole"/>
          <p:cNvSpPr/>
          <p:nvPr/>
        </p:nvSpPr>
        <p:spPr>
          <a:xfrm>
            <a:off x="7818120" y="5074920"/>
            <a:ext cx="3502152" cy="365760"/>
          </a:xfrm>
          <a:prstGeom prst="rect">
            <a:avLst/>
          </a:prstGeom>
          <a:noFill/>
          <a:ln/>
        </p:spPr>
        <p:txBody>
          <a:bodyPr wrap="square" lIns="0" tIns="0" rIns="0" bIns="0" rtlCol="0" anchor="ctr"/>
          <a:lstStyle/>
          <a:p>
            <a:pPr marL="0" indent="0">
              <a:buNone/>
            </a:pPr>
            <a:r>
              <a:rPr lang="en-US" sz="1680" b="1" dirty="0">
                <a:solidFill>
                  <a:srgbClr val="20183F"/>
                </a:solidFill>
                <a:latin typeface="Segoe UI Semibold" pitchFamily="34" charset="0"/>
                <a:ea typeface="Segoe UI Semibold" pitchFamily="34" charset="-122"/>
                <a:cs typeface="Segoe UI Semibold" pitchFamily="34" charset="-120"/>
              </a:rPr>
              <a:t>Choix confirmés</a:t>
            </a:r>
            <a:endParaRPr lang="en-US" sz="1680" dirty="0"/>
          </a:p>
        </p:txBody>
      </p:sp>
      <p:sp>
        <p:nvSpPr>
          <p:cNvPr id="33" name="anim__18__withprev__fade__whole"/>
          <p:cNvSpPr/>
          <p:nvPr/>
        </p:nvSpPr>
        <p:spPr>
          <a:xfrm>
            <a:off x="7818120" y="5422392"/>
            <a:ext cx="3502152" cy="365760"/>
          </a:xfrm>
          <a:prstGeom prst="rect">
            <a:avLst/>
          </a:prstGeom>
          <a:noFill/>
          <a:ln/>
        </p:spPr>
        <p:txBody>
          <a:bodyPr wrap="square" lIns="0" tIns="0" rIns="0" bIns="0" rtlCol="0" anchor="ctr"/>
          <a:lstStyle/>
          <a:p>
            <a:pPr marL="0" indent="0">
              <a:lnSpc>
                <a:spcPct val="105000"/>
              </a:lnSpc>
              <a:buNone/>
            </a:pPr>
            <a:r>
              <a:rPr lang="en-US" sz="1330" dirty="0">
                <a:solidFill>
                  <a:srgbClr val="847FA6"/>
                </a:solidFill>
                <a:latin typeface="Segoe UI" pitchFamily="34" charset="0"/>
                <a:ea typeface="Segoe UI" pitchFamily="34" charset="-122"/>
                <a:cs typeface="Segoe UI" pitchFamily="34" charset="-120"/>
              </a:rPr>
              <a:t>G.652.D · laser DFB · 10 Gbit/s bien adaptés</a:t>
            </a:r>
            <a:endParaRPr lang="en-US" sz="1330" dirty="0"/>
          </a:p>
        </p:txBody>
      </p:sp>
      <p:sp>
        <p:nvSpPr>
          <p:cNvPr id="34" name="Text 28"/>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35" name="Text 29"/>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21</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70"/>
                      </p:stCondLst>
                      <p:childTnLst>
                        <p:par>
                          <p:cTn id="17" presetID="10" presetClass="entr" presetSubtype="0" fill="hold" grpId="3"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p:tgtEl>
                                    <p:spTgt spid="7"/>
                                  </p:tgtEl>
                                </p:cBhvr>
                              </p:animEffect>
                            </p:childTnLst>
                          </p:cTn>
                        </p:par>
                      </p:childTnLst>
                    </p:cTn>
                  </p:par>
                  <p:par>
                    <p:cTn id="20" fill="hold">
                      <p:stCondLst>
                        <p:cond delay="70"/>
                      </p:stCondLst>
                      <p:childTnLst>
                        <p:par>
                          <p:cTn id="21" presetID="10" presetClass="entr" presetSubtype="0" fill="hold" grpId="4"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childTnLst>
                    </p:cTn>
                  </p:par>
                  <p:par>
                    <p:cTn id="24" fill="hold">
                      <p:stCondLst>
                        <p:cond delay="70"/>
                      </p:stCondLst>
                      <p:childTnLst>
                        <p:par>
                          <p:cTn id="25" presetID="10" presetClass="entr" presetSubtype="0" fill="hold" grpId="5" nodeType="after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350"/>
                                  <p:tgtEl>
                                    <p:spTgt spid="9">
                                      <p:txEl>
                                        <p:pRg st="0" end="0"/>
                                      </p:txEl>
                                    </p:spTgt>
                                  </p:tgtEl>
                                </p:cBhvr>
                              </p:animEffect>
                            </p:childTnLst>
                          </p:cTn>
                        </p:par>
                      </p:childTnLst>
                    </p:cTn>
                  </p:par>
                  <p:par>
                    <p:cTn id="28" fill="hold">
                      <p:stCondLst>
                        <p:cond delay="70"/>
                      </p:stCondLst>
                      <p:childTnLst>
                        <p:par>
                          <p:cTn id="29" presetID="10" presetClass="entr" presetSubtype="0" fill="hold" grpId="5" nodeType="after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Effect transition="in" filter="fade">
                                <p:cBhvr>
                                  <p:cTn id="31" dur="350"/>
                                  <p:tgtEl>
                                    <p:spTgt spid="9">
                                      <p:txEl>
                                        <p:pRg st="1" end="1"/>
                                      </p:txEl>
                                    </p:spTgt>
                                  </p:tgtEl>
                                </p:cBhvr>
                              </p:animEffect>
                            </p:childTnLst>
                          </p:cTn>
                        </p:par>
                      </p:childTnLst>
                    </p:cTn>
                  </p:par>
                  <p:par>
                    <p:cTn id="32" fill="hold">
                      <p:stCondLst>
                        <p:cond delay="70"/>
                      </p:stCondLst>
                      <p:childTnLst>
                        <p:par>
                          <p:cTn id="33" presetID="10" presetClass="entr" presetSubtype="0" fill="hold" grpId="5" nodeType="after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fade">
                                <p:cBhvr>
                                  <p:cTn id="35" dur="350"/>
                                  <p:tgtEl>
                                    <p:spTgt spid="9">
                                      <p:txEl>
                                        <p:pRg st="2" end="2"/>
                                      </p:txEl>
                                    </p:spTgt>
                                  </p:tgtEl>
                                </p:cBhvr>
                              </p:animEffect>
                            </p:childTnLst>
                          </p:cTn>
                        </p:par>
                      </p:childTnLst>
                    </p:cTn>
                  </p:par>
                  <p:par>
                    <p:cTn id="36" fill="hold">
                      <p:stCondLst>
                        <p:cond delay="70"/>
                      </p:stCondLst>
                      <p:childTnLst>
                        <p:par>
                          <p:cTn id="37" presetID="10" presetClass="entr" presetSubtype="0" fill="hold" grpId="5" nodeType="after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animEffect transition="in" filter="fade">
                                <p:cBhvr>
                                  <p:cTn id="39" dur="350"/>
                                  <p:tgtEl>
                                    <p:spTgt spid="9">
                                      <p:txEl>
                                        <p:pRg st="3" end="3"/>
                                      </p:txEl>
                                    </p:spTgt>
                                  </p:tgtEl>
                                </p:cBhvr>
                              </p:animEffect>
                            </p:childTnLst>
                          </p:cTn>
                        </p:par>
                      </p:childTnLst>
                    </p:cTn>
                  </p:par>
                  <p:par>
                    <p:cTn id="40" fill="hold">
                      <p:stCondLst>
                        <p:cond delay="70"/>
                      </p:stCondLst>
                      <p:childTnLst>
                        <p:par>
                          <p:cTn id="41" presetID="10" presetClass="entr" presetSubtype="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350"/>
                                  <p:tgtEl>
                                    <p:spTgt spid="13"/>
                                  </p:tgtEl>
                                </p:cBhvr>
                              </p:animEffect>
                            </p:childTnLst>
                          </p:cTn>
                        </p:par>
                        <p:par>
                          <p:cTn id="44" presetID="10" presetClass="entr" presetSubtype="0" fill="hold" grpId="7"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350"/>
                                  <p:tgtEl>
                                    <p:spTgt spid="14"/>
                                  </p:tgtEl>
                                </p:cBhvr>
                              </p:animEffect>
                            </p:childTnLst>
                          </p:cTn>
                        </p:par>
                        <p:par>
                          <p:cTn id="47" presetID="10" presetClass="entr" presetSubtype="0" fill="hold" grpId="8"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350"/>
                                  <p:tgtEl>
                                    <p:spTgt spid="15"/>
                                  </p:tgtEl>
                                </p:cBhvr>
                              </p:animEffect>
                            </p:childTnLst>
                          </p:cTn>
                        </p:par>
                      </p:childTnLst>
                    </p:cTn>
                  </p:par>
                  <p:par>
                    <p:cTn id="50" fill="hold">
                      <p:stCondLst>
                        <p:cond delay="7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50"/>
                                  <p:tgtEl>
                                    <p:spTgt spid="19"/>
                                  </p:tgtEl>
                                </p:cBhvr>
                              </p:animEffect>
                            </p:childTnLst>
                          </p:cTn>
                        </p:par>
                        <p:par>
                          <p:cTn id="54" presetID="10" presetClass="entr" presetSubtype="0" fill="hold" grpId="1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50"/>
                                  <p:tgtEl>
                                    <p:spTgt spid="20"/>
                                  </p:tgtEl>
                                </p:cBhvr>
                              </p:animEffect>
                            </p:childTnLst>
                          </p:cTn>
                        </p:par>
                        <p:par>
                          <p:cTn id="57" presetID="10" presetClass="entr" presetSubtype="0" fill="hold" grpId="11"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50"/>
                                  <p:tgtEl>
                                    <p:spTgt spid="21"/>
                                  </p:tgtEl>
                                </p:cBhvr>
                              </p:animEffect>
                            </p:childTnLst>
                          </p:cTn>
                        </p:par>
                      </p:childTnLst>
                    </p:cTn>
                  </p:par>
                  <p:par>
                    <p:cTn id="60" fill="hold">
                      <p:stCondLst>
                        <p:cond delay="70"/>
                      </p:stCondLst>
                      <p:childTnLst>
                        <p:par>
                          <p:cTn id="61" presetID="10" presetClass="entr" presetSubtype="0" fill="hold"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350"/>
                                  <p:tgtEl>
                                    <p:spTgt spid="25"/>
                                  </p:tgtEl>
                                </p:cBhvr>
                              </p:animEffect>
                            </p:childTnLst>
                          </p:cTn>
                        </p:par>
                        <p:par>
                          <p:cTn id="64" presetID="10" presetClass="entr" presetSubtype="0" fill="hold" grpId="13"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350"/>
                                  <p:tgtEl>
                                    <p:spTgt spid="26"/>
                                  </p:tgtEl>
                                </p:cBhvr>
                              </p:animEffect>
                            </p:childTnLst>
                          </p:cTn>
                        </p:par>
                        <p:par>
                          <p:cTn id="67" presetID="10" presetClass="entr" presetSubtype="0" fill="hold" grpId="14"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350"/>
                                  <p:tgtEl>
                                    <p:spTgt spid="27"/>
                                  </p:tgtEl>
                                </p:cBhvr>
                              </p:animEffect>
                            </p:childTnLst>
                          </p:cTn>
                        </p:par>
                      </p:childTnLst>
                    </p:cTn>
                  </p:par>
                  <p:par>
                    <p:cTn id="70" fill="hold">
                      <p:stCondLst>
                        <p:cond delay="70"/>
                      </p:stCondLst>
                      <p:childTnLst>
                        <p:par>
                          <p:cTn id="71" presetID="10" presetClass="entr" presetSubtype="0" fill="hold" nodeType="after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350"/>
                                  <p:tgtEl>
                                    <p:spTgt spid="31"/>
                                  </p:tgtEl>
                                </p:cBhvr>
                              </p:animEffect>
                            </p:childTnLst>
                          </p:cTn>
                        </p:par>
                        <p:par>
                          <p:cTn id="74" presetID="10" presetClass="entr" presetSubtype="0" fill="hold" grpId="16"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350"/>
                                  <p:tgtEl>
                                    <p:spTgt spid="32"/>
                                  </p:tgtEl>
                                </p:cBhvr>
                              </p:animEffect>
                            </p:childTnLst>
                          </p:cTn>
                        </p:par>
                        <p:par>
                          <p:cTn id="77" presetID="10" presetClass="entr" presetSubtype="0" fill="hold" grpId="17"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35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6" grpId="2" animBg="1"/>
      <p:bldP spid="7" grpId="3" animBg="1"/>
      <p:bldP spid="8" grpId="4" animBg="1"/>
      <p:bldP spid="9" grpId="5" build="p"/>
      <p:bldP spid="14" grpId="7" animBg="1"/>
      <p:bldP spid="15" grpId="8" animBg="1"/>
      <p:bldP spid="20" grpId="10" animBg="1"/>
      <p:bldP spid="21" grpId="11" animBg="1"/>
      <p:bldP spid="26" grpId="13" animBg="1"/>
      <p:bldP spid="27" grpId="14" animBg="1"/>
      <p:bldP spid="32" grpId="16" animBg="1"/>
      <p:bldP spid="33" grpId="17"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566928"/>
            <a:ext cx="8229600" cy="310896"/>
          </a:xfrm>
          <a:prstGeom prst="rect">
            <a:avLst/>
          </a:prstGeom>
          <a:noFill/>
          <a:ln/>
        </p:spPr>
        <p:txBody>
          <a:bodyPr wrap="square" lIns="0" tIns="0" rIns="0" bIns="0" rtlCol="0" anchor="ctr"/>
          <a:lstStyle/>
          <a:p>
            <a:pPr marL="0" indent="0">
              <a:buNone/>
            </a:pPr>
            <a:r>
              <a:rPr lang="en-US" sz="1390" b="1" kern="0" spc="300" dirty="0">
                <a:solidFill>
                  <a:srgbClr val="6D28D9"/>
                </a:solidFill>
                <a:latin typeface="Segoe UI Semibold" pitchFamily="34" charset="0"/>
                <a:ea typeface="Segoe UI Semibold" pitchFamily="34" charset="-122"/>
                <a:cs typeface="Segoe UI Semibold" pitchFamily="34" charset="-120"/>
              </a:rPr>
              <a:t>CONCLUSION</a:t>
            </a:r>
            <a:endParaRPr lang="en-US" sz="1390" dirty="0"/>
          </a:p>
        </p:txBody>
      </p:sp>
      <p:sp>
        <p:nvSpPr>
          <p:cNvPr id="3" name="anim__2__afterprev__fade__whole"/>
          <p:cNvSpPr/>
          <p:nvPr/>
        </p:nvSpPr>
        <p:spPr>
          <a:xfrm>
            <a:off x="685800" y="896112"/>
            <a:ext cx="10820095" cy="914400"/>
          </a:xfrm>
          <a:prstGeom prst="rect">
            <a:avLst/>
          </a:prstGeom>
          <a:noFill/>
          <a:ln/>
        </p:spPr>
        <p:txBody>
          <a:bodyPr wrap="square" lIns="0" tIns="0" rIns="0" bIns="0" rtlCol="0" anchor="t"/>
          <a:lstStyle/>
          <a:p>
            <a:pPr marL="0" indent="0" algn="l">
              <a:buNone/>
            </a:pPr>
            <a:r>
              <a:rPr lang="en-US" sz="3100" b="1" dirty="0">
                <a:solidFill>
                  <a:srgbClr val="20183F"/>
                </a:solidFill>
                <a:latin typeface="Segoe UI Semibold" pitchFamily="34" charset="0"/>
                <a:ea typeface="Segoe UI Semibold" pitchFamily="34" charset="-122"/>
                <a:cs typeface="Segoe UI Semibold" pitchFamily="34" charset="-120"/>
              </a:rPr>
              <a:t>Une liaison maîtrisée, des perspectives ouvertes</a:t>
            </a:r>
            <a:endParaRPr lang="en-US" sz="3100" dirty="0"/>
          </a:p>
        </p:txBody>
      </p:sp>
      <p:sp>
        <p:nvSpPr>
          <p:cNvPr id="4" name="Shape 2"/>
          <p:cNvSpPr/>
          <p:nvPr/>
        </p:nvSpPr>
        <p:spPr>
          <a:xfrm>
            <a:off x="685800" y="1920240"/>
            <a:ext cx="3520440" cy="2331720"/>
          </a:xfrm>
          <a:prstGeom prst="roundRect">
            <a:avLst>
              <a:gd name="adj" fmla="val 627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5" name="Shape 3"/>
          <p:cNvSpPr/>
          <p:nvPr/>
        </p:nvSpPr>
        <p:spPr>
          <a:xfrm>
            <a:off x="685800" y="2066544"/>
            <a:ext cx="64008" cy="2039112"/>
          </a:xfrm>
          <a:prstGeom prst="rect">
            <a:avLst/>
          </a:prstGeom>
          <a:solidFill>
            <a:srgbClr val="6D28D9"/>
          </a:solidFill>
          <a:ln/>
        </p:spPr>
        <p:txBody>
          <a:bodyPr/>
          <a:lstStyle/>
          <a:p>
            <a:endParaRPr lang="fr-FR"/>
          </a:p>
        </p:txBody>
      </p:sp>
      <p:sp>
        <p:nvSpPr>
          <p:cNvPr id="6" name="Shape 4"/>
          <p:cNvSpPr/>
          <p:nvPr/>
        </p:nvSpPr>
        <p:spPr>
          <a:xfrm>
            <a:off x="960120" y="2176272"/>
            <a:ext cx="603504" cy="603504"/>
          </a:xfrm>
          <a:prstGeom prst="ellipse">
            <a:avLst/>
          </a:prstGeom>
          <a:solidFill>
            <a:srgbClr val="6D28D9"/>
          </a:solidFill>
          <a:ln/>
        </p:spPr>
        <p:txBody>
          <a:bodyPr/>
          <a:lstStyle/>
          <a:p>
            <a:endParaRPr lang="fr-FR"/>
          </a:p>
        </p:txBody>
      </p:sp>
      <p:pic>
        <p:nvPicPr>
          <p:cNvPr id="7" name="anim__3__afterprev__fade__whole" descr="C:\Users\Cedric S. DJIGUIMDE\Desktop\Projet\presentation_fibre\assets_themes\spectra\icons\check_w.png"/>
          <p:cNvPicPr>
            <a:picLocks noChangeAspect="1"/>
          </p:cNvPicPr>
          <p:nvPr/>
        </p:nvPicPr>
        <p:blipFill>
          <a:blip r:embed="rId4"/>
          <a:stretch>
            <a:fillRect/>
          </a:stretch>
        </p:blipFill>
        <p:spPr>
          <a:xfrm>
            <a:off x="1123066" y="2339218"/>
            <a:ext cx="277612" cy="277612"/>
          </a:xfrm>
          <a:prstGeom prst="rect">
            <a:avLst/>
          </a:prstGeom>
        </p:spPr>
      </p:pic>
      <p:sp>
        <p:nvSpPr>
          <p:cNvPr id="8" name="anim__4__withprev__fade__whole"/>
          <p:cNvSpPr/>
          <p:nvPr/>
        </p:nvSpPr>
        <p:spPr>
          <a:xfrm>
            <a:off x="960120" y="2880360"/>
            <a:ext cx="29718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10 Gbit/s sur 65 km</a:t>
            </a:r>
            <a:endParaRPr lang="en-US" sz="1860" dirty="0"/>
          </a:p>
        </p:txBody>
      </p:sp>
      <p:sp>
        <p:nvSpPr>
          <p:cNvPr id="9" name="anim__5__withprev__fade__whole"/>
          <p:cNvSpPr/>
          <p:nvPr/>
        </p:nvSpPr>
        <p:spPr>
          <a:xfrm>
            <a:off x="960120" y="3291840"/>
            <a:ext cx="2971800" cy="868680"/>
          </a:xfrm>
          <a:prstGeom prst="rect">
            <a:avLst/>
          </a:prstGeom>
          <a:noFill/>
          <a:ln/>
        </p:spPr>
        <p:txBody>
          <a:bodyPr wrap="square" lIns="0" tIns="0" rIns="0" bIns="0" rtlCol="0" anchor="ctr"/>
          <a:lstStyle/>
          <a:p>
            <a:pPr marL="0" indent="0">
              <a:lnSpc>
                <a:spcPct val="116000"/>
              </a:lnSpc>
              <a:buNone/>
            </a:pPr>
            <a:r>
              <a:rPr lang="en-US" sz="1450" dirty="0">
                <a:solidFill>
                  <a:srgbClr val="847FA6"/>
                </a:solidFill>
                <a:latin typeface="Segoe UI" pitchFamily="34" charset="0"/>
                <a:ea typeface="Segoe UI" pitchFamily="34" charset="-122"/>
                <a:cs typeface="Segoe UI" pitchFamily="34" charset="-120"/>
              </a:rPr>
              <a:t>Transmission validée sans régénération, marge de puissance confortable.</a:t>
            </a:r>
            <a:endParaRPr lang="en-US" sz="1450" dirty="0"/>
          </a:p>
        </p:txBody>
      </p:sp>
      <p:sp>
        <p:nvSpPr>
          <p:cNvPr id="10" name="Shape 7"/>
          <p:cNvSpPr/>
          <p:nvPr/>
        </p:nvSpPr>
        <p:spPr>
          <a:xfrm>
            <a:off x="4334256" y="1920240"/>
            <a:ext cx="3520440" cy="2331720"/>
          </a:xfrm>
          <a:prstGeom prst="roundRect">
            <a:avLst>
              <a:gd name="adj" fmla="val 627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1" name="Shape 8"/>
          <p:cNvSpPr/>
          <p:nvPr/>
        </p:nvSpPr>
        <p:spPr>
          <a:xfrm>
            <a:off x="4334256" y="2066544"/>
            <a:ext cx="64008" cy="2039112"/>
          </a:xfrm>
          <a:prstGeom prst="rect">
            <a:avLst/>
          </a:prstGeom>
          <a:solidFill>
            <a:srgbClr val="6D28D9"/>
          </a:solidFill>
          <a:ln/>
        </p:spPr>
        <p:txBody>
          <a:bodyPr/>
          <a:lstStyle/>
          <a:p>
            <a:endParaRPr lang="fr-FR"/>
          </a:p>
        </p:txBody>
      </p:sp>
      <p:sp>
        <p:nvSpPr>
          <p:cNvPr id="12" name="Shape 9"/>
          <p:cNvSpPr/>
          <p:nvPr/>
        </p:nvSpPr>
        <p:spPr>
          <a:xfrm>
            <a:off x="4608576" y="2176272"/>
            <a:ext cx="603504" cy="603504"/>
          </a:xfrm>
          <a:prstGeom prst="ellipse">
            <a:avLst/>
          </a:prstGeom>
          <a:solidFill>
            <a:srgbClr val="6D28D9"/>
          </a:solidFill>
          <a:ln/>
        </p:spPr>
        <p:txBody>
          <a:bodyPr/>
          <a:lstStyle/>
          <a:p>
            <a:endParaRPr lang="fr-FR"/>
          </a:p>
        </p:txBody>
      </p:sp>
      <p:pic>
        <p:nvPicPr>
          <p:cNvPr id="13" name="anim__6__afterprev__fade__whole" descr="C:\Users\Cedric S. DJIGUIMDE\Desktop\Projet\presentation_fibre\assets_themes\spectra\icons\ruler_w.png"/>
          <p:cNvPicPr>
            <a:picLocks noChangeAspect="1"/>
          </p:cNvPicPr>
          <p:nvPr/>
        </p:nvPicPr>
        <p:blipFill>
          <a:blip r:embed="rId5"/>
          <a:stretch>
            <a:fillRect/>
          </a:stretch>
        </p:blipFill>
        <p:spPr>
          <a:xfrm>
            <a:off x="4771522" y="2339218"/>
            <a:ext cx="277612" cy="277612"/>
          </a:xfrm>
          <a:prstGeom prst="rect">
            <a:avLst/>
          </a:prstGeom>
        </p:spPr>
      </p:pic>
      <p:sp>
        <p:nvSpPr>
          <p:cNvPr id="14" name="anim__7__withprev__fade__whole"/>
          <p:cNvSpPr/>
          <p:nvPr/>
        </p:nvSpPr>
        <p:spPr>
          <a:xfrm>
            <a:off x="4608576" y="2880360"/>
            <a:ext cx="29718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Portée max ≈ 126 km</a:t>
            </a:r>
            <a:endParaRPr lang="en-US" sz="1860" dirty="0"/>
          </a:p>
        </p:txBody>
      </p:sp>
      <p:sp>
        <p:nvSpPr>
          <p:cNvPr id="15" name="anim__8__withprev__fade__whole"/>
          <p:cNvSpPr/>
          <p:nvPr/>
        </p:nvSpPr>
        <p:spPr>
          <a:xfrm>
            <a:off x="4608576" y="3291840"/>
            <a:ext cx="2971800" cy="868680"/>
          </a:xfrm>
          <a:prstGeom prst="rect">
            <a:avLst/>
          </a:prstGeom>
          <a:noFill/>
          <a:ln/>
        </p:spPr>
        <p:txBody>
          <a:bodyPr wrap="square" lIns="0" tIns="0" rIns="0" bIns="0" rtlCol="0" anchor="ctr"/>
          <a:lstStyle/>
          <a:p>
            <a:pPr marL="0" indent="0">
              <a:lnSpc>
                <a:spcPct val="116000"/>
              </a:lnSpc>
              <a:buNone/>
            </a:pPr>
            <a:r>
              <a:rPr lang="en-US" sz="1450" dirty="0">
                <a:solidFill>
                  <a:srgbClr val="847FA6"/>
                </a:solidFill>
                <a:latin typeface="Segoe UI" pitchFamily="34" charset="0"/>
                <a:ea typeface="Segoe UI" pitchFamily="34" charset="-122"/>
                <a:cs typeface="Segoe UI" pitchFamily="34" charset="-120"/>
              </a:rPr>
              <a:t>Limitée par l'atténuation ; CD (147 km) et PMD (40 000 km) non contraignantes.</a:t>
            </a:r>
            <a:endParaRPr lang="en-US" sz="1450" dirty="0"/>
          </a:p>
        </p:txBody>
      </p:sp>
      <p:sp>
        <p:nvSpPr>
          <p:cNvPr id="16" name="Shape 12"/>
          <p:cNvSpPr/>
          <p:nvPr/>
        </p:nvSpPr>
        <p:spPr>
          <a:xfrm>
            <a:off x="7982712" y="1920240"/>
            <a:ext cx="3520440" cy="2331720"/>
          </a:xfrm>
          <a:prstGeom prst="roundRect">
            <a:avLst>
              <a:gd name="adj" fmla="val 6275"/>
            </a:avLst>
          </a:prstGeom>
          <a:solidFill>
            <a:srgbClr val="FFFF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17" name="Shape 13"/>
          <p:cNvSpPr/>
          <p:nvPr/>
        </p:nvSpPr>
        <p:spPr>
          <a:xfrm>
            <a:off x="7982712" y="2066544"/>
            <a:ext cx="64008" cy="2039112"/>
          </a:xfrm>
          <a:prstGeom prst="rect">
            <a:avLst/>
          </a:prstGeom>
          <a:solidFill>
            <a:srgbClr val="6D28D9"/>
          </a:solidFill>
          <a:ln/>
        </p:spPr>
        <p:txBody>
          <a:bodyPr/>
          <a:lstStyle/>
          <a:p>
            <a:endParaRPr lang="fr-FR"/>
          </a:p>
        </p:txBody>
      </p:sp>
      <p:sp>
        <p:nvSpPr>
          <p:cNvPr id="18" name="Shape 14"/>
          <p:cNvSpPr/>
          <p:nvPr/>
        </p:nvSpPr>
        <p:spPr>
          <a:xfrm>
            <a:off x="8257032" y="2176272"/>
            <a:ext cx="603504" cy="603504"/>
          </a:xfrm>
          <a:prstGeom prst="ellipse">
            <a:avLst/>
          </a:prstGeom>
          <a:solidFill>
            <a:srgbClr val="6D28D9"/>
          </a:solidFill>
          <a:ln/>
        </p:spPr>
        <p:txBody>
          <a:bodyPr/>
          <a:lstStyle/>
          <a:p>
            <a:endParaRPr lang="fr-FR"/>
          </a:p>
        </p:txBody>
      </p:sp>
      <p:pic>
        <p:nvPicPr>
          <p:cNvPr id="19" name="anim__9__afterprev__fade__whole" descr="C:\Users\Cedric S. DJIGUIMDE\Desktop\Projet\presentation_fibre\assets_themes\spectra\icons\light_w.png"/>
          <p:cNvPicPr>
            <a:picLocks noChangeAspect="1"/>
          </p:cNvPicPr>
          <p:nvPr/>
        </p:nvPicPr>
        <p:blipFill>
          <a:blip r:embed="rId6"/>
          <a:stretch>
            <a:fillRect/>
          </a:stretch>
        </p:blipFill>
        <p:spPr>
          <a:xfrm>
            <a:off x="8419978" y="2339218"/>
            <a:ext cx="277612" cy="277612"/>
          </a:xfrm>
          <a:prstGeom prst="rect">
            <a:avLst/>
          </a:prstGeom>
        </p:spPr>
      </p:pic>
      <p:sp>
        <p:nvSpPr>
          <p:cNvPr id="20" name="anim__10__withprev__fade__whole"/>
          <p:cNvSpPr/>
          <p:nvPr/>
        </p:nvSpPr>
        <p:spPr>
          <a:xfrm>
            <a:off x="8257032" y="2880360"/>
            <a:ext cx="2971800" cy="411480"/>
          </a:xfrm>
          <a:prstGeom prst="rect">
            <a:avLst/>
          </a:prstGeom>
          <a:noFill/>
          <a:ln/>
        </p:spPr>
        <p:txBody>
          <a:bodyPr wrap="square" lIns="0" tIns="0" rIns="0" bIns="0" rtlCol="0" anchor="ctr"/>
          <a:lstStyle/>
          <a:p>
            <a:pPr marL="0" indent="0">
              <a:buNone/>
            </a:pPr>
            <a:r>
              <a:rPr lang="en-US" sz="1860" b="1" dirty="0">
                <a:solidFill>
                  <a:srgbClr val="20183F"/>
                </a:solidFill>
                <a:latin typeface="Segoe UI Semibold" pitchFamily="34" charset="0"/>
                <a:ea typeface="Segoe UI Semibold" pitchFamily="34" charset="-122"/>
                <a:cs typeface="Segoe UI Semibold" pitchFamily="34" charset="-120"/>
              </a:rPr>
              <a:t>G.652.D retenue</a:t>
            </a:r>
            <a:endParaRPr lang="en-US" sz="1860" dirty="0"/>
          </a:p>
        </p:txBody>
      </p:sp>
      <p:sp>
        <p:nvSpPr>
          <p:cNvPr id="21" name="anim__11__withprev__fade__whole"/>
          <p:cNvSpPr/>
          <p:nvPr/>
        </p:nvSpPr>
        <p:spPr>
          <a:xfrm>
            <a:off x="8257032" y="3291840"/>
            <a:ext cx="2971800" cy="868680"/>
          </a:xfrm>
          <a:prstGeom prst="rect">
            <a:avLst/>
          </a:prstGeom>
          <a:noFill/>
          <a:ln/>
        </p:spPr>
        <p:txBody>
          <a:bodyPr wrap="square" lIns="0" tIns="0" rIns="0" bIns="0" rtlCol="0" anchor="ctr"/>
          <a:lstStyle/>
          <a:p>
            <a:pPr marL="0" indent="0">
              <a:lnSpc>
                <a:spcPct val="116000"/>
              </a:lnSpc>
              <a:buNone/>
            </a:pPr>
            <a:r>
              <a:rPr lang="en-US" sz="1450" dirty="0">
                <a:solidFill>
                  <a:srgbClr val="847FA6"/>
                </a:solidFill>
                <a:latin typeface="Segoe UI" pitchFamily="34" charset="0"/>
                <a:ea typeface="Segoe UI" pitchFamily="34" charset="-122"/>
                <a:cs typeface="Segoe UI" pitchFamily="34" charset="-120"/>
              </a:rPr>
              <a:t>Performances, maturité, compatibilité réseau &amp; potentiel d'évolution.</a:t>
            </a:r>
            <a:endParaRPr lang="en-US" sz="1450" dirty="0"/>
          </a:p>
        </p:txBody>
      </p:sp>
      <p:sp>
        <p:nvSpPr>
          <p:cNvPr id="22" name="Shape 17"/>
          <p:cNvSpPr/>
          <p:nvPr/>
        </p:nvSpPr>
        <p:spPr>
          <a:xfrm>
            <a:off x="685800" y="4526280"/>
            <a:ext cx="10820095" cy="1280160"/>
          </a:xfrm>
          <a:prstGeom prst="roundRect">
            <a:avLst>
              <a:gd name="adj" fmla="val 11429"/>
            </a:avLst>
          </a:prstGeom>
          <a:solidFill>
            <a:srgbClr val="F6F2FF"/>
          </a:solidFill>
          <a:ln w="12700">
            <a:solidFill>
              <a:srgbClr val="E5DEF6"/>
            </a:solidFill>
            <a:prstDash val="solid"/>
          </a:ln>
          <a:effectLst>
            <a:outerShdw blurRad="127000" dist="50800" dir="5400000" algn="bl" rotWithShape="0">
              <a:srgbClr val="1A2A3A">
                <a:alpha val="14000"/>
              </a:srgbClr>
            </a:outerShdw>
          </a:effectLst>
        </p:spPr>
        <p:txBody>
          <a:bodyPr/>
          <a:lstStyle/>
          <a:p>
            <a:endParaRPr lang="fr-FR"/>
          </a:p>
        </p:txBody>
      </p:sp>
      <p:sp>
        <p:nvSpPr>
          <p:cNvPr id="23" name="Shape 18"/>
          <p:cNvSpPr/>
          <p:nvPr/>
        </p:nvSpPr>
        <p:spPr>
          <a:xfrm>
            <a:off x="685800" y="4672584"/>
            <a:ext cx="64008" cy="987552"/>
          </a:xfrm>
          <a:prstGeom prst="rect">
            <a:avLst/>
          </a:prstGeom>
          <a:solidFill>
            <a:srgbClr val="DB2777"/>
          </a:solidFill>
          <a:ln/>
        </p:spPr>
        <p:txBody>
          <a:bodyPr/>
          <a:lstStyle/>
          <a:p>
            <a:endParaRPr lang="fr-FR"/>
          </a:p>
        </p:txBody>
      </p:sp>
      <p:sp>
        <p:nvSpPr>
          <p:cNvPr id="24" name="anim__12__afterprev__fade__whole"/>
          <p:cNvSpPr/>
          <p:nvPr/>
        </p:nvSpPr>
        <p:spPr>
          <a:xfrm>
            <a:off x="1005840" y="4681728"/>
            <a:ext cx="10180015" cy="1005840"/>
          </a:xfrm>
          <a:prstGeom prst="rect">
            <a:avLst/>
          </a:prstGeom>
          <a:noFill/>
          <a:ln/>
        </p:spPr>
        <p:txBody>
          <a:bodyPr wrap="square" lIns="0" tIns="0" rIns="0" bIns="0" rtlCol="0" anchor="ctr"/>
          <a:lstStyle/>
          <a:p>
            <a:pPr marL="0" indent="0">
              <a:lnSpc>
                <a:spcPct val="120000"/>
              </a:lnSpc>
              <a:buNone/>
            </a:pPr>
            <a:r>
              <a:rPr lang="en-US" sz="1570" b="1" dirty="0">
                <a:solidFill>
                  <a:srgbClr val="DB2777"/>
                </a:solidFill>
                <a:latin typeface="Segoe UI" pitchFamily="34" charset="0"/>
                <a:ea typeface="Segoe UI" pitchFamily="34" charset="-122"/>
                <a:cs typeface="Segoe UI" pitchFamily="34" charset="-120"/>
              </a:rPr>
              <a:t>Perspectives </a:t>
            </a:r>
            <a:r>
              <a:rPr lang="en-US" sz="1570" dirty="0">
                <a:solidFill>
                  <a:srgbClr val="3F3D56"/>
                </a:solidFill>
                <a:latin typeface="Segoe UI" pitchFamily="34" charset="0"/>
                <a:ea typeface="Segoe UI" pitchFamily="34" charset="-122"/>
                <a:cs typeface="Segoe UI" pitchFamily="34" charset="-120"/>
              </a:rPr>
              <a:t> La fibre optique est au cœur de la transformation numérique du Sénégal (Plan Sénégal Numérique 2025, FTTH). Validés sous Excel, ces résultats ouvrent vers le WDM/DWDM à 40–100 Gbit/s — fibre G.655 NZDSF &amp; amplificateurs EDFA — la prochaine frontière des réseaux africains.</a:t>
            </a:r>
            <a:endParaRPr lang="en-US" sz="1570" dirty="0"/>
          </a:p>
        </p:txBody>
      </p:sp>
      <p:sp>
        <p:nvSpPr>
          <p:cNvPr id="25" name="Text 20"/>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26" name="Text 21"/>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22</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50"/>
                                  <p:tgtEl>
                                    <p:spTgt spid="7"/>
                                  </p:tgtEl>
                                </p:cBhvr>
                              </p:animEffect>
                            </p:childTnLst>
                          </p:cTn>
                        </p:par>
                        <p:par>
                          <p:cTn id="16" presetID="10" presetClass="entr" presetSubtype="0" fill="hold" grpId="3"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50"/>
                                  <p:tgtEl>
                                    <p:spTgt spid="8"/>
                                  </p:tgtEl>
                                </p:cBhvr>
                              </p:animEffect>
                            </p:childTnLst>
                          </p:cTn>
                        </p:par>
                        <p:par>
                          <p:cTn id="19" presetID="10" presetClass="entr" presetSubtype="0" fill="hold" grpId="4"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50"/>
                                  <p:tgtEl>
                                    <p:spTgt spid="9"/>
                                  </p:tgtEl>
                                </p:cBhvr>
                              </p:animEffect>
                            </p:childTnLst>
                          </p:cTn>
                        </p:par>
                      </p:childTnLst>
                    </p:cTn>
                  </p:par>
                  <p:par>
                    <p:cTn id="22" fill="hold">
                      <p:stCondLst>
                        <p:cond delay="7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50"/>
                                  <p:tgtEl>
                                    <p:spTgt spid="13"/>
                                  </p:tgtEl>
                                </p:cBhvr>
                              </p:animEffect>
                            </p:childTnLst>
                          </p:cTn>
                        </p:par>
                        <p:par>
                          <p:cTn id="26" presetID="10" presetClass="entr" presetSubtype="0" fill="hold" grpId="6"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50"/>
                                  <p:tgtEl>
                                    <p:spTgt spid="14"/>
                                  </p:tgtEl>
                                </p:cBhvr>
                              </p:animEffect>
                            </p:childTnLst>
                          </p:cTn>
                        </p:par>
                        <p:par>
                          <p:cTn id="29" presetID="10" presetClass="entr" presetSubtype="0" fill="hold" grpId="7"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50"/>
                                  <p:tgtEl>
                                    <p:spTgt spid="15"/>
                                  </p:tgtEl>
                                </p:cBhvr>
                              </p:animEffect>
                            </p:childTnLst>
                          </p:cTn>
                        </p:par>
                      </p:childTnLst>
                    </p:cTn>
                  </p:par>
                  <p:par>
                    <p:cTn id="32" fill="hold">
                      <p:stCondLst>
                        <p:cond delay="70"/>
                      </p:stCondLst>
                      <p:childTnLst>
                        <p:par>
                          <p:cTn id="33" presetID="10" presetClass="entr" presetSubtype="0"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350"/>
                                  <p:tgtEl>
                                    <p:spTgt spid="19"/>
                                  </p:tgtEl>
                                </p:cBhvr>
                              </p:animEffect>
                            </p:childTnLst>
                          </p:cTn>
                        </p:par>
                        <p:par>
                          <p:cTn id="36" presetID="10" presetClass="entr" presetSubtype="0" fill="hold" grpId="9"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350"/>
                                  <p:tgtEl>
                                    <p:spTgt spid="20"/>
                                  </p:tgtEl>
                                </p:cBhvr>
                              </p:animEffect>
                            </p:childTnLst>
                          </p:cTn>
                        </p:par>
                        <p:par>
                          <p:cTn id="39" presetID="10" presetClass="entr" presetSubtype="0" fill="hold" grpId="1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350"/>
                                  <p:tgtEl>
                                    <p:spTgt spid="21"/>
                                  </p:tgtEl>
                                </p:cBhvr>
                              </p:animEffect>
                            </p:childTnLst>
                          </p:cTn>
                        </p:par>
                      </p:childTnLst>
                    </p:cTn>
                  </p:par>
                  <p:par>
                    <p:cTn id="42" fill="hold">
                      <p:stCondLst>
                        <p:cond delay="70"/>
                      </p:stCondLst>
                      <p:childTnLst>
                        <p:par>
                          <p:cTn id="43" presetID="10" presetClass="entr" presetSubtype="0" fill="hold" grpId="11"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350"/>
                                  <p:tgtEl>
                                    <p:spTgt spid="2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8" grpId="3" animBg="1"/>
      <p:bldP spid="9" grpId="4" animBg="1"/>
      <p:bldP spid="14" grpId="6" animBg="1"/>
      <p:bldP spid="15" grpId="7" animBg="1"/>
      <p:bldP spid="20" grpId="9" animBg="1"/>
      <p:bldP spid="21" grpId="10" animBg="1"/>
      <p:bldP spid="24" grpId="11"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__1__afterprev__fade__whole"/>
          <p:cNvSpPr/>
          <p:nvPr/>
        </p:nvSpPr>
        <p:spPr>
          <a:xfrm>
            <a:off x="685800" y="2468880"/>
            <a:ext cx="10058400" cy="457200"/>
          </a:xfrm>
          <a:prstGeom prst="rect">
            <a:avLst/>
          </a:prstGeom>
          <a:noFill/>
          <a:ln/>
        </p:spPr>
        <p:txBody>
          <a:bodyPr wrap="square" lIns="0" tIns="0" rIns="0" bIns="0" rtlCol="0" anchor="ctr"/>
          <a:lstStyle/>
          <a:p>
            <a:pPr marL="0" indent="0">
              <a:buNone/>
            </a:pPr>
            <a:r>
              <a:rPr lang="en-US" sz="1860" b="1" kern="0" spc="400" dirty="0">
                <a:solidFill>
                  <a:srgbClr val="6D28D9"/>
                </a:solidFill>
                <a:latin typeface="Segoe UI Semibold" pitchFamily="34" charset="0"/>
                <a:ea typeface="Segoe UI Semibold" pitchFamily="34" charset="-122"/>
                <a:cs typeface="Segoe UI Semibold" pitchFamily="34" charset="-120"/>
              </a:rPr>
              <a:t>MERCI DE VOTRE ATTENTION</a:t>
            </a:r>
            <a:endParaRPr lang="en-US" sz="1860" dirty="0"/>
          </a:p>
        </p:txBody>
      </p:sp>
      <p:sp>
        <p:nvSpPr>
          <p:cNvPr id="3" name="anim__2__afterprev__fade__whole"/>
          <p:cNvSpPr/>
          <p:nvPr/>
        </p:nvSpPr>
        <p:spPr>
          <a:xfrm>
            <a:off x="685800" y="2926080"/>
            <a:ext cx="10058400" cy="1005840"/>
          </a:xfrm>
          <a:prstGeom prst="rect">
            <a:avLst/>
          </a:prstGeom>
          <a:noFill/>
          <a:ln/>
        </p:spPr>
        <p:txBody>
          <a:bodyPr wrap="square" lIns="0" tIns="0" rIns="0" bIns="0" rtlCol="0" anchor="ctr"/>
          <a:lstStyle/>
          <a:p>
            <a:pPr marL="0" indent="0">
              <a:buNone/>
            </a:pPr>
            <a:r>
              <a:rPr lang="en-US" sz="4600" b="1" dirty="0">
                <a:solidFill>
                  <a:srgbClr val="20183F"/>
                </a:solidFill>
                <a:latin typeface="Segoe UI Black" pitchFamily="34" charset="0"/>
                <a:ea typeface="Segoe UI Black" pitchFamily="34" charset="-122"/>
                <a:cs typeface="Segoe UI Black" pitchFamily="34" charset="-120"/>
              </a:rPr>
              <a:t>Questions &amp; discussion</a:t>
            </a:r>
            <a:endParaRPr lang="en-US" sz="4600" dirty="0"/>
          </a:p>
        </p:txBody>
      </p:sp>
      <p:sp>
        <p:nvSpPr>
          <p:cNvPr id="4" name="Shape 2"/>
          <p:cNvSpPr/>
          <p:nvPr/>
        </p:nvSpPr>
        <p:spPr>
          <a:xfrm>
            <a:off x="685800" y="4023360"/>
            <a:ext cx="2011680" cy="0"/>
          </a:xfrm>
          <a:prstGeom prst="line">
            <a:avLst/>
          </a:prstGeom>
          <a:noFill/>
          <a:ln w="31750">
            <a:solidFill>
              <a:srgbClr val="6D28D9"/>
            </a:solidFill>
            <a:prstDash val="solid"/>
          </a:ln>
        </p:spPr>
        <p:txBody>
          <a:bodyPr/>
          <a:lstStyle/>
          <a:p>
            <a:endParaRPr lang="fr-FR"/>
          </a:p>
        </p:txBody>
      </p:sp>
      <p:sp>
        <p:nvSpPr>
          <p:cNvPr id="5" name="anim__3__afterprev__fade__para"/>
          <p:cNvSpPr/>
          <p:nvPr/>
        </p:nvSpPr>
        <p:spPr>
          <a:xfrm>
            <a:off x="685800" y="4206240"/>
            <a:ext cx="10058400" cy="914400"/>
          </a:xfrm>
          <a:prstGeom prst="rect">
            <a:avLst/>
          </a:prstGeom>
          <a:noFill/>
          <a:ln/>
        </p:spPr>
        <p:txBody>
          <a:bodyPr wrap="square" lIns="0" tIns="0" rIns="0" bIns="0" rtlCol="0" anchor="ctr"/>
          <a:lstStyle/>
          <a:p>
            <a:pPr marL="0" indent="0">
              <a:lnSpc>
                <a:spcPct val="130000"/>
              </a:lnSpc>
              <a:buNone/>
            </a:pPr>
            <a:r>
              <a:rPr lang="en-US" sz="1680" dirty="0">
                <a:solidFill>
                  <a:srgbClr val="20183F"/>
                </a:solidFill>
                <a:latin typeface="Segoe UI" pitchFamily="34" charset="0"/>
                <a:ea typeface="Segoe UI" pitchFamily="34" charset="-122"/>
                <a:cs typeface="Segoe UI" pitchFamily="34" charset="-120"/>
              </a:rPr>
              <a:t>Sephora BAYALA  •  Mariane ELOLA</a:t>
            </a:r>
            <a:endParaRPr lang="en-US" sz="1680" dirty="0"/>
          </a:p>
          <a:p>
            <a:pPr marL="0" indent="0">
              <a:lnSpc>
                <a:spcPct val="130000"/>
              </a:lnSpc>
              <a:buNone/>
            </a:pPr>
            <a:r>
              <a:rPr lang="en-US" sz="1680" dirty="0">
                <a:solidFill>
                  <a:srgbClr val="847FA6"/>
                </a:solidFill>
                <a:latin typeface="Segoe UI" pitchFamily="34" charset="0"/>
                <a:ea typeface="Segoe UI" pitchFamily="34" charset="-122"/>
                <a:cs typeface="Segoe UI" pitchFamily="34" charset="-120"/>
              </a:rPr>
              <a:t>Encadreur : Mr Boudal NIANG  —  Ingénieur de conception des télécommunications 1</a:t>
            </a:r>
            <a:endParaRPr lang="en-US" sz="1680" dirty="0"/>
          </a:p>
        </p:txBody>
      </p:sp>
      <p:sp>
        <p:nvSpPr>
          <p:cNvPr id="6" name="anim__4__afterprev__fade__whole"/>
          <p:cNvSpPr/>
          <p:nvPr/>
        </p:nvSpPr>
        <p:spPr>
          <a:xfrm>
            <a:off x="685800" y="5943600"/>
            <a:ext cx="10058400" cy="274320"/>
          </a:xfrm>
          <a:prstGeom prst="rect">
            <a:avLst/>
          </a:prstGeom>
          <a:noFill/>
          <a:ln/>
        </p:spPr>
        <p:txBody>
          <a:bodyPr wrap="square" lIns="0" tIns="0" rIns="0" bIns="0" rtlCol="0" anchor="ctr"/>
          <a:lstStyle/>
          <a:p>
            <a:pPr marL="0" indent="0">
              <a:buNone/>
            </a:pPr>
            <a:r>
              <a:rPr lang="en-US" sz="1280" dirty="0">
                <a:solidFill>
                  <a:srgbClr val="B3AECB"/>
                </a:solidFill>
                <a:latin typeface="Segoe UI" pitchFamily="34" charset="0"/>
                <a:ea typeface="Segoe UI" pitchFamily="34" charset="-122"/>
                <a:cs typeface="Segoe UI" pitchFamily="34" charset="-120"/>
              </a:rPr>
              <a:t>École Supérieure Multinationale des Télécommunications (ESMT)</a:t>
            </a:r>
            <a:endParaRPr lang="en-US" sz="1280" dirty="0"/>
          </a:p>
        </p:txBody>
      </p:sp>
      <p:sp>
        <p:nvSpPr>
          <p:cNvPr id="7" name="Text 5"/>
          <p:cNvSpPr/>
          <p:nvPr/>
        </p:nvSpPr>
        <p:spPr>
          <a:xfrm>
            <a:off x="685800" y="6437376"/>
            <a:ext cx="4572000" cy="274320"/>
          </a:xfrm>
          <a:prstGeom prst="rect">
            <a:avLst/>
          </a:prstGeom>
          <a:noFill/>
          <a:ln/>
        </p:spPr>
        <p:txBody>
          <a:bodyPr wrap="square" lIns="0" tIns="0" rIns="0" bIns="0" rtlCol="0" anchor="ctr"/>
          <a:lstStyle/>
          <a:p>
            <a:pPr marL="0" indent="0">
              <a:buNone/>
            </a:pPr>
            <a:r>
              <a:rPr lang="en-US" sz="1100" dirty="0">
                <a:solidFill>
                  <a:srgbClr val="B3AECB"/>
                </a:solidFill>
                <a:latin typeface="Segoe UI" pitchFamily="34" charset="0"/>
                <a:ea typeface="Segoe UI" pitchFamily="34" charset="-122"/>
                <a:cs typeface="Segoe UI" pitchFamily="34" charset="-120"/>
              </a:rPr>
              <a:t>Fibre optique · Dakar–Thiès</a:t>
            </a:r>
            <a:endParaRPr lang="en-US" sz="1100" dirty="0"/>
          </a:p>
        </p:txBody>
      </p:sp>
      <p:sp>
        <p:nvSpPr>
          <p:cNvPr id="8" name="Text 6"/>
          <p:cNvSpPr/>
          <p:nvPr/>
        </p:nvSpPr>
        <p:spPr>
          <a:xfrm>
            <a:off x="11185855" y="6437376"/>
            <a:ext cx="548640" cy="274320"/>
          </a:xfrm>
          <a:prstGeom prst="rect">
            <a:avLst/>
          </a:prstGeom>
          <a:noFill/>
          <a:ln/>
        </p:spPr>
        <p:txBody>
          <a:bodyPr wrap="square" lIns="0" tIns="0" rIns="0" bIns="0" rtlCol="0" anchor="ctr"/>
          <a:lstStyle/>
          <a:p>
            <a:pPr marL="0" indent="0" algn="r">
              <a:buNone/>
            </a:pPr>
            <a:r>
              <a:rPr lang="en-US" sz="1100" dirty="0">
                <a:solidFill>
                  <a:srgbClr val="B3AECB"/>
                </a:solidFill>
                <a:latin typeface="Segoe UI" pitchFamily="34" charset="0"/>
                <a:ea typeface="Segoe UI" pitchFamily="34" charset="-122"/>
                <a:cs typeface="Segoe UI" pitchFamily="34" charset="-120"/>
              </a:rPr>
              <a:t>23</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20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50"/>
                                        <p:tgtEl>
                                          <p:spTgt spid="2"/>
                                        </p:tgtEl>
                                      </p:cBhvr>
                                    </p:animEffect>
                                  </p:childTnLst>
                                </p:cTn>
                              </p:par>
                            </p:childTnLst>
                          </p:cTn>
                        </p:par>
                      </p:childTnLst>
                    </p:cTn>
                  </p:par>
                  <p:par>
                    <p:cTn id="8" fill="hold">
                      <p:stCondLst>
                        <p:cond delay="70"/>
                      </p:stCondLst>
                      <p:childTnLst>
                        <p:par>
                          <p:cTn id="9" presetID="10" presetClass="entr" presetSubtype="0"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50"/>
                                  <p:tgtEl>
                                    <p:spTgt spid="3"/>
                                  </p:tgtEl>
                                </p:cBhvr>
                              </p:animEffect>
                            </p:childTnLst>
                          </p:cTn>
                        </p:par>
                      </p:childTnLst>
                    </p:cTn>
                  </p:par>
                  <p:par>
                    <p:cTn id="12" fill="hold">
                      <p:stCondLst>
                        <p:cond delay="70"/>
                      </p:stCondLst>
                      <p:childTnLst>
                        <p:par>
                          <p:cTn id="13" presetID="10" presetClass="entr" presetSubtype="0" fill="hold" grpId="2"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350"/>
                                  <p:tgtEl>
                                    <p:spTgt spid="5">
                                      <p:txEl>
                                        <p:pRg st="0" end="0"/>
                                      </p:txEl>
                                    </p:spTgt>
                                  </p:tgtEl>
                                </p:cBhvr>
                              </p:animEffect>
                            </p:childTnLst>
                          </p:cTn>
                        </p:par>
                      </p:childTnLst>
                    </p:cTn>
                  </p:par>
                  <p:par>
                    <p:cTn id="16" fill="hold">
                      <p:stCondLst>
                        <p:cond delay="70"/>
                      </p:stCondLst>
                      <p:childTnLst>
                        <p:par>
                          <p:cTn id="17" presetID="10" presetClass="entr" presetSubtype="0" fill="hold" grpId="2" nodeType="after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350"/>
                                  <p:tgtEl>
                                    <p:spTgt spid="5">
                                      <p:txEl>
                                        <p:pRg st="1" end="1"/>
                                      </p:txEl>
                                    </p:spTgt>
                                  </p:tgtEl>
                                </p:cBhvr>
                              </p:animEffect>
                            </p:childTnLst>
                          </p:cTn>
                        </p:par>
                      </p:childTnLst>
                    </p:cTn>
                  </p:par>
                  <p:par>
                    <p:cTn id="20" fill="hold">
                      <p:stCondLst>
                        <p:cond delay="70"/>
                      </p:stCondLst>
                      <p:childTnLst>
                        <p:par>
                          <p:cTn id="21" presetID="10" presetClass="entr" presetSubtype="0" fill="hold" grpId="3"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1" animBg="1"/>
      <p:bldP spid="5" grpId="2" build="p"/>
      <p:bldP spid="6" grpId="3"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504</TotalTime>
  <Words>4097</Words>
  <Application>Microsoft Office PowerPoint</Application>
  <PresentationFormat>Grand écran</PresentationFormat>
  <Paragraphs>415</Paragraphs>
  <Slides>23</Slides>
  <Notes>23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Arial</vt:lpstr>
      <vt:lpstr>Consolas</vt:lpstr>
      <vt:lpstr>Segoe UI</vt:lpstr>
      <vt:lpstr>Segoe UI Black</vt:lpstr>
      <vt:lpstr>Segoe UI Semibold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Dimensionnement d'une liaison par fibre optique</dc:title>
  <dc:subject>PptxGenJS Presentation</dc:subject>
  <dc:creator>Sephora BAYALA &amp; Mariane ELOLA</dc:creator>
  <cp:lastModifiedBy>Payié Mariane ELOLA</cp:lastModifiedBy>
  <cp:revision>3</cp:revision>
  <dcterms:created xsi:type="dcterms:W3CDTF">2026-06-16T22:44:11Z</dcterms:created>
  <dcterms:modified xsi:type="dcterms:W3CDTF">2026-06-17T07:46:01Z</dcterms:modified>
</cp:coreProperties>
</file>